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1e43ea2-f93a-2751-733b-06bd3a34022e}">
          <p14:sldIdLst>
            <p14:sldId id="256"/>
            <p14:sldId id="257"/>
          </p14:sldIdLst>
        </p14:section>
        <p14:section name="Architecture and Frontend" id="{960662d9-a00a-ce62-9164-db33e031e546}">
          <p14:sldIdLst>
            <p14:sldId id="258"/>
            <p14:sldId id="259"/>
          </p14:sldIdLst>
        </p14:section>
        <p14:section name="Request to Response" id="{8470926c-b88d-9c01-3f96-31e3e98caab2}">
          <p14:sldIdLst>
            <p14:sldId id="260"/>
            <p14:sldId id="261"/>
            <p14:sldId id="262"/>
            <p14:sldId id="263"/>
          </p14:sldIdLst>
        </p14:section>
        <p14:section name="Storage and Verification" id="{1ed3f694-f835-bc74-fcf4-2456bbfa26c3}">
          <p14:sldIdLst>
            <p14:sldId id="264"/>
            <p14:sldId id="265"/>
          </p14:sldIdLst>
        </p14:section>
        <p14:section name="Wrap-up" id="{c7cdd1b4-8b01-3859-064d-5a69af5320cf}">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project is ComicCraft, with the tagline "Where Imagination Becomes a Comic". It is an AI comic story creator built with Gemini models.
The idea is simple: a user types a short story idea, and the application turns it into a complete illustrated comic, which can be read on screen and downloaded as a PDF.
In the next ten to twelve minutes I will explain the problem, the architecture, and most importantly what happens from the moment the user clicks Generate until the PDF is ready.
[Before presenting: fill in student name, department, college, guide and academic year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Making a comic by hand takes many steps. First you write a story. Then you divide it into panels. Then you need an illustration for every panel, plus dialogue and narration. Finally you arrange everything on a page and export it. This is slow and needs both writing and drawing skills.
ComicCraft aims to simplify all of these steps. Our objectives are: generate a structured story, create illustrated panels, display the comic in a reader, export it as a PDF, and support live AI providers together with an offline demo mode so the project can still be demonstrated without internet or API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big picture. The user talks to the frontend. The frontend sends requests to the FastAPI backend. The backend hands the work to the comic services. The services use storage and AI providers. At the end we get the final comic.
In one sentence per layer: the user gives the idea; the frontend is what the user sees; FastAPI receives requests and sends responses; the comic services coordinate story, images and layout; storage and providers hold the data and do the AI work; and the final comic is the preview plus the PDF.
Technologies by purpose: HTML, CSS, JavaScript and Jinja2 for the frontend; Python with FastAPI and Uvicorn for the backend; Pydantic version 2 for validation; the Google Gen AI SDK for story generation; Hugging Face inference, optional local Diffusers, and an offline illustrator for images; SQLite with SQLAlchemy for the database; fpdf2 for PDFs; and pytest for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is the part of the application that the user sees and interacts with. It contains the homepage, the comic studio form, the story idea input, the style and tone selection, the character appearance input, a generation progress indicator, the comic preview, and the PDF download button.
Three technologies share the work. HTML gives the structure: the forms, buttons and text. CSS gives the look: colors, layout and the comic style. JavaScript gives the behavior: it can send requests to the backend and update the progress on screen. Jinja2 is used on the server side to fill the HTML pages with data.
[Note: the form on this slide is a conceptual mockup. Replace it with real screenshots of your studio page before the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Let me walk through it step by step.
One: the user types a story idea. Two: the user picks a style and tone. Three: the user clicks Generate Comic. Four: the browser sends this data to the server, either by submitting the form or by a JavaScript request, depending on the implementation. Five: FastAPI receives the request. Six: the input is checked against a validation schema, where the application uses one. Seven: the backend starts the comic-generation workflow. Eight: the frontend follows the response and the status updates, which I will show on slide 8.
Four simple terms. An HTTP request is a message from the browser asking the server to do something. A route is the address and method the server listens on. The request body is the data that travels with the request, such as the story idea. The response is what the server sends back.
[IMPORTANT before presenting: the route "POST /api/comics" on this slide is a conceptual example. Open your source code, find the real creation route and the real submit method, and replace the text so it exactly matches your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look inside the backend. Uvicorn is the server that runs the application. When an HTTP request arrives, FastAPI matches it to the correct route. Pydantic then validates the data, where a schema is used. The comic service coordinates the actual generation work. Finally the backend sends a response back to the browser.
Four words are easy to confuse. A route is the door: it connects a URL and method to a Python function. A schema is the set of rules describing valid input. A service is the manager: it runs the steps of comic generation. A provider is a specialist that talks to one particular AI, such as Gemini for stories or Hugging Face for images, or works offline.
Keeping these separate makes the code easier to test and lets us swap providers without touching the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how a short idea becomes a comic. The story idea becomes a story outline. The outline becomes narration and dialogue. From that we get a description for each panel. Finally each panel description becomes an illustration.
For the story we use Gemini through the official google-genai SDK, and the Gemini model IDs are configurable. For images there are three options: Hugging Face inference, optional local Diffusers, and an offline procedural illustrator.
To keep the comic consistent, the same character appearance and visual-style prompts are shared across all panels.
An important honesty point: live AI needs valid credentials and available models. The offline illustrator draws procedural images; they must never be described as AI-generated.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Generating a comic takes time, so the work runs in five stages: Understanding Idea, Generating Outline, Narration and Dialogue, Illustrating Panels, and Assembling and PDF Compilation. The comic service moves through these stages and records the current stage.
Notice there are two kinds of requests. The first one is the initial comic-creation request, sent once when the user clicks Generate. The server answers quickly with a comic id. After that, the browser sends repeated status requests to /api/comics/{comic_id}/status. This repeated asking is called polling: like asking "are we there yet?" every few seconds. Each answer tells the browser the status and current stage, so the progress bar moves. When the status is complete, the browser shows the comic and the PDF link.
We use polling. I am not claiming Server-Sent Events or any other live-push feature.
[Verify before presenting: the status endpoint path and the polling interval against your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store data in two places because they do different jobs.
SQLite with SQLAlchemy stores the comic metadata, the panel records, and the status and other information that the implementation persists. The filesystem stores the large files: the panel image files and the generated PDF files.
The PDF pipeline is simple. The story, illustrations, narration and dialogue are given to fpdf2. fpdf2 builds the PDF file. The browser then downloads that file.
Why both? A database is good for small records you want to search and update, such as status. Files such as images and PDFs are large binary data, and the filesystem handles them better. The database record points to where the files are.
[Verify before presenting: the exact folder names and the download route in your code. I have not shown any paths here because they were not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screens a user sees: the homepage, the studio, the progress indicator, the comic reader, and the PDF export. [Replace the tiles with real screenshots.]
For verification, the supplied test results are 12 tests passed and 0 failed. The tests cover story generation in deterministic mode, offline illustration, layout and PDF creation, route rendering, request validation, and comic creation with status polling.
I want to be clear about the limit of these results: they do not automatically prove that live Gemini or Hugging Face API calls work. Those need valid credentials and a live test.
For the demo: open the application, enter a story idea, generate the comic, watch the progress, read the panels, and download the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journey. The user types an idea in the browser UI. An HTTP request goes to FastAPI. The input is validated. The comic service takes over: it asks the story provider for the story, then the image provider for illustrations. Panel images are saved. The layout builder arranges the panels, and the PDF service creates the PDF, which is saved. The database and filesystem hold the records and files, and the browser shows the preview and offers the download.
[Adapt the exact order to your code before presenting.]
Contribution: the project integrates story creation, illustrations and PDF export; it separates frontend from backend logic; it supports alternative story and image providers; it supports persistent storage and multi-stage generation; and it has an offline demo path.
"One idea. A complete comic. Ready to share." Thank you. I am happy to take questions.
VIVA QUESTIONS AND SHORT ANSWERS
1. What happens when the Generate button is clicked?
The browser sends the story idea, style, tone and character details to the FastAPI backend as an HTTP request. FastAPI routes it, the data is validated, and the comic service starts the multi-stage workflow. The browser then follows the status updates until the comic is ready.
2. Why is FastAPI used?
It is a modern Python framework that is fast, easy to write, matches requests to routes clearly, works well with Pydantic validation, and runs on Uvicorn.
3. What is the difference between a route and a service?
A route is the entry point: it matches a URL and method and handles the HTTP request and response. A service holds the application logic that does the real work, such as coordinating story, images, layout and PDF. Routes stay thin; services stay reusable and testable.
4. Why are SQLite and filesystem storage both used?
SQLite stores small structured records such as comic metadata, panel records and status. The filesystem stores large files such as panel images and PDFs. Each store handles the type of data it is best at.
5. What happens when the Gemini API key is missing?
Live Gemini generation cannot run without valid credentials. As designed, the project supports an offline demo mode so the application can still be demonstrated. [Confirm in your code exactly how the missing key is handled: automatic fallback, a configuration setting, or an error message. Answer according to what your code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BF9F5"/>
        </a:solidFill>
      </p:bgPr>
    </p:bg>
    <p:spTree>
      <p:nvGrpSpPr>
        <p:cNvPr id="1" name=""/>
        <p:cNvGrpSpPr/>
        <p:nvPr/>
      </p:nvGrpSpPr>
      <p:grpSpPr>
        <a:xfrm>
          <a:off x="0" y="0"/>
          <a:ext cx="0" cy="0"/>
          <a:chOff x="0" y="0"/>
          <a:chExt cx="0" cy="0"/>
        </a:xfrm>
      </p:grpSpPr>
      <p:sp>
        <p:nvSpPr>
          <p:cNvPr id="2"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1000" dirty="0">
                <a:solidFill>
                  <a:schemeClr val="tx2"/>
                </a:solidFill>
                <a:latin typeface="Calibri" pitchFamily="34" charset="0"/>
                <a:ea typeface="Calibri" pitchFamily="34" charset="-122"/>
                <a:cs typeface="Calibri" pitchFamily="34" charset="-120"/>
              </a:rPr>
              <a:t>ComicCraft — Where Imagination Becomes a Comic</a:t>
            </a:r>
            <a:endParaRPr lang="en-US" sz="1000" dirty="0"/>
          </a:p>
        </p:txBody>
      </p:sp>
      <p:sp>
        <p:nvSpPr>
          <p:cNvPr id="3" name="Text 1"/>
          <p:cNvSpPr/>
          <p:nvPr>
            <p:ph idx="101" type="title" hasCustomPrompt="1"/>
          </p:nvPr>
        </p:nvSpPr>
        <p:spPr>
          <a:xfrm>
            <a:off x="457200" y="274320"/>
            <a:ext cx="8229600" cy="640080"/>
          </a:xfrm>
          <a:prstGeom prst="rect">
            <a:avLst/>
          </a:prstGeom>
          <a:noFill/>
          <a:ln/>
        </p:spPr>
        <p:txBody>
          <a:bodyPr wrap="square" rtlCol="0"/>
          <a:lstStyle>
            <a:lvl1pPr algn="l" indent="0" marL="0">
              <a:buNone/>
              <a:defRPr lang="en-US" sz="3000" dirty="0">
                <a:solidFill>
                  <a:schemeClr val="tx1"/>
                </a:solidFill>
                <a:latin typeface="Impact" pitchFamily="34" charset="0"/>
                <a:ea typeface="Impact" pitchFamily="34" charset="-122"/>
                <a:cs typeface="Impact"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7171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3000" dirty="0">
                <a:solidFill>
                  <a:schemeClr val="bg1"/>
                </a:solidFill>
                <a:latin typeface="Impact" pitchFamily="34" charset="0"/>
                <a:ea typeface="Impact" pitchFamily="34" charset="-122"/>
                <a:cs typeface="Impact" pitchFamily="34" charset="-120"/>
              </a:defRPr>
            </a:lvl1pPr>
          </a:lstStyle>
          <a:p>
            <a:pPr algn="l" indent="0" marL="0">
              <a:buNone/>
            </a:pPr>
            <a:endParaRPr lang="en-US" sz="3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7171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4480560" cy="1737360"/>
          </a:xfrm>
          <a:prstGeom prst="rect">
            <a:avLst/>
          </a:prstGeom>
          <a:noFill/>
          <a:ln/>
        </p:spPr>
        <p:txBody>
          <a:bodyPr wrap="square" rtlCol="0"/>
          <a:lstStyle>
            <a:lvl1pPr algn="l" indent="0" marL="0">
              <a:buNone/>
              <a:defRPr lang="en-US" sz="3000" dirty="0">
                <a:solidFill>
                  <a:schemeClr val="bg1"/>
                </a:solidFill>
                <a:latin typeface="Impact" pitchFamily="34" charset="0"/>
                <a:ea typeface="Impact" pitchFamily="34" charset="-122"/>
                <a:cs typeface="Impact" pitchFamily="34" charset="-120"/>
              </a:defRPr>
            </a:lvl1pPr>
          </a:lstStyle>
          <a:p>
            <a:pPr algn="l"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4480560" cy="1737360"/>
          </a:xfrm>
          <a:prstGeom prst="rect">
            <a:avLst/>
          </a:prstGeom>
          <a:noFill/>
          <a:ln/>
        </p:spPr>
        <p:txBody>
          <a:bodyPr wrap="square" lIns="0" tIns="0" rIns="0" bIns="0" rtlCol="0" anchor="t"/>
          <a:lstStyle/>
          <a:p>
            <a:pPr algn="l" indent="0" marL="0">
              <a:buNone/>
            </a:pPr>
            <a:r>
              <a:rPr lang="en-US" sz="5000" dirty="0">
                <a:solidFill>
                  <a:schemeClr val="accent1"/>
                </a:solidFill>
                <a:latin typeface="Impact" pitchFamily="34" charset="0"/>
                <a:ea typeface="Impact" pitchFamily="34" charset="-122"/>
                <a:cs typeface="Impact" pitchFamily="34" charset="-120"/>
              </a:rPr>
              <a:t>ComicCraft —</a:t>
            </a:r>
            <a:endParaRPr lang="en-US" sz="3000" dirty="0"/>
          </a:p>
          <a:p>
            <a:pPr algn="l" indent="0" marL="0">
              <a:buNone/>
            </a:pPr>
            <a:r>
              <a:rPr lang="en-US" sz="2400" dirty="0">
                <a:solidFill>
                  <a:schemeClr val="bg1"/>
                </a:solidFill>
                <a:latin typeface="Impact" pitchFamily="34" charset="0"/>
                <a:ea typeface="Impact" pitchFamily="34" charset="-122"/>
                <a:cs typeface="Impact" pitchFamily="34" charset="-120"/>
              </a:rPr>
              <a:t>Where Imagination Becomes a Comic</a:t>
            </a:r>
            <a:endParaRPr lang="en-US" sz="3000" dirty="0"/>
          </a:p>
        </p:txBody>
      </p:sp>
      <p:sp>
        <p:nvSpPr>
          <p:cNvPr id="3" name="Text 1"/>
          <p:cNvSpPr txBox="1"/>
          <p:nvPr/>
        </p:nvSpPr>
        <p:spPr>
          <a:xfrm>
            <a:off x="457200" y="2240280"/>
            <a:ext cx="4480560" cy="411480"/>
          </a:xfrm>
          <a:prstGeom prst="rect">
            <a:avLst/>
          </a:prstGeom>
          <a:noFill/>
          <a:ln/>
        </p:spPr>
        <p:txBody>
          <a:bodyPr wrap="square" lIns="0" tIns="0" rIns="0" bIns="0" rtlCol="0" anchor="t"/>
          <a:lstStyle/>
          <a:p>
            <a:pPr indent="0" marL="0">
              <a:buNone/>
            </a:pPr>
            <a:r>
              <a:rPr lang="en-US" sz="1700" b="1" dirty="0">
                <a:solidFill>
                  <a:schemeClr val="accent3"/>
                </a:solidFill>
                <a:latin typeface="Calibri" pitchFamily="34" charset="0"/>
                <a:ea typeface="Calibri" pitchFamily="34" charset="-122"/>
                <a:cs typeface="Calibri" pitchFamily="34" charset="-120"/>
              </a:rPr>
              <a:t>AI Comic Story Creator Using Gemini Models</a:t>
            </a:r>
            <a:endParaRPr lang="en-US" sz="1700" dirty="0"/>
          </a:p>
        </p:txBody>
      </p:sp>
      <p:sp>
        <p:nvSpPr>
          <p:cNvPr id="4" name="Shape 2"/>
          <p:cNvSpPr/>
          <p:nvPr/>
        </p:nvSpPr>
        <p:spPr>
          <a:xfrm>
            <a:off x="457200" y="2880360"/>
            <a:ext cx="4297680" cy="1783080"/>
          </a:xfrm>
          <a:prstGeom prst="roundRect">
            <a:avLst>
              <a:gd name="adj" fmla="val 4103"/>
            </a:avLst>
          </a:prstGeom>
          <a:solidFill>
            <a:schemeClr val="bg2"/>
          </a:solidFill>
          <a:ln w="25400">
            <a:solidFill>
              <a:schemeClr val="tx1"/>
            </a:solidFill>
            <a:prstDash val="solid"/>
          </a:ln>
          <a:effectLst>
            <a:outerShdw sx="100000" sy="100000" kx="0" ky="0" algn="bl" rotWithShape="0" blurRad="101600" dist="38100" dir="2700000">
              <a:srgbClr val="FF3B30">
                <a:alpha val="100000"/>
              </a:srgbClr>
            </a:outerShdw>
          </a:effectLst>
        </p:spPr>
      </p:sp>
      <p:sp>
        <p:nvSpPr>
          <p:cNvPr id="5" name="Text 3"/>
          <p:cNvSpPr txBox="1"/>
          <p:nvPr/>
        </p:nvSpPr>
        <p:spPr>
          <a:xfrm>
            <a:off x="640080" y="2926080"/>
            <a:ext cx="3931920" cy="1691640"/>
          </a:xfrm>
          <a:prstGeom prst="rect">
            <a:avLst/>
          </a:prstGeom>
          <a:noFill/>
          <a:ln/>
        </p:spPr>
        <p:txBody>
          <a:bodyPr wrap="square" lIns="0" tIns="0" rIns="0" bIns="0" rtlCol="0" anchor="ctr"/>
          <a:lstStyle/>
          <a:p>
            <a:pPr indent="0" marL="0">
              <a:spcAft>
                <a:spcPts val="300"/>
              </a:spcAft>
              <a:buNone/>
            </a:pPr>
            <a:r>
              <a:rPr lang="en-US" sz="1400" b="1" dirty="0">
                <a:solidFill>
                  <a:schemeClr val="tx1"/>
                </a:solidFill>
                <a:latin typeface="Calibri" pitchFamily="34" charset="0"/>
                <a:ea typeface="Calibri" pitchFamily="34" charset="-122"/>
                <a:cs typeface="Calibri" pitchFamily="34" charset="-120"/>
              </a:rPr>
              <a:t>Student: </a:t>
            </a:r>
            <a:pPr indent="0" marL="0">
              <a:spcAft>
                <a:spcPts val="300"/>
              </a:spcAft>
              <a:buNone/>
            </a:pPr>
            <a:r>
              <a:rPr lang="en-US" sz="1400" dirty="0">
                <a:solidFill>
                  <a:schemeClr val="tx1"/>
                </a:solidFill>
                <a:latin typeface="Calibri" pitchFamily="34" charset="0"/>
                <a:ea typeface="Calibri" pitchFamily="34" charset="-122"/>
                <a:cs typeface="Calibri" pitchFamily="34" charset="-120"/>
              </a:rPr>
              <a:t>[Student Name]</a:t>
            </a:r>
            <a:endParaRPr lang="en-US" sz="1400" dirty="0"/>
          </a:p>
          <a:p>
            <a:pPr indent="0" marL="0">
              <a:spcAft>
                <a:spcPts val="300"/>
              </a:spcAft>
              <a:buNone/>
            </a:pPr>
            <a:r>
              <a:rPr lang="en-US" sz="1400" b="1" dirty="0">
                <a:solidFill>
                  <a:schemeClr val="tx1"/>
                </a:solidFill>
                <a:latin typeface="Calibri" pitchFamily="34" charset="0"/>
                <a:ea typeface="Calibri" pitchFamily="34" charset="-122"/>
                <a:cs typeface="Calibri" pitchFamily="34" charset="-120"/>
              </a:rPr>
              <a:t>Department: </a:t>
            </a:r>
            <a:pPr indent="0" marL="0">
              <a:spcAft>
                <a:spcPts val="300"/>
              </a:spcAft>
              <a:buNone/>
            </a:pPr>
            <a:r>
              <a:rPr lang="en-US" sz="1400" dirty="0">
                <a:solidFill>
                  <a:schemeClr val="tx1"/>
                </a:solidFill>
                <a:latin typeface="Calibri" pitchFamily="34" charset="0"/>
                <a:ea typeface="Calibri" pitchFamily="34" charset="-122"/>
                <a:cs typeface="Calibri" pitchFamily="34" charset="-120"/>
              </a:rPr>
              <a:t>[Department]</a:t>
            </a:r>
            <a:endParaRPr lang="en-US" sz="1400" dirty="0"/>
          </a:p>
          <a:p>
            <a:pPr indent="0" marL="0">
              <a:spcAft>
                <a:spcPts val="300"/>
              </a:spcAft>
              <a:buNone/>
            </a:pPr>
            <a:r>
              <a:rPr lang="en-US" sz="1400" b="1" dirty="0">
                <a:solidFill>
                  <a:schemeClr val="tx1"/>
                </a:solidFill>
                <a:latin typeface="Calibri" pitchFamily="34" charset="0"/>
                <a:ea typeface="Calibri" pitchFamily="34" charset="-122"/>
                <a:cs typeface="Calibri" pitchFamily="34" charset="-120"/>
              </a:rPr>
              <a:t>College: </a:t>
            </a:r>
            <a:pPr indent="0" marL="0">
              <a:spcAft>
                <a:spcPts val="300"/>
              </a:spcAft>
              <a:buNone/>
            </a:pPr>
            <a:r>
              <a:rPr lang="en-US" sz="1400" dirty="0">
                <a:solidFill>
                  <a:schemeClr val="tx1"/>
                </a:solidFill>
                <a:latin typeface="Calibri" pitchFamily="34" charset="0"/>
                <a:ea typeface="Calibri" pitchFamily="34" charset="-122"/>
                <a:cs typeface="Calibri" pitchFamily="34" charset="-120"/>
              </a:rPr>
              <a:t>[College Name]</a:t>
            </a:r>
            <a:endParaRPr lang="en-US" sz="1400" dirty="0"/>
          </a:p>
          <a:p>
            <a:pPr indent="0" marL="0">
              <a:spcAft>
                <a:spcPts val="300"/>
              </a:spcAft>
              <a:buNone/>
            </a:pPr>
            <a:r>
              <a:rPr lang="en-US" sz="1400" b="1" dirty="0">
                <a:solidFill>
                  <a:schemeClr val="tx1"/>
                </a:solidFill>
                <a:latin typeface="Calibri" pitchFamily="34" charset="0"/>
                <a:ea typeface="Calibri" pitchFamily="34" charset="-122"/>
                <a:cs typeface="Calibri" pitchFamily="34" charset="-120"/>
              </a:rPr>
              <a:t>Guide: </a:t>
            </a:r>
            <a:pPr indent="0" marL="0">
              <a:spcAft>
                <a:spcPts val="300"/>
              </a:spcAft>
              <a:buNone/>
            </a:pPr>
            <a:r>
              <a:rPr lang="en-US" sz="1400" dirty="0">
                <a:solidFill>
                  <a:schemeClr val="tx1"/>
                </a:solidFill>
                <a:latin typeface="Calibri" pitchFamily="34" charset="0"/>
                <a:ea typeface="Calibri" pitchFamily="34" charset="-122"/>
                <a:cs typeface="Calibri" pitchFamily="34" charset="-120"/>
              </a:rPr>
              <a:t>[Guide Name]</a:t>
            </a:r>
            <a:endParaRPr lang="en-US" sz="1400" dirty="0"/>
          </a:p>
          <a:p>
            <a:pPr indent="0" marL="0">
              <a:spcAft>
                <a:spcPts val="300"/>
              </a:spcAft>
              <a:buNone/>
            </a:pPr>
            <a:r>
              <a:rPr lang="en-US" sz="1400" b="1" dirty="0">
                <a:solidFill>
                  <a:schemeClr val="tx1"/>
                </a:solidFill>
                <a:latin typeface="Calibri" pitchFamily="34" charset="0"/>
                <a:ea typeface="Calibri" pitchFamily="34" charset="-122"/>
                <a:cs typeface="Calibri" pitchFamily="34" charset="-120"/>
              </a:rPr>
              <a:t>Academic Year: </a:t>
            </a:r>
            <a:pPr indent="0" marL="0">
              <a:spcAft>
                <a:spcPts val="300"/>
              </a:spcAft>
              <a:buNone/>
            </a:pPr>
            <a:r>
              <a:rPr lang="en-US" sz="1400" dirty="0">
                <a:solidFill>
                  <a:schemeClr val="tx1"/>
                </a:solidFill>
                <a:latin typeface="Calibri" pitchFamily="34" charset="0"/>
                <a:ea typeface="Calibri" pitchFamily="34" charset="-122"/>
                <a:cs typeface="Calibri" pitchFamily="34" charset="-120"/>
              </a:rPr>
              <a:t>[20XX – 20XX]</a:t>
            </a:r>
            <a:endParaRPr lang="en-US" sz="1400" dirty="0"/>
          </a:p>
        </p:txBody>
      </p:sp>
      <p:sp>
        <p:nvSpPr>
          <p:cNvPr id="6" name="Text 4"/>
          <p:cNvSpPr txBox="1"/>
          <p:nvPr/>
        </p:nvSpPr>
        <p:spPr>
          <a:xfrm>
            <a:off x="5212080" y="548640"/>
            <a:ext cx="3474720" cy="868680"/>
          </a:xfrm>
          <a:prstGeom prst="wedgeRoundRectCallout">
            <a:avLst/>
          </a:prstGeom>
          <a:solidFill>
            <a:schemeClr val="bg2"/>
          </a:solidFill>
          <a:ln w="25400">
            <a:solidFill>
              <a:schemeClr val="bg1"/>
            </a:solidFill>
          </a:ln>
        </p:spPr>
        <p:txBody>
          <a:bodyPr wrap="square" lIns="76200" tIns="76200" rIns="76200" bIns="76200" rtlCol="0" anchor="ctr"/>
          <a:lstStyle/>
          <a:p>
            <a:pPr algn="ctr" indent="0" marL="0">
              <a:buNone/>
            </a:pPr>
            <a:r>
              <a:rPr lang="en-US" sz="1400" b="1" i="1" dirty="0">
                <a:solidFill>
                  <a:schemeClr val="tx1"/>
                </a:solidFill>
                <a:latin typeface="Calibri" pitchFamily="34" charset="0"/>
                <a:ea typeface="Calibri" pitchFamily="34" charset="-122"/>
                <a:cs typeface="Calibri" pitchFamily="34" charset="-120"/>
              </a:rPr>
              <a:t>“A lonely robot learns to paint the night sky…”</a:t>
            </a:r>
            <a:endParaRPr lang="en-US" sz="1400" dirty="0"/>
          </a:p>
        </p:txBody>
      </p:sp>
      <p:sp>
        <p:nvSpPr>
          <p:cNvPr id="7" name="Shape 5"/>
          <p:cNvSpPr/>
          <p:nvPr/>
        </p:nvSpPr>
        <p:spPr>
          <a:xfrm>
            <a:off x="6949440" y="1508760"/>
            <a:ext cx="0" cy="365760"/>
          </a:xfrm>
          <a:prstGeom prst="line">
            <a:avLst/>
          </a:prstGeom>
          <a:noFill/>
          <a:ln w="31750">
            <a:solidFill>
              <a:schemeClr val="accent3"/>
            </a:solidFill>
            <a:prstDash val="solid"/>
            <a:tailEnd type="triangle"/>
          </a:ln>
        </p:spPr>
      </p:sp>
      <p:sp>
        <p:nvSpPr>
          <p:cNvPr id="8" name="Shape 6"/>
          <p:cNvSpPr/>
          <p:nvPr/>
        </p:nvSpPr>
        <p:spPr>
          <a:xfrm>
            <a:off x="5486400" y="1920240"/>
            <a:ext cx="2926080" cy="2697480"/>
          </a:xfrm>
          <a:prstGeom prst="roundRect">
            <a:avLst>
              <a:gd name="adj" fmla="val 2712"/>
            </a:avLst>
          </a:prstGeom>
          <a:solidFill>
            <a:schemeClr val="bg2"/>
          </a:solidFill>
          <a:ln w="25400">
            <a:solidFill>
              <a:schemeClr val="tx1"/>
            </a:solidFill>
            <a:prstDash val="solid"/>
          </a:ln>
          <a:effectLst>
            <a:outerShdw sx="100000" sy="100000" kx="0" ky="0" algn="bl" rotWithShape="0" blurRad="101600" dist="38100" dir="2700000">
              <a:srgbClr val="FF3B30">
                <a:alpha val="100000"/>
              </a:srgbClr>
            </a:outerShdw>
          </a:effectLst>
        </p:spPr>
      </p:sp>
      <p:sp>
        <p:nvSpPr>
          <p:cNvPr id="9" name="Shape 7"/>
          <p:cNvSpPr/>
          <p:nvPr/>
        </p:nvSpPr>
        <p:spPr>
          <a:xfrm>
            <a:off x="5623560" y="2057400"/>
            <a:ext cx="1234440" cy="1097280"/>
          </a:xfrm>
          <a:prstGeom prst="rect">
            <a:avLst/>
          </a:prstGeom>
          <a:solidFill>
            <a:srgbClr val="BFDDFF"/>
          </a:solidFill>
          <a:ln w="25400">
            <a:solidFill>
              <a:schemeClr val="tx1"/>
            </a:solidFill>
            <a:prstDash val="solid"/>
          </a:ln>
        </p:spPr>
      </p:sp>
      <p:sp>
        <p:nvSpPr>
          <p:cNvPr id="10" name="Shape 8"/>
          <p:cNvSpPr/>
          <p:nvPr/>
        </p:nvSpPr>
        <p:spPr>
          <a:xfrm>
            <a:off x="6400800" y="2194560"/>
            <a:ext cx="365760" cy="365760"/>
          </a:xfrm>
          <a:prstGeom prst="ellipse">
            <a:avLst/>
          </a:prstGeom>
          <a:solidFill>
            <a:schemeClr val="accent3"/>
          </a:solidFill>
          <a:ln w="19050">
            <a:solidFill>
              <a:schemeClr val="tx1"/>
            </a:solidFill>
            <a:prstDash val="solid"/>
          </a:ln>
        </p:spPr>
      </p:sp>
      <p:sp>
        <p:nvSpPr>
          <p:cNvPr id="11" name="Shape 9"/>
          <p:cNvSpPr/>
          <p:nvPr/>
        </p:nvSpPr>
        <p:spPr>
          <a:xfrm>
            <a:off x="5715000" y="2606040"/>
            <a:ext cx="822960" cy="457200"/>
          </a:xfrm>
          <a:prstGeom prst="rtTriangle">
            <a:avLst/>
          </a:prstGeom>
          <a:solidFill>
            <a:schemeClr val="accent2"/>
          </a:solidFill>
          <a:ln w="19050">
            <a:solidFill>
              <a:schemeClr val="tx1"/>
            </a:solidFill>
            <a:prstDash val="solid"/>
          </a:ln>
        </p:spPr>
      </p:sp>
      <p:sp>
        <p:nvSpPr>
          <p:cNvPr id="12" name="Shape 10"/>
          <p:cNvSpPr/>
          <p:nvPr/>
        </p:nvSpPr>
        <p:spPr>
          <a:xfrm>
            <a:off x="6949440" y="2057400"/>
            <a:ext cx="1234440" cy="1097280"/>
          </a:xfrm>
          <a:prstGeom prst="rect">
            <a:avLst/>
          </a:prstGeom>
          <a:solidFill>
            <a:srgbClr val="FFD9D6"/>
          </a:solidFill>
          <a:ln w="25400">
            <a:solidFill>
              <a:schemeClr val="tx1"/>
            </a:solidFill>
            <a:prstDash val="solid"/>
          </a:ln>
        </p:spPr>
      </p:sp>
      <p:sp>
        <p:nvSpPr>
          <p:cNvPr id="13" name="Shape 11"/>
          <p:cNvSpPr/>
          <p:nvPr/>
        </p:nvSpPr>
        <p:spPr>
          <a:xfrm>
            <a:off x="7315200" y="2423160"/>
            <a:ext cx="502920" cy="548640"/>
          </a:xfrm>
          <a:prstGeom prst="rect">
            <a:avLst/>
          </a:prstGeom>
          <a:solidFill>
            <a:schemeClr val="bg2"/>
          </a:solidFill>
          <a:ln w="19050">
            <a:solidFill>
              <a:schemeClr val="tx1"/>
            </a:solidFill>
            <a:prstDash val="solid"/>
          </a:ln>
        </p:spPr>
      </p:sp>
      <p:sp>
        <p:nvSpPr>
          <p:cNvPr id="14" name="Shape 12"/>
          <p:cNvSpPr/>
          <p:nvPr/>
        </p:nvSpPr>
        <p:spPr>
          <a:xfrm>
            <a:off x="7406640" y="2167128"/>
            <a:ext cx="320040" cy="320040"/>
          </a:xfrm>
          <a:prstGeom prst="ellipse">
            <a:avLst/>
          </a:prstGeom>
          <a:solidFill>
            <a:schemeClr val="bg2"/>
          </a:solidFill>
          <a:ln w="19050">
            <a:solidFill>
              <a:schemeClr val="tx1"/>
            </a:solidFill>
            <a:prstDash val="solid"/>
          </a:ln>
        </p:spPr>
      </p:sp>
      <p:sp>
        <p:nvSpPr>
          <p:cNvPr id="15" name="Shape 13"/>
          <p:cNvSpPr/>
          <p:nvPr/>
        </p:nvSpPr>
        <p:spPr>
          <a:xfrm>
            <a:off x="5623560" y="3246120"/>
            <a:ext cx="1234440" cy="1097280"/>
          </a:xfrm>
          <a:prstGeom prst="rect">
            <a:avLst/>
          </a:prstGeom>
          <a:solidFill>
            <a:srgbClr val="171717"/>
          </a:solidFill>
          <a:ln w="25400">
            <a:solidFill>
              <a:schemeClr val="tx1"/>
            </a:solidFill>
            <a:prstDash val="solid"/>
          </a:ln>
        </p:spPr>
      </p:sp>
      <p:sp>
        <p:nvSpPr>
          <p:cNvPr id="16" name="Shape 14"/>
          <p:cNvSpPr/>
          <p:nvPr/>
        </p:nvSpPr>
        <p:spPr>
          <a:xfrm>
            <a:off x="5989320" y="3474720"/>
            <a:ext cx="548640" cy="548640"/>
          </a:xfrm>
          <a:prstGeom prst="star5">
            <a:avLst/>
          </a:prstGeom>
          <a:solidFill>
            <a:schemeClr val="accent3"/>
          </a:solidFill>
          <a:ln w="12700">
            <a:solidFill>
              <a:schemeClr val="bg1"/>
            </a:solidFill>
            <a:prstDash val="solid"/>
          </a:ln>
        </p:spPr>
      </p:sp>
      <p:sp>
        <p:nvSpPr>
          <p:cNvPr id="17" name="Shape 15"/>
          <p:cNvSpPr/>
          <p:nvPr/>
        </p:nvSpPr>
        <p:spPr>
          <a:xfrm>
            <a:off x="6949440" y="3246120"/>
            <a:ext cx="1234440" cy="1097280"/>
          </a:xfrm>
          <a:prstGeom prst="rect">
            <a:avLst/>
          </a:prstGeom>
          <a:solidFill>
            <a:schemeClr val="accent3"/>
          </a:solidFill>
          <a:ln w="25400">
            <a:solidFill>
              <a:schemeClr val="tx1"/>
            </a:solidFill>
            <a:prstDash val="solid"/>
          </a:ln>
        </p:spPr>
      </p:sp>
      <p:sp>
        <p:nvSpPr>
          <p:cNvPr id="18" name="Text 16"/>
          <p:cNvSpPr txBox="1"/>
          <p:nvPr/>
        </p:nvSpPr>
        <p:spPr>
          <a:xfrm>
            <a:off x="7086600" y="3474720"/>
            <a:ext cx="960120" cy="640080"/>
          </a:xfrm>
          <a:prstGeom prst="cloud">
            <a:avLst/>
          </a:prstGeom>
          <a:solidFill>
            <a:schemeClr val="bg2"/>
          </a:solidFill>
          <a:ln w="19050">
            <a:solidFill>
              <a:schemeClr val="tx1"/>
            </a:solidFill>
          </a:ln>
        </p:spPr>
        <p:txBody>
          <a:bodyPr wrap="square" lIns="0" tIns="0" rIns="0" bIns="0" rtlCol="0" anchor="ctr"/>
          <a:lstStyle/>
          <a:p>
            <a:pPr algn="ctr" indent="0" marL="0">
              <a:buNone/>
            </a:pPr>
            <a:r>
              <a:rPr lang="en-US" sz="1400" dirty="0">
                <a:solidFill>
                  <a:schemeClr val="accent1"/>
                </a:solidFill>
                <a:latin typeface="Impact" pitchFamily="34" charset="0"/>
                <a:ea typeface="Impact" pitchFamily="34" charset="-122"/>
                <a:cs typeface="Impact" pitchFamily="34" charset="-120"/>
              </a:rPr>
              <a:t>POW!</a:t>
            </a:r>
            <a:endParaRPr lang="en-US" sz="1400" dirty="0"/>
          </a:p>
        </p:txBody>
      </p:sp>
      <p:sp>
        <p:nvSpPr>
          <p:cNvPr id="19" name="Text 17"/>
          <p:cNvSpPr txBox="1"/>
          <p:nvPr/>
        </p:nvSpPr>
        <p:spPr>
          <a:xfrm>
            <a:off x="5486400" y="4663440"/>
            <a:ext cx="2926080" cy="228600"/>
          </a:xfrm>
          <a:prstGeom prst="rect">
            <a:avLst/>
          </a:prstGeom>
          <a:noFill/>
          <a:ln/>
        </p:spPr>
        <p:txBody>
          <a:bodyPr wrap="square" lIns="0" tIns="0" rIns="0" bIns="0" rtlCol="0" anchor="ctr"/>
          <a:lstStyle/>
          <a:p>
            <a:pPr algn="ctr" indent="0" marL="0">
              <a:buNone/>
            </a:pPr>
            <a:r>
              <a:rPr lang="en-US" sz="1000" i="1" dirty="0">
                <a:solidFill>
                  <a:schemeClr val="bg1"/>
                </a:solidFill>
                <a:latin typeface="Calibri" pitchFamily="34" charset="0"/>
                <a:ea typeface="Calibri" pitchFamily="34" charset="-122"/>
                <a:cs typeface="Calibri" pitchFamily="34" charset="-120"/>
              </a:rPr>
              <a:t>Conceptual illustration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dirty="0">
                <a:solidFill>
                  <a:schemeClr val="tx1"/>
                </a:solidFill>
                <a:latin typeface="Impact" pitchFamily="34" charset="0"/>
                <a:ea typeface="Impact" pitchFamily="34" charset="-122"/>
                <a:cs typeface="Impact" pitchFamily="34" charset="-120"/>
              </a:rPr>
              <a:t>The Problem and Our Objectives</a:t>
            </a:r>
            <a:endParaRPr lang="en-US" sz="3000" dirty="0"/>
          </a:p>
        </p:txBody>
      </p:sp>
      <p:sp>
        <p:nvSpPr>
          <p:cNvPr id="3" name="Shape 1"/>
          <p:cNvSpPr/>
          <p:nvPr/>
        </p:nvSpPr>
        <p:spPr>
          <a:xfrm>
            <a:off x="457200" y="1097280"/>
            <a:ext cx="3749040" cy="3200400"/>
          </a:xfrm>
          <a:prstGeom prst="roundRect">
            <a:avLst>
              <a:gd name="adj" fmla="val 2286"/>
            </a:avLst>
          </a:prstGeom>
          <a:solidFill>
            <a:schemeClr val="bg2"/>
          </a:solidFill>
          <a:ln w="25400">
            <a:solidFill>
              <a:schemeClr val="tx1"/>
            </a:solidFill>
            <a:prstDash val="solid"/>
          </a:ln>
          <a:effectLst>
            <a:outerShdw sx="100000" sy="100000" kx="0" ky="0" algn="bl" rotWithShape="0" blurRad="101600" dist="38100" dir="2700000">
              <a:srgbClr val="171717">
                <a:alpha val="100000"/>
              </a:srgbClr>
            </a:outerShdw>
          </a:effectLst>
        </p:spPr>
      </p:sp>
      <p:sp>
        <p:nvSpPr>
          <p:cNvPr id="4" name="Text 2"/>
          <p:cNvSpPr txBox="1"/>
          <p:nvPr/>
        </p:nvSpPr>
        <p:spPr>
          <a:xfrm>
            <a:off x="640080" y="1170432"/>
            <a:ext cx="3383280" cy="411480"/>
          </a:xfrm>
          <a:prstGeom prst="rect">
            <a:avLst/>
          </a:prstGeom>
          <a:noFill/>
          <a:ln/>
        </p:spPr>
        <p:txBody>
          <a:bodyPr wrap="square" lIns="0" tIns="0" rIns="0" bIns="0" rtlCol="0" anchor="ctr"/>
          <a:lstStyle/>
          <a:p>
            <a:pPr indent="0" marL="0">
              <a:buNone/>
            </a:pPr>
            <a:r>
              <a:rPr lang="en-US" sz="1800" dirty="0">
                <a:solidFill>
                  <a:schemeClr val="accent1"/>
                </a:solidFill>
                <a:latin typeface="Impact" pitchFamily="34" charset="0"/>
                <a:ea typeface="Impact" pitchFamily="34" charset="-122"/>
                <a:cs typeface="Impact" pitchFamily="34" charset="-120"/>
              </a:rPr>
              <a:t>Making a comic by hand</a:t>
            </a:r>
            <a:endParaRPr lang="en-US" sz="1800" dirty="0"/>
          </a:p>
        </p:txBody>
      </p:sp>
      <p:sp>
        <p:nvSpPr>
          <p:cNvPr id="5" name="Text 3"/>
          <p:cNvSpPr txBox="1"/>
          <p:nvPr/>
        </p:nvSpPr>
        <p:spPr>
          <a:xfrm>
            <a:off x="640080" y="1737360"/>
            <a:ext cx="329184" cy="329184"/>
          </a:xfrm>
          <a:prstGeom prst="ellipse">
            <a:avLst/>
          </a:prstGeom>
          <a:solidFill>
            <a:schemeClr val="accent1"/>
          </a:solidFill>
          <a:ln w="19050">
            <a:solidFill>
              <a:schemeClr val="tx1"/>
            </a:solidFill>
          </a:ln>
        </p:spPr>
        <p:txBody>
          <a:bodyPr wrap="square" lIns="0" tIns="0" rIns="0" bIns="0" rtlCol="0" anchor="ctr"/>
          <a:lstStyle/>
          <a:p>
            <a:pPr algn="ctr" indent="0" marL="0">
              <a:buNone/>
            </a:pPr>
            <a:r>
              <a:rPr lang="en-US" sz="1400" dirty="0">
                <a:solidFill>
                  <a:schemeClr val="bg2"/>
                </a:solidFill>
                <a:latin typeface="Impact" pitchFamily="34" charset="0"/>
                <a:ea typeface="Impact" pitchFamily="34" charset="-122"/>
                <a:cs typeface="Impact" pitchFamily="34" charset="-120"/>
              </a:rPr>
              <a:t>1</a:t>
            </a:r>
            <a:endParaRPr lang="en-US" sz="1400" dirty="0"/>
          </a:p>
        </p:txBody>
      </p:sp>
      <p:sp>
        <p:nvSpPr>
          <p:cNvPr id="6" name="Text 4"/>
          <p:cNvSpPr txBox="1"/>
          <p:nvPr/>
        </p:nvSpPr>
        <p:spPr>
          <a:xfrm>
            <a:off x="1097280" y="1700784"/>
            <a:ext cx="3017520" cy="402336"/>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Write the story</a:t>
            </a:r>
            <a:endParaRPr lang="en-US" sz="1400" dirty="0"/>
          </a:p>
        </p:txBody>
      </p:sp>
      <p:sp>
        <p:nvSpPr>
          <p:cNvPr id="7" name="Text 5"/>
          <p:cNvSpPr txBox="1"/>
          <p:nvPr/>
        </p:nvSpPr>
        <p:spPr>
          <a:xfrm>
            <a:off x="640080" y="2240280"/>
            <a:ext cx="329184" cy="329184"/>
          </a:xfrm>
          <a:prstGeom prst="ellipse">
            <a:avLst/>
          </a:prstGeom>
          <a:solidFill>
            <a:schemeClr val="accent1"/>
          </a:solidFill>
          <a:ln w="19050">
            <a:solidFill>
              <a:schemeClr val="tx1"/>
            </a:solidFill>
          </a:ln>
        </p:spPr>
        <p:txBody>
          <a:bodyPr wrap="square" lIns="0" tIns="0" rIns="0" bIns="0" rtlCol="0" anchor="ctr"/>
          <a:lstStyle/>
          <a:p>
            <a:pPr algn="ctr" indent="0" marL="0">
              <a:buNone/>
            </a:pPr>
            <a:r>
              <a:rPr lang="en-US" sz="1400" dirty="0">
                <a:solidFill>
                  <a:schemeClr val="bg2"/>
                </a:solidFill>
                <a:latin typeface="Impact" pitchFamily="34" charset="0"/>
                <a:ea typeface="Impact" pitchFamily="34" charset="-122"/>
                <a:cs typeface="Impact" pitchFamily="34" charset="-120"/>
              </a:rPr>
              <a:t>2</a:t>
            </a:r>
            <a:endParaRPr lang="en-US" sz="1400" dirty="0"/>
          </a:p>
        </p:txBody>
      </p:sp>
      <p:sp>
        <p:nvSpPr>
          <p:cNvPr id="8" name="Text 6"/>
          <p:cNvSpPr txBox="1"/>
          <p:nvPr/>
        </p:nvSpPr>
        <p:spPr>
          <a:xfrm>
            <a:off x="1097280" y="2203704"/>
            <a:ext cx="3017520" cy="402336"/>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Divide it into panels</a:t>
            </a:r>
            <a:endParaRPr lang="en-US" sz="1400" dirty="0"/>
          </a:p>
        </p:txBody>
      </p:sp>
      <p:sp>
        <p:nvSpPr>
          <p:cNvPr id="9" name="Text 7"/>
          <p:cNvSpPr txBox="1"/>
          <p:nvPr/>
        </p:nvSpPr>
        <p:spPr>
          <a:xfrm>
            <a:off x="640080" y="2743200"/>
            <a:ext cx="329184" cy="329184"/>
          </a:xfrm>
          <a:prstGeom prst="ellipse">
            <a:avLst/>
          </a:prstGeom>
          <a:solidFill>
            <a:schemeClr val="accent1"/>
          </a:solidFill>
          <a:ln w="19050">
            <a:solidFill>
              <a:schemeClr val="tx1"/>
            </a:solidFill>
          </a:ln>
        </p:spPr>
        <p:txBody>
          <a:bodyPr wrap="square" lIns="0" tIns="0" rIns="0" bIns="0" rtlCol="0" anchor="ctr"/>
          <a:lstStyle/>
          <a:p>
            <a:pPr algn="ctr" indent="0" marL="0">
              <a:buNone/>
            </a:pPr>
            <a:r>
              <a:rPr lang="en-US" sz="1400" dirty="0">
                <a:solidFill>
                  <a:schemeClr val="bg2"/>
                </a:solidFill>
                <a:latin typeface="Impact" pitchFamily="34" charset="0"/>
                <a:ea typeface="Impact" pitchFamily="34" charset="-122"/>
                <a:cs typeface="Impact" pitchFamily="34" charset="-120"/>
              </a:rPr>
              <a:t>3</a:t>
            </a:r>
            <a:endParaRPr lang="en-US" sz="1400" dirty="0"/>
          </a:p>
        </p:txBody>
      </p:sp>
      <p:sp>
        <p:nvSpPr>
          <p:cNvPr id="10" name="Text 8"/>
          <p:cNvSpPr txBox="1"/>
          <p:nvPr/>
        </p:nvSpPr>
        <p:spPr>
          <a:xfrm>
            <a:off x="1097280" y="2706624"/>
            <a:ext cx="3017520" cy="402336"/>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Create every illustration</a:t>
            </a:r>
            <a:endParaRPr lang="en-US" sz="1400" dirty="0"/>
          </a:p>
        </p:txBody>
      </p:sp>
      <p:sp>
        <p:nvSpPr>
          <p:cNvPr id="11" name="Text 9"/>
          <p:cNvSpPr txBox="1"/>
          <p:nvPr/>
        </p:nvSpPr>
        <p:spPr>
          <a:xfrm>
            <a:off x="640080" y="3246120"/>
            <a:ext cx="329184" cy="329184"/>
          </a:xfrm>
          <a:prstGeom prst="ellipse">
            <a:avLst/>
          </a:prstGeom>
          <a:solidFill>
            <a:schemeClr val="accent1"/>
          </a:solidFill>
          <a:ln w="19050">
            <a:solidFill>
              <a:schemeClr val="tx1"/>
            </a:solidFill>
          </a:ln>
        </p:spPr>
        <p:txBody>
          <a:bodyPr wrap="square" lIns="0" tIns="0" rIns="0" bIns="0" rtlCol="0" anchor="ctr"/>
          <a:lstStyle/>
          <a:p>
            <a:pPr algn="ctr" indent="0" marL="0">
              <a:buNone/>
            </a:pPr>
            <a:r>
              <a:rPr lang="en-US" sz="1400" dirty="0">
                <a:solidFill>
                  <a:schemeClr val="bg2"/>
                </a:solidFill>
                <a:latin typeface="Impact" pitchFamily="34" charset="0"/>
                <a:ea typeface="Impact" pitchFamily="34" charset="-122"/>
                <a:cs typeface="Impact" pitchFamily="34" charset="-120"/>
              </a:rPr>
              <a:t>4</a:t>
            </a:r>
            <a:endParaRPr lang="en-US" sz="1400" dirty="0"/>
          </a:p>
        </p:txBody>
      </p:sp>
      <p:sp>
        <p:nvSpPr>
          <p:cNvPr id="12" name="Text 10"/>
          <p:cNvSpPr txBox="1"/>
          <p:nvPr/>
        </p:nvSpPr>
        <p:spPr>
          <a:xfrm>
            <a:off x="1097280" y="3209544"/>
            <a:ext cx="3017520" cy="402336"/>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Write dialogue and narration</a:t>
            </a:r>
            <a:endParaRPr lang="en-US" sz="1400" dirty="0"/>
          </a:p>
        </p:txBody>
      </p:sp>
      <p:sp>
        <p:nvSpPr>
          <p:cNvPr id="13" name="Text 11"/>
          <p:cNvSpPr txBox="1"/>
          <p:nvPr/>
        </p:nvSpPr>
        <p:spPr>
          <a:xfrm>
            <a:off x="640080" y="3749040"/>
            <a:ext cx="329184" cy="329184"/>
          </a:xfrm>
          <a:prstGeom prst="ellipse">
            <a:avLst/>
          </a:prstGeom>
          <a:solidFill>
            <a:schemeClr val="accent1"/>
          </a:solidFill>
          <a:ln w="19050">
            <a:solidFill>
              <a:schemeClr val="tx1"/>
            </a:solidFill>
          </a:ln>
        </p:spPr>
        <p:txBody>
          <a:bodyPr wrap="square" lIns="0" tIns="0" rIns="0" bIns="0" rtlCol="0" anchor="ctr"/>
          <a:lstStyle/>
          <a:p>
            <a:pPr algn="ctr" indent="0" marL="0">
              <a:buNone/>
            </a:pPr>
            <a:r>
              <a:rPr lang="en-US" sz="1400" dirty="0">
                <a:solidFill>
                  <a:schemeClr val="bg2"/>
                </a:solidFill>
                <a:latin typeface="Impact" pitchFamily="34" charset="0"/>
                <a:ea typeface="Impact" pitchFamily="34" charset="-122"/>
                <a:cs typeface="Impact" pitchFamily="34" charset="-120"/>
              </a:rPr>
              <a:t>5</a:t>
            </a:r>
            <a:endParaRPr lang="en-US" sz="1400" dirty="0"/>
          </a:p>
        </p:txBody>
      </p:sp>
      <p:sp>
        <p:nvSpPr>
          <p:cNvPr id="14" name="Text 12"/>
          <p:cNvSpPr txBox="1"/>
          <p:nvPr/>
        </p:nvSpPr>
        <p:spPr>
          <a:xfrm>
            <a:off x="1097280" y="3712464"/>
            <a:ext cx="3017520" cy="402336"/>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Arrange panels and export</a:t>
            </a:r>
            <a:endParaRPr lang="en-US" sz="1400" dirty="0"/>
          </a:p>
        </p:txBody>
      </p:sp>
      <p:sp>
        <p:nvSpPr>
          <p:cNvPr id="15" name="Shape 13"/>
          <p:cNvSpPr/>
          <p:nvPr/>
        </p:nvSpPr>
        <p:spPr>
          <a:xfrm>
            <a:off x="4279392" y="2514600"/>
            <a:ext cx="585216" cy="457200"/>
          </a:xfrm>
          <a:prstGeom prst="rightArrow">
            <a:avLst/>
          </a:prstGeom>
          <a:solidFill>
            <a:schemeClr val="accent3"/>
          </a:solidFill>
          <a:ln w="25400">
            <a:solidFill>
              <a:schemeClr val="tx1"/>
            </a:solidFill>
            <a:prstDash val="solid"/>
          </a:ln>
        </p:spPr>
      </p:sp>
      <p:sp>
        <p:nvSpPr>
          <p:cNvPr id="16" name="Shape 14"/>
          <p:cNvSpPr/>
          <p:nvPr/>
        </p:nvSpPr>
        <p:spPr>
          <a:xfrm>
            <a:off x="4937760" y="1097280"/>
            <a:ext cx="3749040" cy="3200400"/>
          </a:xfrm>
          <a:prstGeom prst="roundRect">
            <a:avLst>
              <a:gd name="adj" fmla="val 2286"/>
            </a:avLst>
          </a:prstGeom>
          <a:solidFill>
            <a:schemeClr val="accent2"/>
          </a:solidFill>
          <a:ln w="25400">
            <a:solidFill>
              <a:schemeClr val="tx1"/>
            </a:solidFill>
            <a:prstDash val="solid"/>
          </a:ln>
          <a:effectLst>
            <a:outerShdw sx="100000" sy="100000" kx="0" ky="0" algn="bl" rotWithShape="0" blurRad="101600" dist="38100" dir="2700000">
              <a:srgbClr val="171717">
                <a:alpha val="100000"/>
              </a:srgbClr>
            </a:outerShdw>
          </a:effectLst>
        </p:spPr>
      </p:sp>
      <p:sp>
        <p:nvSpPr>
          <p:cNvPr id="17" name="Text 15"/>
          <p:cNvSpPr txBox="1"/>
          <p:nvPr/>
        </p:nvSpPr>
        <p:spPr>
          <a:xfrm>
            <a:off x="5120640" y="1170432"/>
            <a:ext cx="3383280" cy="411480"/>
          </a:xfrm>
          <a:prstGeom prst="rect">
            <a:avLst/>
          </a:prstGeom>
          <a:noFill/>
          <a:ln/>
        </p:spPr>
        <p:txBody>
          <a:bodyPr wrap="square" lIns="0" tIns="0" rIns="0" bIns="0" rtlCol="0" anchor="ctr"/>
          <a:lstStyle/>
          <a:p>
            <a:pPr indent="0" marL="0">
              <a:buNone/>
            </a:pPr>
            <a:r>
              <a:rPr lang="en-US" sz="1800" dirty="0">
                <a:solidFill>
                  <a:schemeClr val="accent3"/>
                </a:solidFill>
                <a:latin typeface="Impact" pitchFamily="34" charset="0"/>
                <a:ea typeface="Impact" pitchFamily="34" charset="-122"/>
                <a:cs typeface="Impact" pitchFamily="34" charset="-120"/>
              </a:rPr>
              <a:t>ComicCraft objectives</a:t>
            </a:r>
            <a:endParaRPr lang="en-US" sz="1800" dirty="0"/>
          </a:p>
        </p:txBody>
      </p:sp>
      <p:sp>
        <p:nvSpPr>
          <p:cNvPr id="18" name="Text 16"/>
          <p:cNvSpPr txBox="1"/>
          <p:nvPr/>
        </p:nvSpPr>
        <p:spPr>
          <a:xfrm>
            <a:off x="5120640" y="1691640"/>
            <a:ext cx="338328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2"/>
                </a:solidFill>
                <a:latin typeface="Calibri" pitchFamily="34" charset="0"/>
                <a:ea typeface="Calibri" pitchFamily="34" charset="-122"/>
                <a:cs typeface="Calibri" pitchFamily="34" charset="-120"/>
              </a:rPr>
              <a:t>Generate a structured story</a:t>
            </a:r>
            <a:endParaRPr lang="en-US" sz="1400" dirty="0"/>
          </a:p>
          <a:p>
            <a:pPr marL="342900" indent="-342900">
              <a:spcAft>
                <a:spcPts val="800"/>
              </a:spcAft>
              <a:buSzPct val="100000"/>
              <a:buChar char="•"/>
            </a:pPr>
            <a:r>
              <a:rPr lang="en-US" sz="1400" dirty="0">
                <a:solidFill>
                  <a:schemeClr val="bg2"/>
                </a:solidFill>
                <a:latin typeface="Calibri" pitchFamily="34" charset="0"/>
                <a:ea typeface="Calibri" pitchFamily="34" charset="-122"/>
                <a:cs typeface="Calibri" pitchFamily="34" charset="-120"/>
              </a:rPr>
              <a:t>Create illustrated panels</a:t>
            </a:r>
            <a:endParaRPr lang="en-US" sz="1400" dirty="0"/>
          </a:p>
          <a:p>
            <a:pPr marL="342900" indent="-342900">
              <a:spcAft>
                <a:spcPts val="800"/>
              </a:spcAft>
              <a:buSzPct val="100000"/>
              <a:buChar char="•"/>
            </a:pPr>
            <a:r>
              <a:rPr lang="en-US" sz="1400" dirty="0">
                <a:solidFill>
                  <a:schemeClr val="bg2"/>
                </a:solidFill>
                <a:latin typeface="Calibri" pitchFamily="34" charset="0"/>
                <a:ea typeface="Calibri" pitchFamily="34" charset="-122"/>
                <a:cs typeface="Calibri" pitchFamily="34" charset="-120"/>
              </a:rPr>
              <a:t>Display the comic in a reader</a:t>
            </a:r>
            <a:endParaRPr lang="en-US" sz="1400" dirty="0"/>
          </a:p>
          <a:p>
            <a:pPr marL="342900" indent="-342900">
              <a:spcAft>
                <a:spcPts val="800"/>
              </a:spcAft>
              <a:buSzPct val="100000"/>
              <a:buChar char="•"/>
            </a:pPr>
            <a:r>
              <a:rPr lang="en-US" sz="1400" dirty="0">
                <a:solidFill>
                  <a:schemeClr val="bg2"/>
                </a:solidFill>
                <a:latin typeface="Calibri" pitchFamily="34" charset="0"/>
                <a:ea typeface="Calibri" pitchFamily="34" charset="-122"/>
                <a:cs typeface="Calibri" pitchFamily="34" charset="-120"/>
              </a:rPr>
              <a:t>Export the comic as a PDF</a:t>
            </a:r>
            <a:endParaRPr lang="en-US" sz="1400" dirty="0"/>
          </a:p>
          <a:p>
            <a:pPr marL="342900" indent="-342900">
              <a:spcAft>
                <a:spcPts val="800"/>
              </a:spcAft>
              <a:buSzPct val="100000"/>
              <a:buChar char="•"/>
            </a:pPr>
            <a:r>
              <a:rPr lang="en-US" sz="1400" dirty="0">
                <a:solidFill>
                  <a:schemeClr val="bg2"/>
                </a:solidFill>
                <a:latin typeface="Calibri" pitchFamily="34" charset="0"/>
                <a:ea typeface="Calibri" pitchFamily="34" charset="-122"/>
                <a:cs typeface="Calibri" pitchFamily="34" charset="-120"/>
              </a:rPr>
              <a:t>Support live AI providers and an offline demo mode</a:t>
            </a:r>
            <a:endParaRPr lang="en-US" sz="1400" dirty="0"/>
          </a:p>
        </p:txBody>
      </p:sp>
      <p:sp>
        <p:nvSpPr>
          <p:cNvPr id="19" name="Text 17"/>
          <p:cNvSpPr txBox="1"/>
          <p:nvPr/>
        </p:nvSpPr>
        <p:spPr>
          <a:xfrm>
            <a:off x="2286000" y="4434840"/>
            <a:ext cx="4572000" cy="347472"/>
          </a:xfrm>
          <a:prstGeom prst="roundRect">
            <a:avLst>
              <a:gd name="adj" fmla="val 21053"/>
            </a:avLst>
          </a:prstGeom>
          <a:solidFill>
            <a:schemeClr val="bg1"/>
          </a:solidFill>
          <a:ln w="19050">
            <a:solidFill>
              <a:schemeClr val="tx1"/>
            </a:solidFill>
          </a:ln>
        </p:spPr>
        <p:txBody>
          <a:bodyPr wrap="square" lIns="50800" tIns="50800" rIns="50800" bIns="50800" rtlCol="0" anchor="ctr"/>
          <a:lstStyle/>
          <a:p>
            <a:pPr algn="ctr" indent="0" marL="0">
              <a:buNone/>
            </a:pPr>
            <a:r>
              <a:rPr lang="en-US" sz="1500" dirty="0">
                <a:solidFill>
                  <a:schemeClr val="tx1"/>
                </a:solidFill>
                <a:latin typeface="Impact" pitchFamily="34" charset="0"/>
                <a:ea typeface="Impact" pitchFamily="34" charset="-122"/>
                <a:cs typeface="Impact" pitchFamily="34" charset="-120"/>
              </a:rPr>
              <a:t>One idea in. One finished comic out.</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dirty="0">
                <a:solidFill>
                  <a:schemeClr val="tx1"/>
                </a:solidFill>
                <a:latin typeface="Impact" pitchFamily="34" charset="0"/>
                <a:ea typeface="Impact" pitchFamily="34" charset="-122"/>
                <a:cs typeface="Impact" pitchFamily="34" charset="-120"/>
              </a:rPr>
              <a:t>Architecture and Technology Stack</a:t>
            </a:r>
            <a:endParaRPr lang="en-US" sz="3000" dirty="0"/>
          </a:p>
        </p:txBody>
      </p:sp>
      <p:sp>
        <p:nvSpPr>
          <p:cNvPr id="3" name="Text 1"/>
          <p:cNvSpPr txBox="1"/>
          <p:nvPr/>
        </p:nvSpPr>
        <p:spPr>
          <a:xfrm>
            <a:off x="457200" y="1097280"/>
            <a:ext cx="1261872" cy="594360"/>
          </a:xfrm>
          <a:prstGeom prst="roundRect">
            <a:avLst>
              <a:gd name="adj" fmla="val 12308"/>
            </a:avLst>
          </a:prstGeom>
          <a:solidFill>
            <a:schemeClr val="bg2"/>
          </a:solidFill>
          <a:ln w="25400">
            <a:solidFill>
              <a:schemeClr val="tx1"/>
            </a:solidFill>
          </a:ln>
          <a:effectLst>
            <a:outerShdw sx="100000" sy="100000" kx="0" ky="0" algn="bl" rotWithShape="0" blurRad="101600" dist="38100" dir="2700000">
              <a:srgbClr val="171717">
                <a:alpha val="100000"/>
              </a:srgbClr>
            </a:outerShdw>
          </a:effectLst>
        </p:spPr>
        <p:txBody>
          <a:bodyPr wrap="square" lIns="50800" tIns="50800" rIns="50800" bIns="5080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User</a:t>
            </a:r>
            <a:endParaRPr lang="en-US" sz="1200" dirty="0"/>
          </a:p>
        </p:txBody>
      </p:sp>
      <p:sp>
        <p:nvSpPr>
          <p:cNvPr id="4" name="Shape 2"/>
          <p:cNvSpPr/>
          <p:nvPr/>
        </p:nvSpPr>
        <p:spPr>
          <a:xfrm>
            <a:off x="1728216" y="1394460"/>
            <a:ext cx="113386" cy="0"/>
          </a:xfrm>
          <a:prstGeom prst="line">
            <a:avLst/>
          </a:prstGeom>
          <a:noFill/>
          <a:ln w="31750">
            <a:solidFill>
              <a:schemeClr val="tx1"/>
            </a:solidFill>
            <a:prstDash val="solid"/>
            <a:tailEnd type="triangle"/>
          </a:ln>
        </p:spPr>
      </p:sp>
      <p:sp>
        <p:nvSpPr>
          <p:cNvPr id="5" name="Text 3"/>
          <p:cNvSpPr txBox="1"/>
          <p:nvPr/>
        </p:nvSpPr>
        <p:spPr>
          <a:xfrm>
            <a:off x="457200" y="1755648"/>
            <a:ext cx="1261872" cy="777240"/>
          </a:xfrm>
          <a:prstGeom prst="rect">
            <a:avLst/>
          </a:prstGeom>
          <a:noFill/>
          <a:ln/>
        </p:spPr>
        <p:txBody>
          <a:bodyPr wrap="square" lIns="25400" tIns="25400" rIns="25400" bIns="25400" rtlCol="0" anchor="t"/>
          <a:lstStyle/>
          <a:p>
            <a:pPr algn="ctr" indent="0" marL="0">
              <a:buNone/>
            </a:pPr>
            <a:r>
              <a:rPr lang="en-US" sz="1100" dirty="0">
                <a:solidFill>
                  <a:schemeClr val="tx1"/>
                </a:solidFill>
                <a:latin typeface="Calibri" pitchFamily="34" charset="0"/>
                <a:ea typeface="Calibri" pitchFamily="34" charset="-122"/>
                <a:cs typeface="Calibri" pitchFamily="34" charset="-120"/>
              </a:rPr>
              <a:t>Types a story idea and picks a style.</a:t>
            </a:r>
            <a:endParaRPr lang="en-US" sz="1100" dirty="0"/>
          </a:p>
        </p:txBody>
      </p:sp>
      <p:sp>
        <p:nvSpPr>
          <p:cNvPr id="6" name="Text 4"/>
          <p:cNvSpPr txBox="1"/>
          <p:nvPr/>
        </p:nvSpPr>
        <p:spPr>
          <a:xfrm>
            <a:off x="1850746" y="1097280"/>
            <a:ext cx="1261872" cy="594360"/>
          </a:xfrm>
          <a:prstGeom prst="roundRect">
            <a:avLst>
              <a:gd name="adj" fmla="val 12308"/>
            </a:avLst>
          </a:prstGeom>
          <a:solidFill>
            <a:schemeClr val="accent3"/>
          </a:solidFill>
          <a:ln w="25400">
            <a:solidFill>
              <a:schemeClr val="tx1"/>
            </a:solidFill>
          </a:ln>
          <a:effectLst>
            <a:outerShdw sx="100000" sy="100000" kx="0" ky="0" algn="bl" rotWithShape="0" blurRad="101600" dist="38100" dir="2700000">
              <a:srgbClr val="171717">
                <a:alpha val="100000"/>
              </a:srgbClr>
            </a:outerShdw>
          </a:effectLst>
        </p:spPr>
        <p:txBody>
          <a:bodyPr wrap="square" lIns="50800" tIns="50800" rIns="50800" bIns="5080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Frontend</a:t>
            </a:r>
            <a:endParaRPr lang="en-US" sz="1200" dirty="0"/>
          </a:p>
        </p:txBody>
      </p:sp>
      <p:sp>
        <p:nvSpPr>
          <p:cNvPr id="7" name="Shape 5"/>
          <p:cNvSpPr/>
          <p:nvPr/>
        </p:nvSpPr>
        <p:spPr>
          <a:xfrm>
            <a:off x="3121762" y="1394460"/>
            <a:ext cx="113386" cy="0"/>
          </a:xfrm>
          <a:prstGeom prst="line">
            <a:avLst/>
          </a:prstGeom>
          <a:noFill/>
          <a:ln w="31750">
            <a:solidFill>
              <a:schemeClr val="tx1"/>
            </a:solidFill>
            <a:prstDash val="solid"/>
            <a:tailEnd type="triangle"/>
          </a:ln>
        </p:spPr>
      </p:sp>
      <p:sp>
        <p:nvSpPr>
          <p:cNvPr id="8" name="Text 6"/>
          <p:cNvSpPr txBox="1"/>
          <p:nvPr/>
        </p:nvSpPr>
        <p:spPr>
          <a:xfrm>
            <a:off x="1850746" y="1755648"/>
            <a:ext cx="1261872" cy="777240"/>
          </a:xfrm>
          <a:prstGeom prst="rect">
            <a:avLst/>
          </a:prstGeom>
          <a:noFill/>
          <a:ln/>
        </p:spPr>
        <p:txBody>
          <a:bodyPr wrap="square" lIns="25400" tIns="25400" rIns="25400" bIns="25400" rtlCol="0" anchor="t"/>
          <a:lstStyle/>
          <a:p>
            <a:pPr algn="ctr" indent="0" marL="0">
              <a:buNone/>
            </a:pPr>
            <a:r>
              <a:rPr lang="en-US" sz="1100" dirty="0">
                <a:solidFill>
                  <a:schemeClr val="tx1"/>
                </a:solidFill>
                <a:latin typeface="Calibri" pitchFamily="34" charset="0"/>
                <a:ea typeface="Calibri" pitchFamily="34" charset="-122"/>
                <a:cs typeface="Calibri" pitchFamily="34" charset="-120"/>
              </a:rPr>
              <a:t>Pages and forms the user sees and uses.</a:t>
            </a:r>
            <a:endParaRPr lang="en-US" sz="1100" dirty="0"/>
          </a:p>
        </p:txBody>
      </p:sp>
      <p:sp>
        <p:nvSpPr>
          <p:cNvPr id="9" name="Text 7"/>
          <p:cNvSpPr txBox="1"/>
          <p:nvPr/>
        </p:nvSpPr>
        <p:spPr>
          <a:xfrm>
            <a:off x="3244291" y="1097280"/>
            <a:ext cx="1261872" cy="594360"/>
          </a:xfrm>
          <a:prstGeom prst="roundRect">
            <a:avLst>
              <a:gd name="adj" fmla="val 12308"/>
            </a:avLst>
          </a:prstGeom>
          <a:solidFill>
            <a:schemeClr val="accent2"/>
          </a:solidFill>
          <a:ln w="25400">
            <a:solidFill>
              <a:schemeClr val="tx1"/>
            </a:solidFill>
          </a:ln>
          <a:effectLst>
            <a:outerShdw sx="100000" sy="100000" kx="0" ky="0" algn="bl" rotWithShape="0" blurRad="101600" dist="38100" dir="2700000">
              <a:srgbClr val="171717">
                <a:alpha val="100000"/>
              </a:srgbClr>
            </a:outerShdw>
          </a:effectLst>
        </p:spPr>
        <p:txBody>
          <a:bodyPr wrap="square" lIns="50800" tIns="50800" rIns="50800" bIns="50800" rtlCol="0" anchor="ctr"/>
          <a:lstStyle/>
          <a:p>
            <a:pPr algn="ctr" indent="0" marL="0">
              <a:buNone/>
            </a:pPr>
            <a:r>
              <a:rPr lang="en-US" sz="1200" b="1" dirty="0">
                <a:solidFill>
                  <a:schemeClr val="bg2"/>
                </a:solidFill>
                <a:latin typeface="Calibri" pitchFamily="34" charset="0"/>
                <a:ea typeface="Calibri" pitchFamily="34" charset="-122"/>
                <a:cs typeface="Calibri" pitchFamily="34" charset="-120"/>
              </a:rPr>
              <a:t>FastAPI Backend</a:t>
            </a:r>
            <a:endParaRPr lang="en-US" sz="1200" dirty="0"/>
          </a:p>
        </p:txBody>
      </p:sp>
      <p:sp>
        <p:nvSpPr>
          <p:cNvPr id="10" name="Shape 8"/>
          <p:cNvSpPr/>
          <p:nvPr/>
        </p:nvSpPr>
        <p:spPr>
          <a:xfrm>
            <a:off x="4515307" y="1394460"/>
            <a:ext cx="113386" cy="0"/>
          </a:xfrm>
          <a:prstGeom prst="line">
            <a:avLst/>
          </a:prstGeom>
          <a:noFill/>
          <a:ln w="31750">
            <a:solidFill>
              <a:schemeClr val="tx1"/>
            </a:solidFill>
            <a:prstDash val="solid"/>
            <a:tailEnd type="triangle"/>
          </a:ln>
        </p:spPr>
      </p:sp>
      <p:sp>
        <p:nvSpPr>
          <p:cNvPr id="11" name="Text 9"/>
          <p:cNvSpPr txBox="1"/>
          <p:nvPr/>
        </p:nvSpPr>
        <p:spPr>
          <a:xfrm>
            <a:off x="3244291" y="1755648"/>
            <a:ext cx="1261872" cy="777240"/>
          </a:xfrm>
          <a:prstGeom prst="rect">
            <a:avLst/>
          </a:prstGeom>
          <a:noFill/>
          <a:ln/>
        </p:spPr>
        <p:txBody>
          <a:bodyPr wrap="square" lIns="25400" tIns="25400" rIns="25400" bIns="25400" rtlCol="0" anchor="t"/>
          <a:lstStyle/>
          <a:p>
            <a:pPr algn="ctr" indent="0" marL="0">
              <a:buNone/>
            </a:pPr>
            <a:r>
              <a:rPr lang="en-US" sz="1100" dirty="0">
                <a:solidFill>
                  <a:schemeClr val="tx1"/>
                </a:solidFill>
                <a:latin typeface="Calibri" pitchFamily="34" charset="0"/>
                <a:ea typeface="Calibri" pitchFamily="34" charset="-122"/>
                <a:cs typeface="Calibri" pitchFamily="34" charset="-120"/>
              </a:rPr>
              <a:t>Receives requests and sends responses.</a:t>
            </a:r>
            <a:endParaRPr lang="en-US" sz="1100" dirty="0"/>
          </a:p>
        </p:txBody>
      </p:sp>
      <p:sp>
        <p:nvSpPr>
          <p:cNvPr id="12" name="Text 10"/>
          <p:cNvSpPr txBox="1"/>
          <p:nvPr/>
        </p:nvSpPr>
        <p:spPr>
          <a:xfrm>
            <a:off x="4637837" y="1097280"/>
            <a:ext cx="1261872" cy="594360"/>
          </a:xfrm>
          <a:prstGeom prst="roundRect">
            <a:avLst>
              <a:gd name="adj" fmla="val 12308"/>
            </a:avLst>
          </a:prstGeom>
          <a:solidFill>
            <a:schemeClr val="accent1"/>
          </a:solidFill>
          <a:ln w="25400">
            <a:solidFill>
              <a:schemeClr val="tx1"/>
            </a:solidFill>
          </a:ln>
          <a:effectLst>
            <a:outerShdw sx="100000" sy="100000" kx="0" ky="0" algn="bl" rotWithShape="0" blurRad="101600" dist="38100" dir="2700000">
              <a:srgbClr val="171717">
                <a:alpha val="100000"/>
              </a:srgbClr>
            </a:outerShdw>
          </a:effectLst>
        </p:spPr>
        <p:txBody>
          <a:bodyPr wrap="square" lIns="50800" tIns="50800" rIns="50800" bIns="50800" rtlCol="0" anchor="ctr"/>
          <a:lstStyle/>
          <a:p>
            <a:pPr algn="ctr" indent="0" marL="0">
              <a:buNone/>
            </a:pPr>
            <a:r>
              <a:rPr lang="en-US" sz="1200" b="1" dirty="0">
                <a:solidFill>
                  <a:schemeClr val="bg2"/>
                </a:solidFill>
                <a:latin typeface="Calibri" pitchFamily="34" charset="0"/>
                <a:ea typeface="Calibri" pitchFamily="34" charset="-122"/>
                <a:cs typeface="Calibri" pitchFamily="34" charset="-120"/>
              </a:rPr>
              <a:t>Comic Services</a:t>
            </a:r>
            <a:endParaRPr lang="en-US" sz="1200" dirty="0"/>
          </a:p>
        </p:txBody>
      </p:sp>
      <p:sp>
        <p:nvSpPr>
          <p:cNvPr id="13" name="Shape 11"/>
          <p:cNvSpPr/>
          <p:nvPr/>
        </p:nvSpPr>
        <p:spPr>
          <a:xfrm>
            <a:off x="5908853" y="1394460"/>
            <a:ext cx="113386" cy="0"/>
          </a:xfrm>
          <a:prstGeom prst="line">
            <a:avLst/>
          </a:prstGeom>
          <a:noFill/>
          <a:ln w="31750">
            <a:solidFill>
              <a:schemeClr val="tx1"/>
            </a:solidFill>
            <a:prstDash val="solid"/>
            <a:tailEnd type="triangle"/>
          </a:ln>
        </p:spPr>
      </p:sp>
      <p:sp>
        <p:nvSpPr>
          <p:cNvPr id="14" name="Text 12"/>
          <p:cNvSpPr txBox="1"/>
          <p:nvPr/>
        </p:nvSpPr>
        <p:spPr>
          <a:xfrm>
            <a:off x="4637837" y="1755648"/>
            <a:ext cx="1261872" cy="777240"/>
          </a:xfrm>
          <a:prstGeom prst="rect">
            <a:avLst/>
          </a:prstGeom>
          <a:noFill/>
          <a:ln/>
        </p:spPr>
        <p:txBody>
          <a:bodyPr wrap="square" lIns="25400" tIns="25400" rIns="25400" bIns="25400" rtlCol="0" anchor="t"/>
          <a:lstStyle/>
          <a:p>
            <a:pPr algn="ctr" indent="0" marL="0">
              <a:buNone/>
            </a:pPr>
            <a:r>
              <a:rPr lang="en-US" sz="1100" dirty="0">
                <a:solidFill>
                  <a:schemeClr val="tx1"/>
                </a:solidFill>
                <a:latin typeface="Calibri" pitchFamily="34" charset="0"/>
                <a:ea typeface="Calibri" pitchFamily="34" charset="-122"/>
                <a:cs typeface="Calibri" pitchFamily="34" charset="-120"/>
              </a:rPr>
              <a:t>Coordinate story, images and layout.</a:t>
            </a:r>
            <a:endParaRPr lang="en-US" sz="1100" dirty="0"/>
          </a:p>
        </p:txBody>
      </p:sp>
      <p:sp>
        <p:nvSpPr>
          <p:cNvPr id="15" name="Text 13"/>
          <p:cNvSpPr txBox="1"/>
          <p:nvPr/>
        </p:nvSpPr>
        <p:spPr>
          <a:xfrm>
            <a:off x="6031382" y="1097280"/>
            <a:ext cx="1261872" cy="594360"/>
          </a:xfrm>
          <a:prstGeom prst="roundRect">
            <a:avLst>
              <a:gd name="adj" fmla="val 12308"/>
            </a:avLst>
          </a:prstGeom>
          <a:solidFill>
            <a:schemeClr val="bg2"/>
          </a:solidFill>
          <a:ln w="25400">
            <a:solidFill>
              <a:schemeClr val="tx1"/>
            </a:solidFill>
          </a:ln>
          <a:effectLst>
            <a:outerShdw sx="100000" sy="100000" kx="0" ky="0" algn="bl" rotWithShape="0" blurRad="101600" dist="38100" dir="2700000">
              <a:srgbClr val="171717">
                <a:alpha val="100000"/>
              </a:srgbClr>
            </a:outerShdw>
          </a:effectLst>
        </p:spPr>
        <p:txBody>
          <a:bodyPr wrap="square" lIns="50800" tIns="50800" rIns="50800" bIns="5080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Storage + AI Providers</a:t>
            </a:r>
            <a:endParaRPr lang="en-US" sz="1200" dirty="0"/>
          </a:p>
        </p:txBody>
      </p:sp>
      <p:sp>
        <p:nvSpPr>
          <p:cNvPr id="16" name="Shape 14"/>
          <p:cNvSpPr/>
          <p:nvPr/>
        </p:nvSpPr>
        <p:spPr>
          <a:xfrm>
            <a:off x="7302398" y="1394460"/>
            <a:ext cx="113386" cy="0"/>
          </a:xfrm>
          <a:prstGeom prst="line">
            <a:avLst/>
          </a:prstGeom>
          <a:noFill/>
          <a:ln w="31750">
            <a:solidFill>
              <a:schemeClr val="tx1"/>
            </a:solidFill>
            <a:prstDash val="solid"/>
            <a:tailEnd type="triangle"/>
          </a:ln>
        </p:spPr>
      </p:sp>
      <p:sp>
        <p:nvSpPr>
          <p:cNvPr id="17" name="Text 15"/>
          <p:cNvSpPr txBox="1"/>
          <p:nvPr/>
        </p:nvSpPr>
        <p:spPr>
          <a:xfrm>
            <a:off x="6031382" y="1755648"/>
            <a:ext cx="1261872" cy="777240"/>
          </a:xfrm>
          <a:prstGeom prst="rect">
            <a:avLst/>
          </a:prstGeom>
          <a:noFill/>
          <a:ln/>
        </p:spPr>
        <p:txBody>
          <a:bodyPr wrap="square" lIns="25400" tIns="25400" rIns="25400" bIns="25400" rtlCol="0" anchor="t"/>
          <a:lstStyle/>
          <a:p>
            <a:pPr algn="ctr" indent="0" marL="0">
              <a:buNone/>
            </a:pPr>
            <a:r>
              <a:rPr lang="en-US" sz="1100" dirty="0">
                <a:solidFill>
                  <a:schemeClr val="tx1"/>
                </a:solidFill>
                <a:latin typeface="Calibri" pitchFamily="34" charset="0"/>
                <a:ea typeface="Calibri" pitchFamily="34" charset="-122"/>
                <a:cs typeface="Calibri" pitchFamily="34" charset="-120"/>
              </a:rPr>
              <a:t>Database, files, Gemini, image models.</a:t>
            </a:r>
            <a:endParaRPr lang="en-US" sz="1100" dirty="0"/>
          </a:p>
        </p:txBody>
      </p:sp>
      <p:sp>
        <p:nvSpPr>
          <p:cNvPr id="18" name="Text 16"/>
          <p:cNvSpPr txBox="1"/>
          <p:nvPr/>
        </p:nvSpPr>
        <p:spPr>
          <a:xfrm>
            <a:off x="7424928" y="1097280"/>
            <a:ext cx="1261872" cy="594360"/>
          </a:xfrm>
          <a:prstGeom prst="roundRect">
            <a:avLst>
              <a:gd name="adj" fmla="val 12308"/>
            </a:avLst>
          </a:prstGeom>
          <a:solidFill>
            <a:schemeClr val="accent3"/>
          </a:solidFill>
          <a:ln w="25400">
            <a:solidFill>
              <a:schemeClr val="tx1"/>
            </a:solidFill>
          </a:ln>
          <a:effectLst>
            <a:outerShdw sx="100000" sy="100000" kx="0" ky="0" algn="bl" rotWithShape="0" blurRad="101600" dist="38100" dir="2700000">
              <a:srgbClr val="171717">
                <a:alpha val="100000"/>
              </a:srgbClr>
            </a:outerShdw>
          </a:effectLst>
        </p:spPr>
        <p:txBody>
          <a:bodyPr wrap="square" lIns="50800" tIns="50800" rIns="50800" bIns="5080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Final Comic</a:t>
            </a:r>
            <a:endParaRPr lang="en-US" sz="1200" dirty="0"/>
          </a:p>
        </p:txBody>
      </p:sp>
      <p:sp>
        <p:nvSpPr>
          <p:cNvPr id="19" name="Text 17"/>
          <p:cNvSpPr txBox="1"/>
          <p:nvPr/>
        </p:nvSpPr>
        <p:spPr>
          <a:xfrm>
            <a:off x="7424928" y="1755648"/>
            <a:ext cx="1261872" cy="777240"/>
          </a:xfrm>
          <a:prstGeom prst="rect">
            <a:avLst/>
          </a:prstGeom>
          <a:noFill/>
          <a:ln/>
        </p:spPr>
        <p:txBody>
          <a:bodyPr wrap="square" lIns="25400" tIns="25400" rIns="25400" bIns="25400" rtlCol="0" anchor="t"/>
          <a:lstStyle/>
          <a:p>
            <a:pPr algn="ctr" indent="0" marL="0">
              <a:buNone/>
            </a:pPr>
            <a:r>
              <a:rPr lang="en-US" sz="1100" dirty="0">
                <a:solidFill>
                  <a:schemeClr val="tx1"/>
                </a:solidFill>
                <a:latin typeface="Calibri" pitchFamily="34" charset="0"/>
                <a:ea typeface="Calibri" pitchFamily="34" charset="-122"/>
                <a:cs typeface="Calibri" pitchFamily="34" charset="-120"/>
              </a:rPr>
              <a:t>Readable preview and PDF download.</a:t>
            </a:r>
            <a:endParaRPr lang="en-US" sz="1100" dirty="0"/>
          </a:p>
        </p:txBody>
      </p:sp>
      <p:sp>
        <p:nvSpPr>
          <p:cNvPr id="20" name="Text 18"/>
          <p:cNvSpPr txBox="1"/>
          <p:nvPr/>
        </p:nvSpPr>
        <p:spPr>
          <a:xfrm>
            <a:off x="457200" y="2606040"/>
            <a:ext cx="5486400" cy="365760"/>
          </a:xfrm>
          <a:prstGeom prst="rect">
            <a:avLst/>
          </a:prstGeom>
          <a:noFill/>
          <a:ln/>
        </p:spPr>
        <p:txBody>
          <a:bodyPr wrap="square" lIns="0" tIns="0" rIns="0" bIns="0" rtlCol="0" anchor="ctr"/>
          <a:lstStyle/>
          <a:p>
            <a:pPr indent="0" marL="0">
              <a:buNone/>
            </a:pPr>
            <a:r>
              <a:rPr lang="en-US" sz="1600" dirty="0">
                <a:solidFill>
                  <a:schemeClr val="tx1"/>
                </a:solidFill>
                <a:latin typeface="Impact" pitchFamily="34" charset="0"/>
                <a:ea typeface="Impact" pitchFamily="34" charset="-122"/>
                <a:cs typeface="Impact" pitchFamily="34" charset="-120"/>
              </a:rPr>
              <a:t>Technology stack by purpose</a:t>
            </a:r>
            <a:endParaRPr lang="en-US" sz="1600" dirty="0"/>
          </a:p>
        </p:txBody>
      </p:sp>
      <p:sp>
        <p:nvSpPr>
          <p:cNvPr id="21" name="Shape 19"/>
          <p:cNvSpPr/>
          <p:nvPr/>
        </p:nvSpPr>
        <p:spPr>
          <a:xfrm>
            <a:off x="457200" y="3017520"/>
            <a:ext cx="1965960" cy="749808"/>
          </a:xfrm>
          <a:prstGeom prst="roundRect">
            <a:avLst>
              <a:gd name="adj" fmla="val 9756"/>
            </a:avLst>
          </a:prstGeom>
          <a:solidFill>
            <a:schemeClr val="bg2"/>
          </a:solidFill>
          <a:ln w="19050">
            <a:solidFill>
              <a:schemeClr val="tx1"/>
            </a:solidFill>
            <a:prstDash val="solid"/>
          </a:ln>
        </p:spPr>
      </p:sp>
      <p:sp>
        <p:nvSpPr>
          <p:cNvPr id="22" name="Text 20"/>
          <p:cNvSpPr txBox="1"/>
          <p:nvPr/>
        </p:nvSpPr>
        <p:spPr>
          <a:xfrm>
            <a:off x="502920" y="3035808"/>
            <a:ext cx="1874520" cy="713232"/>
          </a:xfrm>
          <a:prstGeom prst="rect">
            <a:avLst/>
          </a:prstGeom>
          <a:noFill/>
          <a:ln/>
        </p:spPr>
        <p:txBody>
          <a:bodyPr wrap="square" lIns="38100" tIns="38100" rIns="38100" bIns="3810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Frontend</a:t>
            </a:r>
            <a:endParaRPr lang="en-US" sz="1200" dirty="0"/>
          </a:p>
          <a:p>
            <a:pPr indent="0" marL="0">
              <a:buNone/>
            </a:pPr>
            <a:r>
              <a:rPr lang="en-US" sz="1100" dirty="0">
                <a:solidFill>
                  <a:schemeClr val="tx1"/>
                </a:solidFill>
                <a:latin typeface="Calibri" pitchFamily="34" charset="0"/>
                <a:ea typeface="Calibri" pitchFamily="34" charset="-122"/>
                <a:cs typeface="Calibri" pitchFamily="34" charset="-120"/>
              </a:rPr>
              <a:t>HTML, CSS, JavaScript, Jinja2</a:t>
            </a:r>
            <a:endParaRPr lang="en-US" sz="1200" dirty="0"/>
          </a:p>
        </p:txBody>
      </p:sp>
      <p:sp>
        <p:nvSpPr>
          <p:cNvPr id="23" name="Shape 21"/>
          <p:cNvSpPr/>
          <p:nvPr/>
        </p:nvSpPr>
        <p:spPr>
          <a:xfrm>
            <a:off x="2545050" y="3017520"/>
            <a:ext cx="1965960" cy="749808"/>
          </a:xfrm>
          <a:prstGeom prst="roundRect">
            <a:avLst>
              <a:gd name="adj" fmla="val 9756"/>
            </a:avLst>
          </a:prstGeom>
          <a:solidFill>
            <a:schemeClr val="bg2"/>
          </a:solidFill>
          <a:ln w="19050">
            <a:solidFill>
              <a:schemeClr val="tx1"/>
            </a:solidFill>
            <a:prstDash val="solid"/>
          </a:ln>
        </p:spPr>
      </p:sp>
      <p:sp>
        <p:nvSpPr>
          <p:cNvPr id="24" name="Text 22"/>
          <p:cNvSpPr txBox="1"/>
          <p:nvPr/>
        </p:nvSpPr>
        <p:spPr>
          <a:xfrm>
            <a:off x="2590770" y="3035808"/>
            <a:ext cx="1874520" cy="713232"/>
          </a:xfrm>
          <a:prstGeom prst="rect">
            <a:avLst/>
          </a:prstGeom>
          <a:noFill/>
          <a:ln/>
        </p:spPr>
        <p:txBody>
          <a:bodyPr wrap="square" lIns="38100" tIns="38100" rIns="38100" bIns="3810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Backend</a:t>
            </a:r>
            <a:endParaRPr lang="en-US" sz="1200" dirty="0"/>
          </a:p>
          <a:p>
            <a:pPr indent="0" marL="0">
              <a:buNone/>
            </a:pPr>
            <a:r>
              <a:rPr lang="en-US" sz="1100" dirty="0">
                <a:solidFill>
                  <a:schemeClr val="tx1"/>
                </a:solidFill>
                <a:latin typeface="Calibri" pitchFamily="34" charset="0"/>
                <a:ea typeface="Calibri" pitchFamily="34" charset="-122"/>
                <a:cs typeface="Calibri" pitchFamily="34" charset="-120"/>
              </a:rPr>
              <a:t>Python, FastAPI, Uvicorn</a:t>
            </a:r>
            <a:endParaRPr lang="en-US" sz="1200" dirty="0"/>
          </a:p>
        </p:txBody>
      </p:sp>
      <p:sp>
        <p:nvSpPr>
          <p:cNvPr id="25" name="Shape 23"/>
          <p:cNvSpPr/>
          <p:nvPr/>
        </p:nvSpPr>
        <p:spPr>
          <a:xfrm>
            <a:off x="4632899" y="3017520"/>
            <a:ext cx="1965960" cy="749808"/>
          </a:xfrm>
          <a:prstGeom prst="roundRect">
            <a:avLst>
              <a:gd name="adj" fmla="val 9756"/>
            </a:avLst>
          </a:prstGeom>
          <a:solidFill>
            <a:schemeClr val="bg2"/>
          </a:solidFill>
          <a:ln w="19050">
            <a:solidFill>
              <a:schemeClr val="tx1"/>
            </a:solidFill>
            <a:prstDash val="solid"/>
          </a:ln>
        </p:spPr>
      </p:sp>
      <p:sp>
        <p:nvSpPr>
          <p:cNvPr id="26" name="Text 24"/>
          <p:cNvSpPr txBox="1"/>
          <p:nvPr/>
        </p:nvSpPr>
        <p:spPr>
          <a:xfrm>
            <a:off x="4678619" y="3035808"/>
            <a:ext cx="1874520" cy="713232"/>
          </a:xfrm>
          <a:prstGeom prst="rect">
            <a:avLst/>
          </a:prstGeom>
          <a:noFill/>
          <a:ln/>
        </p:spPr>
        <p:txBody>
          <a:bodyPr wrap="square" lIns="38100" tIns="38100" rIns="38100" bIns="3810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Validation</a:t>
            </a:r>
            <a:endParaRPr lang="en-US" sz="1200" dirty="0"/>
          </a:p>
          <a:p>
            <a:pPr indent="0" marL="0">
              <a:buNone/>
            </a:pPr>
            <a:r>
              <a:rPr lang="en-US" sz="1100" dirty="0">
                <a:solidFill>
                  <a:schemeClr val="tx1"/>
                </a:solidFill>
                <a:latin typeface="Calibri" pitchFamily="34" charset="0"/>
                <a:ea typeface="Calibri" pitchFamily="34" charset="-122"/>
                <a:cs typeface="Calibri" pitchFamily="34" charset="-120"/>
              </a:rPr>
              <a:t>Pydantic v2</a:t>
            </a:r>
            <a:endParaRPr lang="en-US" sz="1200" dirty="0"/>
          </a:p>
        </p:txBody>
      </p:sp>
      <p:sp>
        <p:nvSpPr>
          <p:cNvPr id="27" name="Shape 25"/>
          <p:cNvSpPr/>
          <p:nvPr/>
        </p:nvSpPr>
        <p:spPr>
          <a:xfrm>
            <a:off x="6720749" y="3017520"/>
            <a:ext cx="1965960" cy="749808"/>
          </a:xfrm>
          <a:prstGeom prst="roundRect">
            <a:avLst>
              <a:gd name="adj" fmla="val 9756"/>
            </a:avLst>
          </a:prstGeom>
          <a:solidFill>
            <a:schemeClr val="bg2"/>
          </a:solidFill>
          <a:ln w="19050">
            <a:solidFill>
              <a:schemeClr val="tx1"/>
            </a:solidFill>
            <a:prstDash val="solid"/>
          </a:ln>
        </p:spPr>
      </p:sp>
      <p:sp>
        <p:nvSpPr>
          <p:cNvPr id="28" name="Text 26"/>
          <p:cNvSpPr txBox="1"/>
          <p:nvPr/>
        </p:nvSpPr>
        <p:spPr>
          <a:xfrm>
            <a:off x="6766469" y="3035808"/>
            <a:ext cx="1874520" cy="713232"/>
          </a:xfrm>
          <a:prstGeom prst="rect">
            <a:avLst/>
          </a:prstGeom>
          <a:noFill/>
          <a:ln/>
        </p:spPr>
        <p:txBody>
          <a:bodyPr wrap="square" lIns="38100" tIns="38100" rIns="38100" bIns="3810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Story generation</a:t>
            </a:r>
            <a:endParaRPr lang="en-US" sz="1200" dirty="0"/>
          </a:p>
          <a:p>
            <a:pPr indent="0" marL="0">
              <a:buNone/>
            </a:pPr>
            <a:r>
              <a:rPr lang="en-US" sz="1100" dirty="0">
                <a:solidFill>
                  <a:schemeClr val="tx1"/>
                </a:solidFill>
                <a:latin typeface="Calibri" pitchFamily="34" charset="0"/>
                <a:ea typeface="Calibri" pitchFamily="34" charset="-122"/>
                <a:cs typeface="Calibri" pitchFamily="34" charset="-120"/>
              </a:rPr>
              <a:t>Google Gen AI SDK</a:t>
            </a:r>
            <a:endParaRPr lang="en-US" sz="1200" dirty="0"/>
          </a:p>
        </p:txBody>
      </p:sp>
      <p:sp>
        <p:nvSpPr>
          <p:cNvPr id="29" name="Shape 27"/>
          <p:cNvSpPr/>
          <p:nvPr/>
        </p:nvSpPr>
        <p:spPr>
          <a:xfrm>
            <a:off x="457200" y="3886200"/>
            <a:ext cx="1965960" cy="749808"/>
          </a:xfrm>
          <a:prstGeom prst="roundRect">
            <a:avLst>
              <a:gd name="adj" fmla="val 9756"/>
            </a:avLst>
          </a:prstGeom>
          <a:solidFill>
            <a:schemeClr val="bg2"/>
          </a:solidFill>
          <a:ln w="19050">
            <a:solidFill>
              <a:schemeClr val="tx1"/>
            </a:solidFill>
            <a:prstDash val="solid"/>
          </a:ln>
        </p:spPr>
      </p:sp>
      <p:sp>
        <p:nvSpPr>
          <p:cNvPr id="30" name="Text 28"/>
          <p:cNvSpPr txBox="1"/>
          <p:nvPr/>
        </p:nvSpPr>
        <p:spPr>
          <a:xfrm>
            <a:off x="502920" y="3904488"/>
            <a:ext cx="1874520" cy="713232"/>
          </a:xfrm>
          <a:prstGeom prst="rect">
            <a:avLst/>
          </a:prstGeom>
          <a:noFill/>
          <a:ln/>
        </p:spPr>
        <p:txBody>
          <a:bodyPr wrap="square" lIns="38100" tIns="38100" rIns="38100" bIns="3810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Images</a:t>
            </a:r>
            <a:endParaRPr lang="en-US" sz="1200" dirty="0"/>
          </a:p>
          <a:p>
            <a:pPr indent="0" marL="0">
              <a:buNone/>
            </a:pPr>
            <a:r>
              <a:rPr lang="en-US" sz="1100" dirty="0">
                <a:solidFill>
                  <a:schemeClr val="tx1"/>
                </a:solidFill>
                <a:latin typeface="Calibri" pitchFamily="34" charset="0"/>
                <a:ea typeface="Calibri" pitchFamily="34" charset="-122"/>
                <a:cs typeface="Calibri" pitchFamily="34" charset="-120"/>
              </a:rPr>
              <a:t>Hugging Face inference, optional local Diffusers, offline illustrator</a:t>
            </a:r>
            <a:endParaRPr lang="en-US" sz="1200" dirty="0"/>
          </a:p>
        </p:txBody>
      </p:sp>
      <p:sp>
        <p:nvSpPr>
          <p:cNvPr id="31" name="Shape 29"/>
          <p:cNvSpPr/>
          <p:nvPr/>
        </p:nvSpPr>
        <p:spPr>
          <a:xfrm>
            <a:off x="2545050" y="3886200"/>
            <a:ext cx="1965960" cy="749808"/>
          </a:xfrm>
          <a:prstGeom prst="roundRect">
            <a:avLst>
              <a:gd name="adj" fmla="val 9756"/>
            </a:avLst>
          </a:prstGeom>
          <a:solidFill>
            <a:schemeClr val="bg2"/>
          </a:solidFill>
          <a:ln w="19050">
            <a:solidFill>
              <a:schemeClr val="tx1"/>
            </a:solidFill>
            <a:prstDash val="solid"/>
          </a:ln>
        </p:spPr>
      </p:sp>
      <p:sp>
        <p:nvSpPr>
          <p:cNvPr id="32" name="Text 30"/>
          <p:cNvSpPr txBox="1"/>
          <p:nvPr/>
        </p:nvSpPr>
        <p:spPr>
          <a:xfrm>
            <a:off x="2590770" y="3904488"/>
            <a:ext cx="1874520" cy="713232"/>
          </a:xfrm>
          <a:prstGeom prst="rect">
            <a:avLst/>
          </a:prstGeom>
          <a:noFill/>
          <a:ln/>
        </p:spPr>
        <p:txBody>
          <a:bodyPr wrap="square" lIns="38100" tIns="38100" rIns="38100" bIns="3810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Database</a:t>
            </a:r>
            <a:endParaRPr lang="en-US" sz="1200" dirty="0"/>
          </a:p>
          <a:p>
            <a:pPr indent="0" marL="0">
              <a:buNone/>
            </a:pPr>
            <a:r>
              <a:rPr lang="en-US" sz="1100" dirty="0">
                <a:solidFill>
                  <a:schemeClr val="tx1"/>
                </a:solidFill>
                <a:latin typeface="Calibri" pitchFamily="34" charset="0"/>
                <a:ea typeface="Calibri" pitchFamily="34" charset="-122"/>
                <a:cs typeface="Calibri" pitchFamily="34" charset="-120"/>
              </a:rPr>
              <a:t>SQLite and SQLAlchemy</a:t>
            </a:r>
            <a:endParaRPr lang="en-US" sz="1200" dirty="0"/>
          </a:p>
        </p:txBody>
      </p:sp>
      <p:sp>
        <p:nvSpPr>
          <p:cNvPr id="33" name="Shape 31"/>
          <p:cNvSpPr/>
          <p:nvPr/>
        </p:nvSpPr>
        <p:spPr>
          <a:xfrm>
            <a:off x="4632899" y="3886200"/>
            <a:ext cx="1965960" cy="749808"/>
          </a:xfrm>
          <a:prstGeom prst="roundRect">
            <a:avLst>
              <a:gd name="adj" fmla="val 9756"/>
            </a:avLst>
          </a:prstGeom>
          <a:solidFill>
            <a:schemeClr val="bg2"/>
          </a:solidFill>
          <a:ln w="19050">
            <a:solidFill>
              <a:schemeClr val="tx1"/>
            </a:solidFill>
            <a:prstDash val="solid"/>
          </a:ln>
        </p:spPr>
      </p:sp>
      <p:sp>
        <p:nvSpPr>
          <p:cNvPr id="34" name="Text 32"/>
          <p:cNvSpPr txBox="1"/>
          <p:nvPr/>
        </p:nvSpPr>
        <p:spPr>
          <a:xfrm>
            <a:off x="4678619" y="3904488"/>
            <a:ext cx="1874520" cy="713232"/>
          </a:xfrm>
          <a:prstGeom prst="rect">
            <a:avLst/>
          </a:prstGeom>
          <a:noFill/>
          <a:ln/>
        </p:spPr>
        <p:txBody>
          <a:bodyPr wrap="square" lIns="38100" tIns="38100" rIns="38100" bIns="3810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PDF</a:t>
            </a:r>
            <a:endParaRPr lang="en-US" sz="1200" dirty="0"/>
          </a:p>
          <a:p>
            <a:pPr indent="0" marL="0">
              <a:buNone/>
            </a:pPr>
            <a:r>
              <a:rPr lang="en-US" sz="1100" dirty="0">
                <a:solidFill>
                  <a:schemeClr val="tx1"/>
                </a:solidFill>
                <a:latin typeface="Calibri" pitchFamily="34" charset="0"/>
                <a:ea typeface="Calibri" pitchFamily="34" charset="-122"/>
                <a:cs typeface="Calibri" pitchFamily="34" charset="-120"/>
              </a:rPr>
              <a:t>fpdf2</a:t>
            </a:r>
            <a:endParaRPr lang="en-US" sz="1200" dirty="0"/>
          </a:p>
        </p:txBody>
      </p:sp>
      <p:sp>
        <p:nvSpPr>
          <p:cNvPr id="35" name="Shape 33"/>
          <p:cNvSpPr/>
          <p:nvPr/>
        </p:nvSpPr>
        <p:spPr>
          <a:xfrm>
            <a:off x="6720749" y="3886200"/>
            <a:ext cx="1965960" cy="749808"/>
          </a:xfrm>
          <a:prstGeom prst="roundRect">
            <a:avLst>
              <a:gd name="adj" fmla="val 9756"/>
            </a:avLst>
          </a:prstGeom>
          <a:solidFill>
            <a:schemeClr val="bg2"/>
          </a:solidFill>
          <a:ln w="19050">
            <a:solidFill>
              <a:schemeClr val="tx1"/>
            </a:solidFill>
            <a:prstDash val="solid"/>
          </a:ln>
        </p:spPr>
      </p:sp>
      <p:sp>
        <p:nvSpPr>
          <p:cNvPr id="36" name="Text 34"/>
          <p:cNvSpPr txBox="1"/>
          <p:nvPr/>
        </p:nvSpPr>
        <p:spPr>
          <a:xfrm>
            <a:off x="6766469" y="3904488"/>
            <a:ext cx="1874520" cy="713232"/>
          </a:xfrm>
          <a:prstGeom prst="rect">
            <a:avLst/>
          </a:prstGeom>
          <a:noFill/>
          <a:ln/>
        </p:spPr>
        <p:txBody>
          <a:bodyPr wrap="square" lIns="38100" tIns="38100" rIns="38100" bIns="3810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Tests</a:t>
            </a:r>
            <a:endParaRPr lang="en-US" sz="1200" dirty="0"/>
          </a:p>
          <a:p>
            <a:pPr indent="0" marL="0">
              <a:buNone/>
            </a:pPr>
            <a:r>
              <a:rPr lang="en-US" sz="1100" dirty="0">
                <a:solidFill>
                  <a:schemeClr val="tx1"/>
                </a:solidFill>
                <a:latin typeface="Calibri" pitchFamily="34" charset="0"/>
                <a:ea typeface="Calibri" pitchFamily="34" charset="-122"/>
                <a:cs typeface="Calibri" pitchFamily="34" charset="-120"/>
              </a:rPr>
              <a:t>pytest</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dirty="0">
                <a:solidFill>
                  <a:schemeClr val="tx1"/>
                </a:solidFill>
                <a:latin typeface="Impact" pitchFamily="34" charset="0"/>
                <a:ea typeface="Impact" pitchFamily="34" charset="-122"/>
                <a:cs typeface="Impact" pitchFamily="34" charset="-120"/>
              </a:rPr>
              <a:t>Frontend: What the User Sees</a:t>
            </a:r>
            <a:endParaRPr lang="en-US" sz="3000" dirty="0"/>
          </a:p>
        </p:txBody>
      </p:sp>
      <p:sp>
        <p:nvSpPr>
          <p:cNvPr id="3" name="Shape 1"/>
          <p:cNvSpPr/>
          <p:nvPr/>
        </p:nvSpPr>
        <p:spPr>
          <a:xfrm>
            <a:off x="457200" y="1097280"/>
            <a:ext cx="4114800" cy="3383280"/>
          </a:xfrm>
          <a:prstGeom prst="roundRect">
            <a:avLst>
              <a:gd name="adj" fmla="val 2162"/>
            </a:avLst>
          </a:prstGeom>
          <a:solidFill>
            <a:schemeClr val="bg2"/>
          </a:solidFill>
          <a:ln w="25400">
            <a:solidFill>
              <a:schemeClr val="tx1"/>
            </a:solidFill>
            <a:prstDash val="solid"/>
          </a:ln>
          <a:effectLst>
            <a:outerShdw sx="100000" sy="100000" kx="0" ky="0" algn="bl" rotWithShape="0" blurRad="101600" dist="38100" dir="2700000">
              <a:srgbClr val="171717">
                <a:alpha val="100000"/>
              </a:srgbClr>
            </a:outerShdw>
          </a:effectLst>
        </p:spPr>
      </p:sp>
      <p:sp>
        <p:nvSpPr>
          <p:cNvPr id="4" name="Shape 2"/>
          <p:cNvSpPr/>
          <p:nvPr/>
        </p:nvSpPr>
        <p:spPr>
          <a:xfrm>
            <a:off x="621792" y="1207008"/>
            <a:ext cx="118872" cy="118872"/>
          </a:xfrm>
          <a:prstGeom prst="ellipse">
            <a:avLst/>
          </a:prstGeom>
          <a:solidFill>
            <a:schemeClr val="accent1"/>
          </a:solidFill>
          <a:ln w="12700">
            <a:solidFill>
              <a:schemeClr val="tx1"/>
            </a:solidFill>
            <a:prstDash val="solid"/>
          </a:ln>
        </p:spPr>
      </p:sp>
      <p:sp>
        <p:nvSpPr>
          <p:cNvPr id="5" name="Shape 3"/>
          <p:cNvSpPr/>
          <p:nvPr/>
        </p:nvSpPr>
        <p:spPr>
          <a:xfrm>
            <a:off x="804672" y="1207008"/>
            <a:ext cx="118872" cy="118872"/>
          </a:xfrm>
          <a:prstGeom prst="ellipse">
            <a:avLst/>
          </a:prstGeom>
          <a:solidFill>
            <a:schemeClr val="accent3"/>
          </a:solidFill>
          <a:ln w="12700">
            <a:solidFill>
              <a:schemeClr val="tx1"/>
            </a:solidFill>
            <a:prstDash val="solid"/>
          </a:ln>
        </p:spPr>
      </p:sp>
      <p:sp>
        <p:nvSpPr>
          <p:cNvPr id="6" name="Shape 4"/>
          <p:cNvSpPr/>
          <p:nvPr/>
        </p:nvSpPr>
        <p:spPr>
          <a:xfrm>
            <a:off x="987552" y="1207008"/>
            <a:ext cx="118872" cy="118872"/>
          </a:xfrm>
          <a:prstGeom prst="ellipse">
            <a:avLst/>
          </a:prstGeom>
          <a:solidFill>
            <a:schemeClr val="accent4"/>
          </a:solidFill>
          <a:ln w="12700">
            <a:solidFill>
              <a:schemeClr val="tx1"/>
            </a:solidFill>
            <a:prstDash val="solid"/>
          </a:ln>
        </p:spPr>
      </p:sp>
      <p:sp>
        <p:nvSpPr>
          <p:cNvPr id="7" name="Shape 5"/>
          <p:cNvSpPr/>
          <p:nvPr/>
        </p:nvSpPr>
        <p:spPr>
          <a:xfrm>
            <a:off x="1280160" y="1188720"/>
            <a:ext cx="3108960" cy="164592"/>
          </a:xfrm>
          <a:prstGeom prst="roundRect">
            <a:avLst>
              <a:gd name="adj" fmla="val 27778"/>
            </a:avLst>
          </a:prstGeom>
          <a:solidFill>
            <a:srgbClr val="E6E2DA"/>
          </a:solidFill>
          <a:ln w="9525">
            <a:solidFill>
              <a:schemeClr val="tx1"/>
            </a:solidFill>
            <a:prstDash val="solid"/>
          </a:ln>
        </p:spPr>
      </p:sp>
      <p:sp>
        <p:nvSpPr>
          <p:cNvPr id="8" name="Text 6"/>
          <p:cNvSpPr txBox="1"/>
          <p:nvPr/>
        </p:nvSpPr>
        <p:spPr>
          <a:xfrm>
            <a:off x="640080" y="1444752"/>
            <a:ext cx="1828800" cy="201168"/>
          </a:xfrm>
          <a:prstGeom prst="rect">
            <a:avLst/>
          </a:prstGeom>
          <a:noFill/>
          <a:ln/>
        </p:spPr>
        <p:txBody>
          <a:bodyPr wrap="square" lIns="0" tIns="0" rIns="0" bIns="0" rtlCol="0" anchor="ctr"/>
          <a:lstStyle/>
          <a:p>
            <a:pPr indent="0" marL="0">
              <a:buNone/>
            </a:pPr>
            <a:r>
              <a:rPr lang="en-US" sz="1100" b="1" dirty="0">
                <a:solidFill>
                  <a:schemeClr val="tx1"/>
                </a:solidFill>
                <a:latin typeface="Calibri" pitchFamily="34" charset="0"/>
                <a:ea typeface="Calibri" pitchFamily="34" charset="-122"/>
                <a:cs typeface="Calibri" pitchFamily="34" charset="-120"/>
              </a:rPr>
              <a:t>Story idea</a:t>
            </a:r>
            <a:endParaRPr lang="en-US" sz="1100" dirty="0"/>
          </a:p>
        </p:txBody>
      </p:sp>
      <p:sp>
        <p:nvSpPr>
          <p:cNvPr id="9" name="Text 7"/>
          <p:cNvSpPr txBox="1"/>
          <p:nvPr/>
        </p:nvSpPr>
        <p:spPr>
          <a:xfrm>
            <a:off x="640080" y="1664208"/>
            <a:ext cx="3749040" cy="566928"/>
          </a:xfrm>
          <a:prstGeom prst="rect">
            <a:avLst/>
          </a:prstGeom>
          <a:solidFill>
            <a:schemeClr val="bg1"/>
          </a:solidFill>
          <a:ln w="15875">
            <a:solidFill>
              <a:schemeClr val="tx1"/>
            </a:solidFill>
          </a:ln>
        </p:spPr>
        <p:txBody>
          <a:bodyPr wrap="square" lIns="63500" tIns="63500" rIns="63500" bIns="63500" rtlCol="0" anchor="t"/>
          <a:lstStyle/>
          <a:p>
            <a:pPr algn="l" indent="0" marL="0">
              <a:buNone/>
            </a:pPr>
            <a:r>
              <a:rPr lang="en-US" sz="1100" i="1" dirty="0">
                <a:solidFill>
                  <a:schemeClr val="tx2"/>
                </a:solidFill>
                <a:latin typeface="Calibri" pitchFamily="34" charset="0"/>
                <a:ea typeface="Calibri" pitchFamily="34" charset="-122"/>
                <a:cs typeface="Calibri" pitchFamily="34" charset="-120"/>
              </a:rPr>
              <a:t>A lonely robot learns to paint the night sky…</a:t>
            </a:r>
            <a:endParaRPr lang="en-US" sz="1100" dirty="0"/>
          </a:p>
        </p:txBody>
      </p:sp>
      <p:sp>
        <p:nvSpPr>
          <p:cNvPr id="10" name="Text 8"/>
          <p:cNvSpPr txBox="1"/>
          <p:nvPr/>
        </p:nvSpPr>
        <p:spPr>
          <a:xfrm>
            <a:off x="640080" y="2304288"/>
            <a:ext cx="1737360" cy="201168"/>
          </a:xfrm>
          <a:prstGeom prst="rect">
            <a:avLst/>
          </a:prstGeom>
          <a:noFill/>
          <a:ln/>
        </p:spPr>
        <p:txBody>
          <a:bodyPr wrap="square" lIns="0" tIns="0" rIns="0" bIns="0" rtlCol="0" anchor="ctr"/>
          <a:lstStyle/>
          <a:p>
            <a:pPr indent="0" marL="0">
              <a:buNone/>
            </a:pPr>
            <a:r>
              <a:rPr lang="en-US" sz="1100" b="1" dirty="0">
                <a:solidFill>
                  <a:schemeClr val="tx1"/>
                </a:solidFill>
                <a:latin typeface="Calibri" pitchFamily="34" charset="0"/>
                <a:ea typeface="Calibri" pitchFamily="34" charset="-122"/>
                <a:cs typeface="Calibri" pitchFamily="34" charset="-120"/>
              </a:rPr>
              <a:t>Style</a:t>
            </a:r>
            <a:endParaRPr lang="en-US" sz="1100" dirty="0"/>
          </a:p>
        </p:txBody>
      </p:sp>
      <p:sp>
        <p:nvSpPr>
          <p:cNvPr id="11" name="Text 9"/>
          <p:cNvSpPr txBox="1"/>
          <p:nvPr/>
        </p:nvSpPr>
        <p:spPr>
          <a:xfrm>
            <a:off x="2651760" y="2304288"/>
            <a:ext cx="1737360" cy="201168"/>
          </a:xfrm>
          <a:prstGeom prst="rect">
            <a:avLst/>
          </a:prstGeom>
          <a:noFill/>
          <a:ln/>
        </p:spPr>
        <p:txBody>
          <a:bodyPr wrap="square" lIns="0" tIns="0" rIns="0" bIns="0" rtlCol="0" anchor="ctr"/>
          <a:lstStyle/>
          <a:p>
            <a:pPr indent="0" marL="0">
              <a:buNone/>
            </a:pPr>
            <a:r>
              <a:rPr lang="en-US" sz="1100" b="1" dirty="0">
                <a:solidFill>
                  <a:schemeClr val="tx1"/>
                </a:solidFill>
                <a:latin typeface="Calibri" pitchFamily="34" charset="0"/>
                <a:ea typeface="Calibri" pitchFamily="34" charset="-122"/>
                <a:cs typeface="Calibri" pitchFamily="34" charset="-120"/>
              </a:rPr>
              <a:t>Tone</a:t>
            </a:r>
            <a:endParaRPr lang="en-US" sz="1100" dirty="0"/>
          </a:p>
        </p:txBody>
      </p:sp>
      <p:sp>
        <p:nvSpPr>
          <p:cNvPr id="12" name="Text 10"/>
          <p:cNvSpPr txBox="1"/>
          <p:nvPr/>
        </p:nvSpPr>
        <p:spPr>
          <a:xfrm>
            <a:off x="640080" y="2523744"/>
            <a:ext cx="1737360" cy="274320"/>
          </a:xfrm>
          <a:prstGeom prst="rect">
            <a:avLst/>
          </a:prstGeom>
          <a:solidFill>
            <a:schemeClr val="bg1"/>
          </a:solidFill>
          <a:ln w="15875">
            <a:solidFill>
              <a:schemeClr val="tx1"/>
            </a:solidFill>
          </a:ln>
        </p:spPr>
        <p:txBody>
          <a:bodyPr wrap="square" lIns="63500" tIns="63500" rIns="63500" bIns="63500" rtlCol="0" anchor="ctr"/>
          <a:lstStyle/>
          <a:p>
            <a:pPr algn="l" indent="0" marL="0">
              <a:buNone/>
            </a:pPr>
            <a:r>
              <a:rPr lang="en-US" sz="1100" dirty="0">
                <a:solidFill>
                  <a:schemeClr val="tx2"/>
                </a:solidFill>
                <a:latin typeface="Calibri" pitchFamily="34" charset="0"/>
                <a:ea typeface="Calibri" pitchFamily="34" charset="-122"/>
                <a:cs typeface="Calibri" pitchFamily="34" charset="-120"/>
              </a:rPr>
              <a:t>Choose style  ▾</a:t>
            </a:r>
            <a:endParaRPr lang="en-US" sz="1100" dirty="0"/>
          </a:p>
        </p:txBody>
      </p:sp>
      <p:sp>
        <p:nvSpPr>
          <p:cNvPr id="13" name="Text 11"/>
          <p:cNvSpPr txBox="1"/>
          <p:nvPr/>
        </p:nvSpPr>
        <p:spPr>
          <a:xfrm>
            <a:off x="2651760" y="2523744"/>
            <a:ext cx="1737360" cy="274320"/>
          </a:xfrm>
          <a:prstGeom prst="rect">
            <a:avLst/>
          </a:prstGeom>
          <a:solidFill>
            <a:schemeClr val="bg1"/>
          </a:solidFill>
          <a:ln w="15875">
            <a:solidFill>
              <a:schemeClr val="tx1"/>
            </a:solidFill>
          </a:ln>
        </p:spPr>
        <p:txBody>
          <a:bodyPr wrap="square" lIns="63500" tIns="63500" rIns="63500" bIns="63500" rtlCol="0" anchor="ctr"/>
          <a:lstStyle/>
          <a:p>
            <a:pPr algn="l" indent="0" marL="0">
              <a:buNone/>
            </a:pPr>
            <a:r>
              <a:rPr lang="en-US" sz="1100" dirty="0">
                <a:solidFill>
                  <a:schemeClr val="tx2"/>
                </a:solidFill>
                <a:latin typeface="Calibri" pitchFamily="34" charset="0"/>
                <a:ea typeface="Calibri" pitchFamily="34" charset="-122"/>
                <a:cs typeface="Calibri" pitchFamily="34" charset="-120"/>
              </a:rPr>
              <a:t>Choose tone  ▾</a:t>
            </a:r>
            <a:endParaRPr lang="en-US" sz="1100" dirty="0"/>
          </a:p>
        </p:txBody>
      </p:sp>
      <p:sp>
        <p:nvSpPr>
          <p:cNvPr id="14" name="Text 12"/>
          <p:cNvSpPr txBox="1"/>
          <p:nvPr/>
        </p:nvSpPr>
        <p:spPr>
          <a:xfrm>
            <a:off x="640080" y="2871216"/>
            <a:ext cx="2743200" cy="201168"/>
          </a:xfrm>
          <a:prstGeom prst="rect">
            <a:avLst/>
          </a:prstGeom>
          <a:noFill/>
          <a:ln/>
        </p:spPr>
        <p:txBody>
          <a:bodyPr wrap="square" lIns="0" tIns="0" rIns="0" bIns="0" rtlCol="0" anchor="ctr"/>
          <a:lstStyle/>
          <a:p>
            <a:pPr indent="0" marL="0">
              <a:buNone/>
            </a:pPr>
            <a:r>
              <a:rPr lang="en-US" sz="1100" b="1" dirty="0">
                <a:solidFill>
                  <a:schemeClr val="tx1"/>
                </a:solidFill>
                <a:latin typeface="Calibri" pitchFamily="34" charset="0"/>
                <a:ea typeface="Calibri" pitchFamily="34" charset="-122"/>
                <a:cs typeface="Calibri" pitchFamily="34" charset="-120"/>
              </a:rPr>
              <a:t>Character appearance</a:t>
            </a:r>
            <a:endParaRPr lang="en-US" sz="1100" dirty="0"/>
          </a:p>
        </p:txBody>
      </p:sp>
      <p:sp>
        <p:nvSpPr>
          <p:cNvPr id="15" name="Text 13"/>
          <p:cNvSpPr txBox="1"/>
          <p:nvPr/>
        </p:nvSpPr>
        <p:spPr>
          <a:xfrm>
            <a:off x="640080" y="3090672"/>
            <a:ext cx="3749040" cy="274320"/>
          </a:xfrm>
          <a:prstGeom prst="rect">
            <a:avLst/>
          </a:prstGeom>
          <a:solidFill>
            <a:schemeClr val="bg1"/>
          </a:solidFill>
          <a:ln w="15875">
            <a:solidFill>
              <a:schemeClr val="tx1"/>
            </a:solidFill>
          </a:ln>
        </p:spPr>
        <p:txBody>
          <a:bodyPr wrap="square" lIns="63500" tIns="63500" rIns="63500" bIns="63500" rtlCol="0" anchor="ctr"/>
          <a:lstStyle/>
          <a:p>
            <a:pPr algn="l" indent="0" marL="0">
              <a:buNone/>
            </a:pPr>
            <a:r>
              <a:rPr lang="en-US" sz="1100" i="1" dirty="0">
                <a:solidFill>
                  <a:schemeClr val="tx2"/>
                </a:solidFill>
                <a:latin typeface="Calibri" pitchFamily="34" charset="0"/>
                <a:ea typeface="Calibri" pitchFamily="34" charset="-122"/>
                <a:cs typeface="Calibri" pitchFamily="34" charset="-120"/>
              </a:rPr>
              <a:t>e.g. red scarf, round glasses</a:t>
            </a:r>
            <a:endParaRPr lang="en-US" sz="1100" dirty="0"/>
          </a:p>
        </p:txBody>
      </p:sp>
      <p:sp>
        <p:nvSpPr>
          <p:cNvPr id="16" name="Text 14"/>
          <p:cNvSpPr txBox="1"/>
          <p:nvPr/>
        </p:nvSpPr>
        <p:spPr>
          <a:xfrm>
            <a:off x="640080" y="3493008"/>
            <a:ext cx="2103120" cy="365760"/>
          </a:xfrm>
          <a:prstGeom prst="roundRect">
            <a:avLst>
              <a:gd name="adj" fmla="val 20000"/>
            </a:avLst>
          </a:prstGeom>
          <a:solidFill>
            <a:schemeClr val="accent1"/>
          </a:solidFill>
          <a:ln w="25400">
            <a:solidFill>
              <a:schemeClr val="tx1"/>
            </a:solidFill>
          </a:ln>
          <a:effectLst>
            <a:outerShdw sx="100000" sy="100000" kx="0" ky="0" algn="bl" rotWithShape="0" blurRad="101600" dist="38100" dir="2700000">
              <a:srgbClr val="171717">
                <a:alpha val="100000"/>
              </a:srgbClr>
            </a:outerShdw>
          </a:effectLst>
        </p:spPr>
        <p:txBody>
          <a:bodyPr wrap="square" lIns="50800" tIns="50800" rIns="50800" bIns="50800" rtlCol="0" anchor="ctr"/>
          <a:lstStyle/>
          <a:p>
            <a:pPr algn="ctr" indent="0" marL="0">
              <a:buNone/>
            </a:pPr>
            <a:r>
              <a:rPr lang="en-US" sz="1300" dirty="0">
                <a:solidFill>
                  <a:schemeClr val="bg2"/>
                </a:solidFill>
                <a:latin typeface="Impact" pitchFamily="34" charset="0"/>
                <a:ea typeface="Impact" pitchFamily="34" charset="-122"/>
                <a:cs typeface="Impact" pitchFamily="34" charset="-120"/>
              </a:rPr>
              <a:t>GENERATE COMIC</a:t>
            </a:r>
            <a:endParaRPr lang="en-US" sz="1300" dirty="0"/>
          </a:p>
        </p:txBody>
      </p:sp>
      <p:sp>
        <p:nvSpPr>
          <p:cNvPr id="17" name="Shape 15"/>
          <p:cNvSpPr/>
          <p:nvPr/>
        </p:nvSpPr>
        <p:spPr>
          <a:xfrm>
            <a:off x="640080" y="4005072"/>
            <a:ext cx="3749040" cy="155448"/>
          </a:xfrm>
          <a:prstGeom prst="roundRect">
            <a:avLst>
              <a:gd name="adj" fmla="val 29412"/>
            </a:avLst>
          </a:prstGeom>
          <a:solidFill>
            <a:srgbClr val="E6E2DA"/>
          </a:solidFill>
          <a:ln w="12700">
            <a:solidFill>
              <a:schemeClr val="tx1"/>
            </a:solidFill>
            <a:prstDash val="solid"/>
          </a:ln>
        </p:spPr>
      </p:sp>
      <p:sp>
        <p:nvSpPr>
          <p:cNvPr id="18" name="Shape 16"/>
          <p:cNvSpPr/>
          <p:nvPr/>
        </p:nvSpPr>
        <p:spPr>
          <a:xfrm>
            <a:off x="640080" y="4005072"/>
            <a:ext cx="2194560" cy="155448"/>
          </a:xfrm>
          <a:prstGeom prst="roundRect">
            <a:avLst>
              <a:gd name="adj" fmla="val 29412"/>
            </a:avLst>
          </a:prstGeom>
          <a:solidFill>
            <a:schemeClr val="accent2"/>
          </a:solidFill>
          <a:ln w="12700">
            <a:solidFill>
              <a:schemeClr val="tx1"/>
            </a:solidFill>
            <a:prstDash val="solid"/>
          </a:ln>
        </p:spPr>
      </p:sp>
      <p:sp>
        <p:nvSpPr>
          <p:cNvPr id="19" name="Text 17"/>
          <p:cNvSpPr txBox="1"/>
          <p:nvPr/>
        </p:nvSpPr>
        <p:spPr>
          <a:xfrm>
            <a:off x="640080" y="4187952"/>
            <a:ext cx="2743200" cy="201168"/>
          </a:xfrm>
          <a:prstGeom prst="rect">
            <a:avLst/>
          </a:prstGeom>
          <a:noFill/>
          <a:ln/>
        </p:spPr>
        <p:txBody>
          <a:bodyPr wrap="square" lIns="0" tIns="0" rIns="0" bIns="0" rtlCol="0" anchor="ctr"/>
          <a:lstStyle/>
          <a:p>
            <a:pPr indent="0" marL="0">
              <a:buNone/>
            </a:pPr>
            <a:r>
              <a:rPr lang="en-US" sz="1000" i="1" dirty="0">
                <a:solidFill>
                  <a:schemeClr val="tx2"/>
                </a:solidFill>
                <a:latin typeface="Calibri" pitchFamily="34" charset="0"/>
                <a:ea typeface="Calibri" pitchFamily="34" charset="-122"/>
                <a:cs typeface="Calibri" pitchFamily="34" charset="-120"/>
              </a:rPr>
              <a:t>Progress indicator</a:t>
            </a:r>
            <a:endParaRPr lang="en-US" sz="1000" dirty="0"/>
          </a:p>
        </p:txBody>
      </p:sp>
      <p:sp>
        <p:nvSpPr>
          <p:cNvPr id="20" name="Text 18"/>
          <p:cNvSpPr txBox="1"/>
          <p:nvPr/>
        </p:nvSpPr>
        <p:spPr>
          <a:xfrm>
            <a:off x="457200" y="4526280"/>
            <a:ext cx="4114800" cy="228600"/>
          </a:xfrm>
          <a:prstGeom prst="rect">
            <a:avLst/>
          </a:prstGeom>
          <a:noFill/>
          <a:ln/>
        </p:spPr>
        <p:txBody>
          <a:bodyPr wrap="square" lIns="0" tIns="0" rIns="0" bIns="0" rtlCol="0" anchor="ctr"/>
          <a:lstStyle/>
          <a:p>
            <a:pPr indent="0" marL="0">
              <a:buNone/>
            </a:pPr>
            <a:r>
              <a:rPr lang="en-US" sz="1000" i="1" dirty="0">
                <a:solidFill>
                  <a:schemeClr val="tx2"/>
                </a:solidFill>
                <a:latin typeface="Calibri" pitchFamily="34" charset="0"/>
                <a:ea typeface="Calibri" pitchFamily="34" charset="-122"/>
                <a:cs typeface="Calibri" pitchFamily="34" charset="-120"/>
              </a:rPr>
              <a:t>Conceptual mockup — replace with real screenshots</a:t>
            </a:r>
            <a:endParaRPr lang="en-US" sz="1000" dirty="0"/>
          </a:p>
        </p:txBody>
      </p:sp>
      <p:sp>
        <p:nvSpPr>
          <p:cNvPr id="21" name="Text 19"/>
          <p:cNvSpPr txBox="1"/>
          <p:nvPr/>
        </p:nvSpPr>
        <p:spPr>
          <a:xfrm>
            <a:off x="4846320" y="1097280"/>
            <a:ext cx="1874520" cy="384048"/>
          </a:xfrm>
          <a:prstGeom prst="roundRect">
            <a:avLst>
              <a:gd name="adj" fmla="val 19048"/>
            </a:avLst>
          </a:prstGeom>
          <a:solidFill>
            <a:schemeClr val="bg2"/>
          </a:solidFill>
          <a:ln w="19050">
            <a:solidFill>
              <a:schemeClr val="tx1"/>
            </a:solidFill>
          </a:ln>
        </p:spPr>
        <p:txBody>
          <a:bodyPr wrap="square" lIns="50800" tIns="50800" rIns="50800" bIns="5080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Homepage</a:t>
            </a:r>
            <a:endParaRPr lang="en-US" sz="1200" dirty="0"/>
          </a:p>
        </p:txBody>
      </p:sp>
      <p:sp>
        <p:nvSpPr>
          <p:cNvPr id="22" name="Text 20"/>
          <p:cNvSpPr txBox="1"/>
          <p:nvPr/>
        </p:nvSpPr>
        <p:spPr>
          <a:xfrm>
            <a:off x="6812280" y="1097280"/>
            <a:ext cx="1874520" cy="384048"/>
          </a:xfrm>
          <a:prstGeom prst="roundRect">
            <a:avLst>
              <a:gd name="adj" fmla="val 19048"/>
            </a:avLst>
          </a:prstGeom>
          <a:solidFill>
            <a:schemeClr val="bg2"/>
          </a:solidFill>
          <a:ln w="19050">
            <a:solidFill>
              <a:schemeClr val="tx1"/>
            </a:solidFill>
          </a:ln>
        </p:spPr>
        <p:txBody>
          <a:bodyPr wrap="square" lIns="50800" tIns="50800" rIns="50800" bIns="5080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Comic studio form</a:t>
            </a:r>
            <a:endParaRPr lang="en-US" sz="1200" dirty="0"/>
          </a:p>
        </p:txBody>
      </p:sp>
      <p:sp>
        <p:nvSpPr>
          <p:cNvPr id="23" name="Text 21"/>
          <p:cNvSpPr txBox="1"/>
          <p:nvPr/>
        </p:nvSpPr>
        <p:spPr>
          <a:xfrm>
            <a:off x="4846320" y="1554480"/>
            <a:ext cx="1874520" cy="384048"/>
          </a:xfrm>
          <a:prstGeom prst="roundRect">
            <a:avLst>
              <a:gd name="adj" fmla="val 19048"/>
            </a:avLst>
          </a:prstGeom>
          <a:solidFill>
            <a:schemeClr val="bg2"/>
          </a:solidFill>
          <a:ln w="19050">
            <a:solidFill>
              <a:schemeClr val="tx1"/>
            </a:solidFill>
          </a:ln>
        </p:spPr>
        <p:txBody>
          <a:bodyPr wrap="square" lIns="50800" tIns="50800" rIns="50800" bIns="5080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Story idea input</a:t>
            </a:r>
            <a:endParaRPr lang="en-US" sz="1200" dirty="0"/>
          </a:p>
        </p:txBody>
      </p:sp>
      <p:sp>
        <p:nvSpPr>
          <p:cNvPr id="24" name="Text 22"/>
          <p:cNvSpPr txBox="1"/>
          <p:nvPr/>
        </p:nvSpPr>
        <p:spPr>
          <a:xfrm>
            <a:off x="6812280" y="1554480"/>
            <a:ext cx="1874520" cy="384048"/>
          </a:xfrm>
          <a:prstGeom prst="roundRect">
            <a:avLst>
              <a:gd name="adj" fmla="val 19048"/>
            </a:avLst>
          </a:prstGeom>
          <a:solidFill>
            <a:schemeClr val="bg2"/>
          </a:solidFill>
          <a:ln w="19050">
            <a:solidFill>
              <a:schemeClr val="tx1"/>
            </a:solidFill>
          </a:ln>
        </p:spPr>
        <p:txBody>
          <a:bodyPr wrap="square" lIns="50800" tIns="50800" rIns="50800" bIns="5080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Style and tone select</a:t>
            </a:r>
            <a:endParaRPr lang="en-US" sz="1200" dirty="0"/>
          </a:p>
        </p:txBody>
      </p:sp>
      <p:sp>
        <p:nvSpPr>
          <p:cNvPr id="25" name="Text 23"/>
          <p:cNvSpPr txBox="1"/>
          <p:nvPr/>
        </p:nvSpPr>
        <p:spPr>
          <a:xfrm>
            <a:off x="4846320" y="2011680"/>
            <a:ext cx="1874520" cy="384048"/>
          </a:xfrm>
          <a:prstGeom prst="roundRect">
            <a:avLst>
              <a:gd name="adj" fmla="val 19048"/>
            </a:avLst>
          </a:prstGeom>
          <a:solidFill>
            <a:schemeClr val="bg2"/>
          </a:solidFill>
          <a:ln w="19050">
            <a:solidFill>
              <a:schemeClr val="tx1"/>
            </a:solidFill>
          </a:ln>
        </p:spPr>
        <p:txBody>
          <a:bodyPr wrap="square" lIns="50800" tIns="50800" rIns="50800" bIns="5080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Character appearance</a:t>
            </a:r>
            <a:endParaRPr lang="en-US" sz="1200" dirty="0"/>
          </a:p>
        </p:txBody>
      </p:sp>
      <p:sp>
        <p:nvSpPr>
          <p:cNvPr id="26" name="Text 24"/>
          <p:cNvSpPr txBox="1"/>
          <p:nvPr/>
        </p:nvSpPr>
        <p:spPr>
          <a:xfrm>
            <a:off x="6812280" y="2011680"/>
            <a:ext cx="1874520" cy="384048"/>
          </a:xfrm>
          <a:prstGeom prst="roundRect">
            <a:avLst>
              <a:gd name="adj" fmla="val 19048"/>
            </a:avLst>
          </a:prstGeom>
          <a:solidFill>
            <a:schemeClr val="bg2"/>
          </a:solidFill>
          <a:ln w="19050">
            <a:solidFill>
              <a:schemeClr val="tx1"/>
            </a:solidFill>
          </a:ln>
        </p:spPr>
        <p:txBody>
          <a:bodyPr wrap="square" lIns="50800" tIns="50800" rIns="50800" bIns="5080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Progress indicator</a:t>
            </a:r>
            <a:endParaRPr lang="en-US" sz="1200" dirty="0"/>
          </a:p>
        </p:txBody>
      </p:sp>
      <p:sp>
        <p:nvSpPr>
          <p:cNvPr id="27" name="Text 25"/>
          <p:cNvSpPr txBox="1"/>
          <p:nvPr/>
        </p:nvSpPr>
        <p:spPr>
          <a:xfrm>
            <a:off x="4846320" y="2468880"/>
            <a:ext cx="1874520" cy="384048"/>
          </a:xfrm>
          <a:prstGeom prst="roundRect">
            <a:avLst>
              <a:gd name="adj" fmla="val 19048"/>
            </a:avLst>
          </a:prstGeom>
          <a:solidFill>
            <a:schemeClr val="bg2"/>
          </a:solidFill>
          <a:ln w="19050">
            <a:solidFill>
              <a:schemeClr val="tx1"/>
            </a:solidFill>
          </a:ln>
        </p:spPr>
        <p:txBody>
          <a:bodyPr wrap="square" lIns="50800" tIns="50800" rIns="50800" bIns="5080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Comic preview</a:t>
            </a:r>
            <a:endParaRPr lang="en-US" sz="1200" dirty="0"/>
          </a:p>
        </p:txBody>
      </p:sp>
      <p:sp>
        <p:nvSpPr>
          <p:cNvPr id="28" name="Text 26"/>
          <p:cNvSpPr txBox="1"/>
          <p:nvPr/>
        </p:nvSpPr>
        <p:spPr>
          <a:xfrm>
            <a:off x="6812280" y="2468880"/>
            <a:ext cx="1874520" cy="384048"/>
          </a:xfrm>
          <a:prstGeom prst="roundRect">
            <a:avLst>
              <a:gd name="adj" fmla="val 19048"/>
            </a:avLst>
          </a:prstGeom>
          <a:solidFill>
            <a:schemeClr val="bg2"/>
          </a:solidFill>
          <a:ln w="19050">
            <a:solidFill>
              <a:schemeClr val="tx1"/>
            </a:solidFill>
          </a:ln>
        </p:spPr>
        <p:txBody>
          <a:bodyPr wrap="square" lIns="50800" tIns="50800" rIns="50800" bIns="5080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PDF download</a:t>
            </a:r>
            <a:endParaRPr lang="en-US" sz="1200" dirty="0"/>
          </a:p>
        </p:txBody>
      </p:sp>
      <p:sp>
        <p:nvSpPr>
          <p:cNvPr id="29" name="Text 27"/>
          <p:cNvSpPr txBox="1"/>
          <p:nvPr/>
        </p:nvSpPr>
        <p:spPr>
          <a:xfrm>
            <a:off x="4846320" y="2926080"/>
            <a:ext cx="3657600" cy="274320"/>
          </a:xfrm>
          <a:prstGeom prst="rect">
            <a:avLst/>
          </a:prstGeom>
          <a:noFill/>
          <a:ln/>
        </p:spPr>
        <p:txBody>
          <a:bodyPr wrap="square" lIns="0" tIns="0" rIns="0" bIns="0" rtlCol="0" anchor="ctr"/>
          <a:lstStyle/>
          <a:p>
            <a:pPr indent="0" marL="0">
              <a:buNone/>
            </a:pPr>
            <a:r>
              <a:rPr lang="en-US" sz="1600" dirty="0">
                <a:solidFill>
                  <a:schemeClr val="tx1"/>
                </a:solidFill>
                <a:latin typeface="Impact" pitchFamily="34" charset="0"/>
                <a:ea typeface="Impact" pitchFamily="34" charset="-122"/>
                <a:cs typeface="Impact" pitchFamily="34" charset="-120"/>
              </a:rPr>
              <a:t>Who does what</a:t>
            </a:r>
            <a:endParaRPr lang="en-US" sz="1600" dirty="0"/>
          </a:p>
        </p:txBody>
      </p:sp>
      <p:sp>
        <p:nvSpPr>
          <p:cNvPr id="30" name="Text 28"/>
          <p:cNvSpPr txBox="1"/>
          <p:nvPr/>
        </p:nvSpPr>
        <p:spPr>
          <a:xfrm>
            <a:off x="4846320" y="3273552"/>
            <a:ext cx="822960" cy="384048"/>
          </a:xfrm>
          <a:prstGeom prst="roundRect">
            <a:avLst>
              <a:gd name="adj" fmla="val 19048"/>
            </a:avLst>
          </a:prstGeom>
          <a:solidFill>
            <a:schemeClr val="accent1"/>
          </a:solidFill>
          <a:ln w="19050">
            <a:solidFill>
              <a:schemeClr val="tx1"/>
            </a:solidFill>
          </a:ln>
        </p:spPr>
        <p:txBody>
          <a:bodyPr wrap="square" lIns="50800" tIns="50800" rIns="50800" bIns="50800" rtlCol="0" anchor="ctr"/>
          <a:lstStyle/>
          <a:p>
            <a:pPr algn="ctr" indent="0" marL="0">
              <a:buNone/>
            </a:pPr>
            <a:r>
              <a:rPr lang="en-US" sz="1300" dirty="0">
                <a:solidFill>
                  <a:schemeClr val="bg2"/>
                </a:solidFill>
                <a:latin typeface="Impact" pitchFamily="34" charset="0"/>
                <a:ea typeface="Impact" pitchFamily="34" charset="-122"/>
                <a:cs typeface="Impact" pitchFamily="34" charset="-120"/>
              </a:rPr>
              <a:t>HTML</a:t>
            </a:r>
            <a:endParaRPr lang="en-US" sz="1300" dirty="0"/>
          </a:p>
        </p:txBody>
      </p:sp>
      <p:sp>
        <p:nvSpPr>
          <p:cNvPr id="31" name="Text 29"/>
          <p:cNvSpPr txBox="1"/>
          <p:nvPr/>
        </p:nvSpPr>
        <p:spPr>
          <a:xfrm>
            <a:off x="5760720" y="3273552"/>
            <a:ext cx="2926080" cy="384048"/>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Structure: forms, buttons, text</a:t>
            </a:r>
            <a:endParaRPr lang="en-US" sz="1200" dirty="0"/>
          </a:p>
        </p:txBody>
      </p:sp>
      <p:sp>
        <p:nvSpPr>
          <p:cNvPr id="32" name="Text 30"/>
          <p:cNvSpPr txBox="1"/>
          <p:nvPr/>
        </p:nvSpPr>
        <p:spPr>
          <a:xfrm>
            <a:off x="4846320" y="3712464"/>
            <a:ext cx="822960" cy="384048"/>
          </a:xfrm>
          <a:prstGeom prst="roundRect">
            <a:avLst>
              <a:gd name="adj" fmla="val 19048"/>
            </a:avLst>
          </a:prstGeom>
          <a:solidFill>
            <a:schemeClr val="accent2"/>
          </a:solidFill>
          <a:ln w="19050">
            <a:solidFill>
              <a:schemeClr val="tx1"/>
            </a:solidFill>
          </a:ln>
        </p:spPr>
        <p:txBody>
          <a:bodyPr wrap="square" lIns="50800" tIns="50800" rIns="50800" bIns="50800" rtlCol="0" anchor="ctr"/>
          <a:lstStyle/>
          <a:p>
            <a:pPr algn="ctr" indent="0" marL="0">
              <a:buNone/>
            </a:pPr>
            <a:r>
              <a:rPr lang="en-US" sz="1300" dirty="0">
                <a:solidFill>
                  <a:schemeClr val="bg2"/>
                </a:solidFill>
                <a:latin typeface="Impact" pitchFamily="34" charset="0"/>
                <a:ea typeface="Impact" pitchFamily="34" charset="-122"/>
                <a:cs typeface="Impact" pitchFamily="34" charset="-120"/>
              </a:rPr>
              <a:t>CSS</a:t>
            </a:r>
            <a:endParaRPr lang="en-US" sz="1300" dirty="0"/>
          </a:p>
        </p:txBody>
      </p:sp>
      <p:sp>
        <p:nvSpPr>
          <p:cNvPr id="33" name="Text 31"/>
          <p:cNvSpPr txBox="1"/>
          <p:nvPr/>
        </p:nvSpPr>
        <p:spPr>
          <a:xfrm>
            <a:off x="5760720" y="3712464"/>
            <a:ext cx="2926080" cy="384048"/>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Style: colors, layout, comic look</a:t>
            </a:r>
            <a:endParaRPr lang="en-US" sz="1200" dirty="0"/>
          </a:p>
        </p:txBody>
      </p:sp>
      <p:sp>
        <p:nvSpPr>
          <p:cNvPr id="34" name="Text 32"/>
          <p:cNvSpPr txBox="1"/>
          <p:nvPr/>
        </p:nvSpPr>
        <p:spPr>
          <a:xfrm>
            <a:off x="4846320" y="4151376"/>
            <a:ext cx="822960" cy="384048"/>
          </a:xfrm>
          <a:prstGeom prst="roundRect">
            <a:avLst>
              <a:gd name="adj" fmla="val 19048"/>
            </a:avLst>
          </a:prstGeom>
          <a:solidFill>
            <a:schemeClr val="accent3"/>
          </a:solidFill>
          <a:ln w="19050">
            <a:solidFill>
              <a:schemeClr val="tx1"/>
            </a:solidFill>
          </a:ln>
        </p:spPr>
        <p:txBody>
          <a:bodyPr wrap="square" lIns="50800" tIns="50800" rIns="50800" bIns="50800" rtlCol="0" anchor="ctr"/>
          <a:lstStyle/>
          <a:p>
            <a:pPr algn="ctr" indent="0" marL="0">
              <a:buNone/>
            </a:pPr>
            <a:r>
              <a:rPr lang="en-US" sz="1300" dirty="0">
                <a:solidFill>
                  <a:schemeClr val="tx1"/>
                </a:solidFill>
                <a:latin typeface="Impact" pitchFamily="34" charset="0"/>
                <a:ea typeface="Impact" pitchFamily="34" charset="-122"/>
                <a:cs typeface="Impact" pitchFamily="34" charset="-120"/>
              </a:rPr>
              <a:t>JS</a:t>
            </a:r>
            <a:endParaRPr lang="en-US" sz="1300" dirty="0"/>
          </a:p>
        </p:txBody>
      </p:sp>
      <p:sp>
        <p:nvSpPr>
          <p:cNvPr id="35" name="Text 33"/>
          <p:cNvSpPr txBox="1"/>
          <p:nvPr/>
        </p:nvSpPr>
        <p:spPr>
          <a:xfrm>
            <a:off x="5760720" y="4151376"/>
            <a:ext cx="2926080" cy="384048"/>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Behavior: sends requests, shows progress</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dirty="0">
                <a:solidFill>
                  <a:schemeClr val="tx1"/>
                </a:solidFill>
                <a:latin typeface="Impact" pitchFamily="34" charset="0"/>
                <a:ea typeface="Impact" pitchFamily="34" charset="-122"/>
                <a:cs typeface="Impact" pitchFamily="34" charset="-120"/>
              </a:rPr>
              <a:t>When the User Clicks Generate</a:t>
            </a:r>
            <a:endParaRPr lang="en-US" sz="3000" dirty="0"/>
          </a:p>
        </p:txBody>
      </p:sp>
      <p:sp>
        <p:nvSpPr>
          <p:cNvPr id="3" name="Text 1"/>
          <p:cNvSpPr txBox="1"/>
          <p:nvPr/>
        </p:nvSpPr>
        <p:spPr>
          <a:xfrm>
            <a:off x="457200" y="1097280"/>
            <a:ext cx="1874520" cy="1051560"/>
          </a:xfrm>
          <a:prstGeom prst="roundRect">
            <a:avLst>
              <a:gd name="adj" fmla="val 6957"/>
            </a:avLst>
          </a:prstGeom>
          <a:solidFill>
            <a:schemeClr val="bg2"/>
          </a:solidFill>
          <a:ln w="25400">
            <a:solidFill>
              <a:schemeClr val="tx1"/>
            </a:solidFill>
          </a:ln>
          <a:effectLst>
            <a:outerShdw sx="100000" sy="100000" kx="0" ky="0" algn="bl" rotWithShape="0" blurRad="101600" dist="38100" dir="2700000">
              <a:srgbClr val="171717">
                <a:alpha val="100000"/>
              </a:srgbClr>
            </a:outerShdw>
          </a:effectLst>
        </p:spPr>
        <p:txBody>
          <a:bodyPr wrap="square" lIns="101600" tIns="101600" rIns="101600" bIns="101600" rtlCol="0" anchor="ctr"/>
          <a:lstStyle/>
          <a:p>
            <a:pPr algn="l" indent="0" marL="0">
              <a:buNone/>
            </a:pPr>
            <a:r>
              <a:rPr lang="en-US" sz="1300" dirty="0">
                <a:solidFill>
                  <a:schemeClr val="tx1"/>
                </a:solidFill>
                <a:latin typeface="Calibri" pitchFamily="34" charset="0"/>
                <a:ea typeface="Calibri" pitchFamily="34" charset="-122"/>
                <a:cs typeface="Calibri" pitchFamily="34" charset="-120"/>
              </a:rPr>
              <a:t>User enters a story idea</a:t>
            </a:r>
            <a:endParaRPr lang="en-US" sz="1300" dirty="0"/>
          </a:p>
        </p:txBody>
      </p:sp>
      <p:sp>
        <p:nvSpPr>
          <p:cNvPr id="4" name="Text 2"/>
          <p:cNvSpPr txBox="1"/>
          <p:nvPr/>
        </p:nvSpPr>
        <p:spPr>
          <a:xfrm>
            <a:off x="365760" y="987552"/>
            <a:ext cx="329184" cy="329184"/>
          </a:xfrm>
          <a:prstGeom prst="ellipse">
            <a:avLst/>
          </a:prstGeom>
          <a:solidFill>
            <a:schemeClr val="accent1"/>
          </a:solidFill>
          <a:ln w="19050">
            <a:solidFill>
              <a:schemeClr val="tx1"/>
            </a:solidFill>
          </a:ln>
        </p:spPr>
        <p:txBody>
          <a:bodyPr wrap="square" lIns="0" tIns="0" rIns="0" bIns="0" rtlCol="0" anchor="ctr"/>
          <a:lstStyle/>
          <a:p>
            <a:pPr algn="ctr" indent="0" marL="0">
              <a:buNone/>
            </a:pPr>
            <a:r>
              <a:rPr lang="en-US" sz="1400" dirty="0">
                <a:solidFill>
                  <a:schemeClr val="bg2"/>
                </a:solidFill>
                <a:latin typeface="Impact" pitchFamily="34" charset="0"/>
                <a:ea typeface="Impact" pitchFamily="34" charset="-122"/>
                <a:cs typeface="Impact" pitchFamily="34" charset="-120"/>
              </a:rPr>
              <a:t>1</a:t>
            </a:r>
            <a:endParaRPr lang="en-US" sz="1400" dirty="0"/>
          </a:p>
        </p:txBody>
      </p:sp>
      <p:sp>
        <p:nvSpPr>
          <p:cNvPr id="5" name="Shape 3"/>
          <p:cNvSpPr/>
          <p:nvPr/>
        </p:nvSpPr>
        <p:spPr>
          <a:xfrm>
            <a:off x="2350008" y="1623060"/>
            <a:ext cx="210312" cy="0"/>
          </a:xfrm>
          <a:prstGeom prst="line">
            <a:avLst/>
          </a:prstGeom>
          <a:noFill/>
          <a:ln w="31750">
            <a:solidFill>
              <a:schemeClr val="tx1"/>
            </a:solidFill>
            <a:prstDash val="solid"/>
            <a:tailEnd type="triangle"/>
          </a:ln>
        </p:spPr>
      </p:sp>
      <p:sp>
        <p:nvSpPr>
          <p:cNvPr id="6" name="Text 4"/>
          <p:cNvSpPr txBox="1"/>
          <p:nvPr/>
        </p:nvSpPr>
        <p:spPr>
          <a:xfrm>
            <a:off x="2578608" y="1097280"/>
            <a:ext cx="1874520" cy="1051560"/>
          </a:xfrm>
          <a:prstGeom prst="roundRect">
            <a:avLst>
              <a:gd name="adj" fmla="val 6957"/>
            </a:avLst>
          </a:prstGeom>
          <a:solidFill>
            <a:schemeClr val="bg2"/>
          </a:solidFill>
          <a:ln w="25400">
            <a:solidFill>
              <a:schemeClr val="tx1"/>
            </a:solidFill>
          </a:ln>
          <a:effectLst>
            <a:outerShdw sx="100000" sy="100000" kx="0" ky="0" algn="bl" rotWithShape="0" blurRad="101600" dist="38100" dir="2700000">
              <a:srgbClr val="171717">
                <a:alpha val="100000"/>
              </a:srgbClr>
            </a:outerShdw>
          </a:effectLst>
        </p:spPr>
        <p:txBody>
          <a:bodyPr wrap="square" lIns="101600" tIns="101600" rIns="101600" bIns="101600" rtlCol="0" anchor="ctr"/>
          <a:lstStyle/>
          <a:p>
            <a:pPr algn="l" indent="0" marL="0">
              <a:buNone/>
            </a:pPr>
            <a:r>
              <a:rPr lang="en-US" sz="1300" dirty="0">
                <a:solidFill>
                  <a:schemeClr val="tx1"/>
                </a:solidFill>
                <a:latin typeface="Calibri" pitchFamily="34" charset="0"/>
                <a:ea typeface="Calibri" pitchFamily="34" charset="-122"/>
                <a:cs typeface="Calibri" pitchFamily="34" charset="-120"/>
              </a:rPr>
              <a:t>User selects a style and tone</a:t>
            </a:r>
            <a:endParaRPr lang="en-US" sz="1300" dirty="0"/>
          </a:p>
        </p:txBody>
      </p:sp>
      <p:sp>
        <p:nvSpPr>
          <p:cNvPr id="7" name="Text 5"/>
          <p:cNvSpPr txBox="1"/>
          <p:nvPr/>
        </p:nvSpPr>
        <p:spPr>
          <a:xfrm>
            <a:off x="2487168" y="987552"/>
            <a:ext cx="329184" cy="329184"/>
          </a:xfrm>
          <a:prstGeom prst="ellipse">
            <a:avLst/>
          </a:prstGeom>
          <a:solidFill>
            <a:schemeClr val="accent1"/>
          </a:solidFill>
          <a:ln w="19050">
            <a:solidFill>
              <a:schemeClr val="tx1"/>
            </a:solidFill>
          </a:ln>
        </p:spPr>
        <p:txBody>
          <a:bodyPr wrap="square" lIns="0" tIns="0" rIns="0" bIns="0" rtlCol="0" anchor="ctr"/>
          <a:lstStyle/>
          <a:p>
            <a:pPr algn="ctr" indent="0" marL="0">
              <a:buNone/>
            </a:pPr>
            <a:r>
              <a:rPr lang="en-US" sz="1400" dirty="0">
                <a:solidFill>
                  <a:schemeClr val="bg2"/>
                </a:solidFill>
                <a:latin typeface="Impact" pitchFamily="34" charset="0"/>
                <a:ea typeface="Impact" pitchFamily="34" charset="-122"/>
                <a:cs typeface="Impact" pitchFamily="34" charset="-120"/>
              </a:rPr>
              <a:t>2</a:t>
            </a:r>
            <a:endParaRPr lang="en-US" sz="1400" dirty="0"/>
          </a:p>
        </p:txBody>
      </p:sp>
      <p:sp>
        <p:nvSpPr>
          <p:cNvPr id="8" name="Shape 6"/>
          <p:cNvSpPr/>
          <p:nvPr/>
        </p:nvSpPr>
        <p:spPr>
          <a:xfrm>
            <a:off x="4471416" y="1623060"/>
            <a:ext cx="210312" cy="0"/>
          </a:xfrm>
          <a:prstGeom prst="line">
            <a:avLst/>
          </a:prstGeom>
          <a:noFill/>
          <a:ln w="31750">
            <a:solidFill>
              <a:schemeClr val="tx1"/>
            </a:solidFill>
            <a:prstDash val="solid"/>
            <a:tailEnd type="triangle"/>
          </a:ln>
        </p:spPr>
      </p:sp>
      <p:sp>
        <p:nvSpPr>
          <p:cNvPr id="9" name="Text 7"/>
          <p:cNvSpPr txBox="1"/>
          <p:nvPr/>
        </p:nvSpPr>
        <p:spPr>
          <a:xfrm>
            <a:off x="4700016" y="1097280"/>
            <a:ext cx="1874520" cy="1051560"/>
          </a:xfrm>
          <a:prstGeom prst="roundRect">
            <a:avLst>
              <a:gd name="adj" fmla="val 6957"/>
            </a:avLst>
          </a:prstGeom>
          <a:solidFill>
            <a:schemeClr val="accent3"/>
          </a:solidFill>
          <a:ln w="25400">
            <a:solidFill>
              <a:schemeClr val="tx1"/>
            </a:solidFill>
          </a:ln>
          <a:effectLst>
            <a:outerShdw sx="100000" sy="100000" kx="0" ky="0" algn="bl" rotWithShape="0" blurRad="101600" dist="38100" dir="2700000">
              <a:srgbClr val="171717">
                <a:alpha val="100000"/>
              </a:srgbClr>
            </a:outerShdw>
          </a:effectLst>
        </p:spPr>
        <p:txBody>
          <a:bodyPr wrap="square" lIns="101600" tIns="101600" rIns="101600" bIns="101600" rtlCol="0" anchor="ctr"/>
          <a:lstStyle/>
          <a:p>
            <a:pPr algn="l" indent="0" marL="0">
              <a:buNone/>
            </a:pPr>
            <a:r>
              <a:rPr lang="en-US" sz="1300" dirty="0">
                <a:solidFill>
                  <a:schemeClr val="tx1"/>
                </a:solidFill>
                <a:latin typeface="Calibri" pitchFamily="34" charset="0"/>
                <a:ea typeface="Calibri" pitchFamily="34" charset="-122"/>
                <a:cs typeface="Calibri" pitchFamily="34" charset="-120"/>
              </a:rPr>
              <a:t>User clicks Generate Comic</a:t>
            </a:r>
            <a:endParaRPr lang="en-US" sz="1300" dirty="0"/>
          </a:p>
        </p:txBody>
      </p:sp>
      <p:sp>
        <p:nvSpPr>
          <p:cNvPr id="10" name="Text 8"/>
          <p:cNvSpPr txBox="1"/>
          <p:nvPr/>
        </p:nvSpPr>
        <p:spPr>
          <a:xfrm>
            <a:off x="4608576" y="987552"/>
            <a:ext cx="329184" cy="329184"/>
          </a:xfrm>
          <a:prstGeom prst="ellipse">
            <a:avLst/>
          </a:prstGeom>
          <a:solidFill>
            <a:schemeClr val="accent1"/>
          </a:solidFill>
          <a:ln w="19050">
            <a:solidFill>
              <a:schemeClr val="tx1"/>
            </a:solidFill>
          </a:ln>
        </p:spPr>
        <p:txBody>
          <a:bodyPr wrap="square" lIns="0" tIns="0" rIns="0" bIns="0" rtlCol="0" anchor="ctr"/>
          <a:lstStyle/>
          <a:p>
            <a:pPr algn="ctr" indent="0" marL="0">
              <a:buNone/>
            </a:pPr>
            <a:r>
              <a:rPr lang="en-US" sz="1400" dirty="0">
                <a:solidFill>
                  <a:schemeClr val="bg2"/>
                </a:solidFill>
                <a:latin typeface="Impact" pitchFamily="34" charset="0"/>
                <a:ea typeface="Impact" pitchFamily="34" charset="-122"/>
                <a:cs typeface="Impact" pitchFamily="34" charset="-120"/>
              </a:rPr>
              <a:t>3</a:t>
            </a:r>
            <a:endParaRPr lang="en-US" sz="1400" dirty="0"/>
          </a:p>
        </p:txBody>
      </p:sp>
      <p:sp>
        <p:nvSpPr>
          <p:cNvPr id="11" name="Shape 9"/>
          <p:cNvSpPr/>
          <p:nvPr/>
        </p:nvSpPr>
        <p:spPr>
          <a:xfrm>
            <a:off x="6592824" y="1623060"/>
            <a:ext cx="210312" cy="0"/>
          </a:xfrm>
          <a:prstGeom prst="line">
            <a:avLst/>
          </a:prstGeom>
          <a:noFill/>
          <a:ln w="31750">
            <a:solidFill>
              <a:schemeClr val="tx1"/>
            </a:solidFill>
            <a:prstDash val="solid"/>
            <a:tailEnd type="triangle"/>
          </a:ln>
        </p:spPr>
      </p:sp>
      <p:sp>
        <p:nvSpPr>
          <p:cNvPr id="12" name="Text 10"/>
          <p:cNvSpPr txBox="1"/>
          <p:nvPr/>
        </p:nvSpPr>
        <p:spPr>
          <a:xfrm>
            <a:off x="6821424" y="1097280"/>
            <a:ext cx="1874520" cy="1051560"/>
          </a:xfrm>
          <a:prstGeom prst="roundRect">
            <a:avLst>
              <a:gd name="adj" fmla="val 6957"/>
            </a:avLst>
          </a:prstGeom>
          <a:solidFill>
            <a:schemeClr val="bg2"/>
          </a:solidFill>
          <a:ln w="25400">
            <a:solidFill>
              <a:schemeClr val="tx1"/>
            </a:solidFill>
          </a:ln>
          <a:effectLst>
            <a:outerShdw sx="100000" sy="100000" kx="0" ky="0" algn="bl" rotWithShape="0" blurRad="101600" dist="38100" dir="2700000">
              <a:srgbClr val="171717">
                <a:alpha val="100000"/>
              </a:srgbClr>
            </a:outerShdw>
          </a:effectLst>
        </p:spPr>
        <p:txBody>
          <a:bodyPr wrap="square" lIns="101600" tIns="101600" rIns="101600" bIns="101600" rtlCol="0" anchor="ctr"/>
          <a:lstStyle/>
          <a:p>
            <a:pPr algn="l" indent="0" marL="0">
              <a:buNone/>
            </a:pPr>
            <a:r>
              <a:rPr lang="en-US" sz="1300" dirty="0">
                <a:solidFill>
                  <a:schemeClr val="tx1"/>
                </a:solidFill>
                <a:latin typeface="Calibri" pitchFamily="34" charset="0"/>
                <a:ea typeface="Calibri" pitchFamily="34" charset="-122"/>
                <a:cs typeface="Calibri" pitchFamily="34" charset="-120"/>
              </a:rPr>
              <a:t>Browser sends the request (as implemented)</a:t>
            </a:r>
            <a:endParaRPr lang="en-US" sz="1300" dirty="0"/>
          </a:p>
        </p:txBody>
      </p:sp>
      <p:sp>
        <p:nvSpPr>
          <p:cNvPr id="13" name="Text 11"/>
          <p:cNvSpPr txBox="1"/>
          <p:nvPr/>
        </p:nvSpPr>
        <p:spPr>
          <a:xfrm>
            <a:off x="6729984" y="987552"/>
            <a:ext cx="329184" cy="329184"/>
          </a:xfrm>
          <a:prstGeom prst="ellipse">
            <a:avLst/>
          </a:prstGeom>
          <a:solidFill>
            <a:schemeClr val="accent1"/>
          </a:solidFill>
          <a:ln w="19050">
            <a:solidFill>
              <a:schemeClr val="tx1"/>
            </a:solidFill>
          </a:ln>
        </p:spPr>
        <p:txBody>
          <a:bodyPr wrap="square" lIns="0" tIns="0" rIns="0" bIns="0" rtlCol="0" anchor="ctr"/>
          <a:lstStyle/>
          <a:p>
            <a:pPr algn="ctr" indent="0" marL="0">
              <a:buNone/>
            </a:pPr>
            <a:r>
              <a:rPr lang="en-US" sz="1400" dirty="0">
                <a:solidFill>
                  <a:schemeClr val="bg2"/>
                </a:solidFill>
                <a:latin typeface="Impact" pitchFamily="34" charset="0"/>
                <a:ea typeface="Impact" pitchFamily="34" charset="-122"/>
                <a:cs typeface="Impact" pitchFamily="34" charset="-120"/>
              </a:rPr>
              <a:t>4</a:t>
            </a:r>
            <a:endParaRPr lang="en-US" sz="1400" dirty="0"/>
          </a:p>
        </p:txBody>
      </p:sp>
      <p:sp>
        <p:nvSpPr>
          <p:cNvPr id="14" name="Shape 12"/>
          <p:cNvSpPr/>
          <p:nvPr/>
        </p:nvSpPr>
        <p:spPr>
          <a:xfrm>
            <a:off x="7758684" y="2167128"/>
            <a:ext cx="0" cy="283464"/>
          </a:xfrm>
          <a:prstGeom prst="line">
            <a:avLst/>
          </a:prstGeom>
          <a:noFill/>
          <a:ln w="31750">
            <a:solidFill>
              <a:schemeClr val="tx1"/>
            </a:solidFill>
            <a:prstDash val="solid"/>
            <a:tailEnd type="triangle"/>
          </a:ln>
        </p:spPr>
      </p:sp>
      <p:sp>
        <p:nvSpPr>
          <p:cNvPr id="15" name="Text 13"/>
          <p:cNvSpPr txBox="1"/>
          <p:nvPr/>
        </p:nvSpPr>
        <p:spPr>
          <a:xfrm>
            <a:off x="6821424" y="2468880"/>
            <a:ext cx="1874520" cy="1051560"/>
          </a:xfrm>
          <a:prstGeom prst="roundRect">
            <a:avLst>
              <a:gd name="adj" fmla="val 6957"/>
            </a:avLst>
          </a:prstGeom>
          <a:solidFill>
            <a:schemeClr val="bg2"/>
          </a:solidFill>
          <a:ln w="25400">
            <a:solidFill>
              <a:schemeClr val="tx1"/>
            </a:solidFill>
          </a:ln>
          <a:effectLst>
            <a:outerShdw sx="100000" sy="100000" kx="0" ky="0" algn="bl" rotWithShape="0" blurRad="101600" dist="38100" dir="2700000">
              <a:srgbClr val="171717">
                <a:alpha val="100000"/>
              </a:srgbClr>
            </a:outerShdw>
          </a:effectLst>
        </p:spPr>
        <p:txBody>
          <a:bodyPr wrap="square" lIns="101600" tIns="101600" rIns="101600" bIns="101600" rtlCol="0" anchor="ctr"/>
          <a:lstStyle/>
          <a:p>
            <a:pPr algn="l" indent="0" marL="0">
              <a:buNone/>
            </a:pPr>
            <a:r>
              <a:rPr lang="en-US" sz="1300" dirty="0">
                <a:solidFill>
                  <a:schemeClr val="tx1"/>
                </a:solidFill>
                <a:latin typeface="Calibri" pitchFamily="34" charset="0"/>
                <a:ea typeface="Calibri" pitchFamily="34" charset="-122"/>
                <a:cs typeface="Calibri" pitchFamily="34" charset="-120"/>
              </a:rPr>
              <a:t>FastAPI receives the request</a:t>
            </a:r>
            <a:endParaRPr lang="en-US" sz="1300" dirty="0"/>
          </a:p>
        </p:txBody>
      </p:sp>
      <p:sp>
        <p:nvSpPr>
          <p:cNvPr id="16" name="Text 14"/>
          <p:cNvSpPr txBox="1"/>
          <p:nvPr/>
        </p:nvSpPr>
        <p:spPr>
          <a:xfrm>
            <a:off x="6729984" y="2359152"/>
            <a:ext cx="329184" cy="329184"/>
          </a:xfrm>
          <a:prstGeom prst="ellipse">
            <a:avLst/>
          </a:prstGeom>
          <a:solidFill>
            <a:schemeClr val="accent1"/>
          </a:solidFill>
          <a:ln w="19050">
            <a:solidFill>
              <a:schemeClr val="tx1"/>
            </a:solidFill>
          </a:ln>
        </p:spPr>
        <p:txBody>
          <a:bodyPr wrap="square" lIns="0" tIns="0" rIns="0" bIns="0" rtlCol="0" anchor="ctr"/>
          <a:lstStyle/>
          <a:p>
            <a:pPr algn="ctr" indent="0" marL="0">
              <a:buNone/>
            </a:pPr>
            <a:r>
              <a:rPr lang="en-US" sz="1400" dirty="0">
                <a:solidFill>
                  <a:schemeClr val="bg2"/>
                </a:solidFill>
                <a:latin typeface="Impact" pitchFamily="34" charset="0"/>
                <a:ea typeface="Impact" pitchFamily="34" charset="-122"/>
                <a:cs typeface="Impact" pitchFamily="34" charset="-120"/>
              </a:rPr>
              <a:t>5</a:t>
            </a:r>
            <a:endParaRPr lang="en-US" sz="1400" dirty="0"/>
          </a:p>
        </p:txBody>
      </p:sp>
      <p:sp>
        <p:nvSpPr>
          <p:cNvPr id="17" name="Shape 15"/>
          <p:cNvSpPr/>
          <p:nvPr/>
        </p:nvSpPr>
        <p:spPr>
          <a:xfrm>
            <a:off x="6592824" y="2994660"/>
            <a:ext cx="210312" cy="0"/>
          </a:xfrm>
          <a:prstGeom prst="line">
            <a:avLst/>
          </a:prstGeom>
          <a:noFill/>
          <a:ln w="31750">
            <a:solidFill>
              <a:schemeClr val="tx1"/>
            </a:solidFill>
            <a:prstDash val="solid"/>
            <a:headEnd type="triangle"/>
          </a:ln>
        </p:spPr>
      </p:sp>
      <p:sp>
        <p:nvSpPr>
          <p:cNvPr id="18" name="Text 16"/>
          <p:cNvSpPr txBox="1"/>
          <p:nvPr/>
        </p:nvSpPr>
        <p:spPr>
          <a:xfrm>
            <a:off x="4700016" y="2468880"/>
            <a:ext cx="1874520" cy="1051560"/>
          </a:xfrm>
          <a:prstGeom prst="roundRect">
            <a:avLst>
              <a:gd name="adj" fmla="val 6957"/>
            </a:avLst>
          </a:prstGeom>
          <a:solidFill>
            <a:schemeClr val="bg2"/>
          </a:solidFill>
          <a:ln w="25400">
            <a:solidFill>
              <a:schemeClr val="tx1"/>
            </a:solidFill>
          </a:ln>
          <a:effectLst>
            <a:outerShdw sx="100000" sy="100000" kx="0" ky="0" algn="bl" rotWithShape="0" blurRad="101600" dist="38100" dir="2700000">
              <a:srgbClr val="171717">
                <a:alpha val="100000"/>
              </a:srgbClr>
            </a:outerShdw>
          </a:effectLst>
        </p:spPr>
        <p:txBody>
          <a:bodyPr wrap="square" lIns="101600" tIns="101600" rIns="101600" bIns="101600" rtlCol="0" anchor="ctr"/>
          <a:lstStyle/>
          <a:p>
            <a:pPr algn="l" indent="0" marL="0">
              <a:buNone/>
            </a:pPr>
            <a:r>
              <a:rPr lang="en-US" sz="1300" dirty="0">
                <a:solidFill>
                  <a:schemeClr val="tx1"/>
                </a:solidFill>
                <a:latin typeface="Calibri" pitchFamily="34" charset="0"/>
                <a:ea typeface="Calibri" pitchFamily="34" charset="-122"/>
                <a:cs typeface="Calibri" pitchFamily="34" charset="-120"/>
              </a:rPr>
              <a:t>Input is validated (Pydantic schema, where used)</a:t>
            </a:r>
            <a:endParaRPr lang="en-US" sz="1300" dirty="0"/>
          </a:p>
        </p:txBody>
      </p:sp>
      <p:sp>
        <p:nvSpPr>
          <p:cNvPr id="19" name="Text 17"/>
          <p:cNvSpPr txBox="1"/>
          <p:nvPr/>
        </p:nvSpPr>
        <p:spPr>
          <a:xfrm>
            <a:off x="4608576" y="2359152"/>
            <a:ext cx="329184" cy="329184"/>
          </a:xfrm>
          <a:prstGeom prst="ellipse">
            <a:avLst/>
          </a:prstGeom>
          <a:solidFill>
            <a:schemeClr val="accent1"/>
          </a:solidFill>
          <a:ln w="19050">
            <a:solidFill>
              <a:schemeClr val="tx1"/>
            </a:solidFill>
          </a:ln>
        </p:spPr>
        <p:txBody>
          <a:bodyPr wrap="square" lIns="0" tIns="0" rIns="0" bIns="0" rtlCol="0" anchor="ctr"/>
          <a:lstStyle/>
          <a:p>
            <a:pPr algn="ctr" indent="0" marL="0">
              <a:buNone/>
            </a:pPr>
            <a:r>
              <a:rPr lang="en-US" sz="1400" dirty="0">
                <a:solidFill>
                  <a:schemeClr val="bg2"/>
                </a:solidFill>
                <a:latin typeface="Impact" pitchFamily="34" charset="0"/>
                <a:ea typeface="Impact" pitchFamily="34" charset="-122"/>
                <a:cs typeface="Impact" pitchFamily="34" charset="-120"/>
              </a:rPr>
              <a:t>6</a:t>
            </a:r>
            <a:endParaRPr lang="en-US" sz="1400" dirty="0"/>
          </a:p>
        </p:txBody>
      </p:sp>
      <p:sp>
        <p:nvSpPr>
          <p:cNvPr id="20" name="Shape 18"/>
          <p:cNvSpPr/>
          <p:nvPr/>
        </p:nvSpPr>
        <p:spPr>
          <a:xfrm>
            <a:off x="4471416" y="2994660"/>
            <a:ext cx="210312" cy="0"/>
          </a:xfrm>
          <a:prstGeom prst="line">
            <a:avLst/>
          </a:prstGeom>
          <a:noFill/>
          <a:ln w="31750">
            <a:solidFill>
              <a:schemeClr val="tx1"/>
            </a:solidFill>
            <a:prstDash val="solid"/>
            <a:headEnd type="triangle"/>
          </a:ln>
        </p:spPr>
      </p:sp>
      <p:sp>
        <p:nvSpPr>
          <p:cNvPr id="21" name="Text 19"/>
          <p:cNvSpPr txBox="1"/>
          <p:nvPr/>
        </p:nvSpPr>
        <p:spPr>
          <a:xfrm>
            <a:off x="2578608" y="2468880"/>
            <a:ext cx="1874520" cy="1051560"/>
          </a:xfrm>
          <a:prstGeom prst="roundRect">
            <a:avLst>
              <a:gd name="adj" fmla="val 6957"/>
            </a:avLst>
          </a:prstGeom>
          <a:solidFill>
            <a:schemeClr val="accent2"/>
          </a:solidFill>
          <a:ln w="25400">
            <a:solidFill>
              <a:schemeClr val="tx1"/>
            </a:solidFill>
          </a:ln>
          <a:effectLst>
            <a:outerShdw sx="100000" sy="100000" kx="0" ky="0" algn="bl" rotWithShape="0" blurRad="101600" dist="38100" dir="2700000">
              <a:srgbClr val="171717">
                <a:alpha val="100000"/>
              </a:srgbClr>
            </a:outerShdw>
          </a:effectLst>
        </p:spPr>
        <p:txBody>
          <a:bodyPr wrap="square" lIns="101600" tIns="101600" rIns="101600" bIns="101600" rtlCol="0" anchor="ctr"/>
          <a:lstStyle/>
          <a:p>
            <a:pPr algn="l" indent="0" marL="0">
              <a:buNone/>
            </a:pPr>
            <a:r>
              <a:rPr lang="en-US" sz="1300" dirty="0">
                <a:solidFill>
                  <a:schemeClr val="bg2"/>
                </a:solidFill>
                <a:latin typeface="Calibri" pitchFamily="34" charset="0"/>
                <a:ea typeface="Calibri" pitchFamily="34" charset="-122"/>
                <a:cs typeface="Calibri" pitchFamily="34" charset="-120"/>
              </a:rPr>
              <a:t>Backend starts the comic-generation workflow</a:t>
            </a:r>
            <a:endParaRPr lang="en-US" sz="1300" dirty="0"/>
          </a:p>
        </p:txBody>
      </p:sp>
      <p:sp>
        <p:nvSpPr>
          <p:cNvPr id="22" name="Text 20"/>
          <p:cNvSpPr txBox="1"/>
          <p:nvPr/>
        </p:nvSpPr>
        <p:spPr>
          <a:xfrm>
            <a:off x="2487168" y="2359152"/>
            <a:ext cx="329184" cy="329184"/>
          </a:xfrm>
          <a:prstGeom prst="ellipse">
            <a:avLst/>
          </a:prstGeom>
          <a:solidFill>
            <a:schemeClr val="accent1"/>
          </a:solidFill>
          <a:ln w="19050">
            <a:solidFill>
              <a:schemeClr val="tx1"/>
            </a:solidFill>
          </a:ln>
        </p:spPr>
        <p:txBody>
          <a:bodyPr wrap="square" lIns="0" tIns="0" rIns="0" bIns="0" rtlCol="0" anchor="ctr"/>
          <a:lstStyle/>
          <a:p>
            <a:pPr algn="ctr" indent="0" marL="0">
              <a:buNone/>
            </a:pPr>
            <a:r>
              <a:rPr lang="en-US" sz="1400" dirty="0">
                <a:solidFill>
                  <a:schemeClr val="bg2"/>
                </a:solidFill>
                <a:latin typeface="Impact" pitchFamily="34" charset="0"/>
                <a:ea typeface="Impact" pitchFamily="34" charset="-122"/>
                <a:cs typeface="Impact" pitchFamily="34" charset="-120"/>
              </a:rPr>
              <a:t>7</a:t>
            </a:r>
            <a:endParaRPr lang="en-US" sz="1400" dirty="0"/>
          </a:p>
        </p:txBody>
      </p:sp>
      <p:sp>
        <p:nvSpPr>
          <p:cNvPr id="23" name="Shape 21"/>
          <p:cNvSpPr/>
          <p:nvPr/>
        </p:nvSpPr>
        <p:spPr>
          <a:xfrm>
            <a:off x="2350008" y="2994660"/>
            <a:ext cx="210312" cy="0"/>
          </a:xfrm>
          <a:prstGeom prst="line">
            <a:avLst/>
          </a:prstGeom>
          <a:noFill/>
          <a:ln w="31750">
            <a:solidFill>
              <a:schemeClr val="tx1"/>
            </a:solidFill>
            <a:prstDash val="solid"/>
            <a:headEnd type="triangle"/>
          </a:ln>
        </p:spPr>
      </p:sp>
      <p:sp>
        <p:nvSpPr>
          <p:cNvPr id="24" name="Text 22"/>
          <p:cNvSpPr txBox="1"/>
          <p:nvPr/>
        </p:nvSpPr>
        <p:spPr>
          <a:xfrm>
            <a:off x="457200" y="2468880"/>
            <a:ext cx="1874520" cy="1051560"/>
          </a:xfrm>
          <a:prstGeom prst="roundRect">
            <a:avLst>
              <a:gd name="adj" fmla="val 6957"/>
            </a:avLst>
          </a:prstGeom>
          <a:solidFill>
            <a:schemeClr val="bg2"/>
          </a:solidFill>
          <a:ln w="25400">
            <a:solidFill>
              <a:schemeClr val="tx1"/>
            </a:solidFill>
          </a:ln>
          <a:effectLst>
            <a:outerShdw sx="100000" sy="100000" kx="0" ky="0" algn="bl" rotWithShape="0" blurRad="101600" dist="38100" dir="2700000">
              <a:srgbClr val="171717">
                <a:alpha val="100000"/>
              </a:srgbClr>
            </a:outerShdw>
          </a:effectLst>
        </p:spPr>
        <p:txBody>
          <a:bodyPr wrap="square" lIns="101600" tIns="101600" rIns="101600" bIns="101600" rtlCol="0" anchor="ctr"/>
          <a:lstStyle/>
          <a:p>
            <a:pPr algn="l" indent="0" marL="0">
              <a:buNone/>
            </a:pPr>
            <a:r>
              <a:rPr lang="en-US" sz="1300" dirty="0">
                <a:solidFill>
                  <a:schemeClr val="tx1"/>
                </a:solidFill>
                <a:latin typeface="Calibri" pitchFamily="34" charset="0"/>
                <a:ea typeface="Calibri" pitchFamily="34" charset="-122"/>
                <a:cs typeface="Calibri" pitchFamily="34" charset="-120"/>
              </a:rPr>
              <a:t>Frontend follows the status updates</a:t>
            </a:r>
            <a:endParaRPr lang="en-US" sz="1300" dirty="0"/>
          </a:p>
        </p:txBody>
      </p:sp>
      <p:sp>
        <p:nvSpPr>
          <p:cNvPr id="25" name="Text 23"/>
          <p:cNvSpPr txBox="1"/>
          <p:nvPr/>
        </p:nvSpPr>
        <p:spPr>
          <a:xfrm>
            <a:off x="365760" y="2359152"/>
            <a:ext cx="329184" cy="329184"/>
          </a:xfrm>
          <a:prstGeom prst="ellipse">
            <a:avLst/>
          </a:prstGeom>
          <a:solidFill>
            <a:schemeClr val="accent1"/>
          </a:solidFill>
          <a:ln w="19050">
            <a:solidFill>
              <a:schemeClr val="tx1"/>
            </a:solidFill>
          </a:ln>
        </p:spPr>
        <p:txBody>
          <a:bodyPr wrap="square" lIns="0" tIns="0" rIns="0" bIns="0" rtlCol="0" anchor="ctr"/>
          <a:lstStyle/>
          <a:p>
            <a:pPr algn="ctr" indent="0" marL="0">
              <a:buNone/>
            </a:pPr>
            <a:r>
              <a:rPr lang="en-US" sz="1400" dirty="0">
                <a:solidFill>
                  <a:schemeClr val="bg2"/>
                </a:solidFill>
                <a:latin typeface="Impact" pitchFamily="34" charset="0"/>
                <a:ea typeface="Impact" pitchFamily="34" charset="-122"/>
                <a:cs typeface="Impact" pitchFamily="34" charset="-120"/>
              </a:rPr>
              <a:t>8</a:t>
            </a:r>
            <a:endParaRPr lang="en-US" sz="1400" dirty="0"/>
          </a:p>
        </p:txBody>
      </p:sp>
      <p:sp>
        <p:nvSpPr>
          <p:cNvPr id="26" name="Shape 24"/>
          <p:cNvSpPr/>
          <p:nvPr/>
        </p:nvSpPr>
        <p:spPr>
          <a:xfrm>
            <a:off x="457200" y="3794760"/>
            <a:ext cx="1874520" cy="914400"/>
          </a:xfrm>
          <a:prstGeom prst="roundRect">
            <a:avLst>
              <a:gd name="adj" fmla="val 8000"/>
            </a:avLst>
          </a:prstGeom>
          <a:solidFill>
            <a:schemeClr val="bg1"/>
          </a:solidFill>
          <a:ln w="19050">
            <a:solidFill>
              <a:schemeClr val="tx1"/>
            </a:solidFill>
            <a:prstDash val="solid"/>
          </a:ln>
        </p:spPr>
      </p:sp>
      <p:sp>
        <p:nvSpPr>
          <p:cNvPr id="27" name="Text 25"/>
          <p:cNvSpPr txBox="1"/>
          <p:nvPr/>
        </p:nvSpPr>
        <p:spPr>
          <a:xfrm>
            <a:off x="502920" y="3813048"/>
            <a:ext cx="1783080" cy="877824"/>
          </a:xfrm>
          <a:prstGeom prst="rect">
            <a:avLst/>
          </a:prstGeom>
          <a:noFill/>
          <a:ln/>
        </p:spPr>
        <p:txBody>
          <a:bodyPr wrap="square" lIns="38100" tIns="38100" rIns="38100" bIns="3810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HTTP request</a:t>
            </a:r>
            <a:endParaRPr lang="en-US" sz="1200" dirty="0"/>
          </a:p>
          <a:p>
            <a:pPr indent="0" marL="0">
              <a:buNone/>
            </a:pPr>
            <a:r>
              <a:rPr lang="en-US" sz="1100" dirty="0">
                <a:solidFill>
                  <a:schemeClr val="tx1"/>
                </a:solidFill>
                <a:latin typeface="Calibri" pitchFamily="34" charset="0"/>
                <a:ea typeface="Calibri" pitchFamily="34" charset="-122"/>
                <a:cs typeface="Calibri" pitchFamily="34" charset="-120"/>
              </a:rPr>
              <a:t>A message from the browser asking the server to do something.</a:t>
            </a:r>
            <a:endParaRPr lang="en-US" sz="1200" dirty="0"/>
          </a:p>
        </p:txBody>
      </p:sp>
      <p:sp>
        <p:nvSpPr>
          <p:cNvPr id="28" name="Shape 26"/>
          <p:cNvSpPr/>
          <p:nvPr/>
        </p:nvSpPr>
        <p:spPr>
          <a:xfrm>
            <a:off x="2578608" y="3794760"/>
            <a:ext cx="1874520" cy="914400"/>
          </a:xfrm>
          <a:prstGeom prst="roundRect">
            <a:avLst>
              <a:gd name="adj" fmla="val 8000"/>
            </a:avLst>
          </a:prstGeom>
          <a:solidFill>
            <a:schemeClr val="bg1"/>
          </a:solidFill>
          <a:ln w="19050">
            <a:solidFill>
              <a:schemeClr val="tx1"/>
            </a:solidFill>
            <a:prstDash val="solid"/>
          </a:ln>
        </p:spPr>
      </p:sp>
      <p:sp>
        <p:nvSpPr>
          <p:cNvPr id="29" name="Text 27"/>
          <p:cNvSpPr txBox="1"/>
          <p:nvPr/>
        </p:nvSpPr>
        <p:spPr>
          <a:xfrm>
            <a:off x="2624328" y="3813048"/>
            <a:ext cx="1783080" cy="877824"/>
          </a:xfrm>
          <a:prstGeom prst="rect">
            <a:avLst/>
          </a:prstGeom>
          <a:noFill/>
          <a:ln/>
        </p:spPr>
        <p:txBody>
          <a:bodyPr wrap="square" lIns="38100" tIns="38100" rIns="38100" bIns="3810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Route</a:t>
            </a:r>
            <a:endParaRPr lang="en-US" sz="1200" dirty="0"/>
          </a:p>
          <a:p>
            <a:pPr indent="0" marL="0">
              <a:buNone/>
            </a:pPr>
            <a:r>
              <a:rPr lang="en-US" sz="1100" dirty="0">
                <a:solidFill>
                  <a:schemeClr val="tx1"/>
                </a:solidFill>
                <a:latin typeface="Calibri" pitchFamily="34" charset="0"/>
                <a:ea typeface="Calibri" pitchFamily="34" charset="-122"/>
                <a:cs typeface="Calibri" pitchFamily="34" charset="-120"/>
              </a:rPr>
              <a:t>A URL plus method the server listens on, e.g. POST /api/comics (conceptual).</a:t>
            </a:r>
            <a:endParaRPr lang="en-US" sz="1200" dirty="0"/>
          </a:p>
        </p:txBody>
      </p:sp>
      <p:sp>
        <p:nvSpPr>
          <p:cNvPr id="30" name="Shape 28"/>
          <p:cNvSpPr/>
          <p:nvPr/>
        </p:nvSpPr>
        <p:spPr>
          <a:xfrm>
            <a:off x="4700016" y="3794760"/>
            <a:ext cx="1874520" cy="914400"/>
          </a:xfrm>
          <a:prstGeom prst="roundRect">
            <a:avLst>
              <a:gd name="adj" fmla="val 8000"/>
            </a:avLst>
          </a:prstGeom>
          <a:solidFill>
            <a:schemeClr val="bg1"/>
          </a:solidFill>
          <a:ln w="19050">
            <a:solidFill>
              <a:schemeClr val="tx1"/>
            </a:solidFill>
            <a:prstDash val="solid"/>
          </a:ln>
        </p:spPr>
      </p:sp>
      <p:sp>
        <p:nvSpPr>
          <p:cNvPr id="31" name="Text 29"/>
          <p:cNvSpPr txBox="1"/>
          <p:nvPr/>
        </p:nvSpPr>
        <p:spPr>
          <a:xfrm>
            <a:off x="4745736" y="3813048"/>
            <a:ext cx="1783080" cy="877824"/>
          </a:xfrm>
          <a:prstGeom prst="rect">
            <a:avLst/>
          </a:prstGeom>
          <a:noFill/>
          <a:ln/>
        </p:spPr>
        <p:txBody>
          <a:bodyPr wrap="square" lIns="38100" tIns="38100" rIns="38100" bIns="3810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Request body</a:t>
            </a:r>
            <a:endParaRPr lang="en-US" sz="1200" dirty="0"/>
          </a:p>
          <a:p>
            <a:pPr indent="0" marL="0">
              <a:buNone/>
            </a:pPr>
            <a:r>
              <a:rPr lang="en-US" sz="1100" dirty="0">
                <a:solidFill>
                  <a:schemeClr val="tx1"/>
                </a:solidFill>
                <a:latin typeface="Calibri" pitchFamily="34" charset="0"/>
                <a:ea typeface="Calibri" pitchFamily="34" charset="-122"/>
                <a:cs typeface="Calibri" pitchFamily="34" charset="-120"/>
              </a:rPr>
              <a:t>The data sent along: story idea, style, tone, character.</a:t>
            </a:r>
            <a:endParaRPr lang="en-US" sz="1200" dirty="0"/>
          </a:p>
        </p:txBody>
      </p:sp>
      <p:sp>
        <p:nvSpPr>
          <p:cNvPr id="32" name="Shape 30"/>
          <p:cNvSpPr/>
          <p:nvPr/>
        </p:nvSpPr>
        <p:spPr>
          <a:xfrm>
            <a:off x="6821424" y="3794760"/>
            <a:ext cx="1874520" cy="914400"/>
          </a:xfrm>
          <a:prstGeom prst="roundRect">
            <a:avLst>
              <a:gd name="adj" fmla="val 8000"/>
            </a:avLst>
          </a:prstGeom>
          <a:solidFill>
            <a:schemeClr val="bg1"/>
          </a:solidFill>
          <a:ln w="19050">
            <a:solidFill>
              <a:schemeClr val="tx1"/>
            </a:solidFill>
            <a:prstDash val="solid"/>
          </a:ln>
        </p:spPr>
      </p:sp>
      <p:sp>
        <p:nvSpPr>
          <p:cNvPr id="33" name="Text 31"/>
          <p:cNvSpPr txBox="1"/>
          <p:nvPr/>
        </p:nvSpPr>
        <p:spPr>
          <a:xfrm>
            <a:off x="6867144" y="3813048"/>
            <a:ext cx="1783080" cy="877824"/>
          </a:xfrm>
          <a:prstGeom prst="rect">
            <a:avLst/>
          </a:prstGeom>
          <a:noFill/>
          <a:ln/>
        </p:spPr>
        <p:txBody>
          <a:bodyPr wrap="square" lIns="38100" tIns="38100" rIns="38100" bIns="3810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Response</a:t>
            </a:r>
            <a:endParaRPr lang="en-US" sz="1200" dirty="0"/>
          </a:p>
          <a:p>
            <a:pPr indent="0" marL="0">
              <a:buNone/>
            </a:pPr>
            <a:r>
              <a:rPr lang="en-US" sz="1100" dirty="0">
                <a:solidFill>
                  <a:schemeClr val="tx1"/>
                </a:solidFill>
                <a:latin typeface="Calibri" pitchFamily="34" charset="0"/>
                <a:ea typeface="Calibri" pitchFamily="34" charset="-122"/>
                <a:cs typeface="Calibri" pitchFamily="34" charset="-120"/>
              </a:rPr>
              <a:t>What the server sends back, e.g. a comic id and its status.</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dirty="0">
                <a:solidFill>
                  <a:schemeClr val="tx1"/>
                </a:solidFill>
                <a:latin typeface="Impact" pitchFamily="34" charset="0"/>
                <a:ea typeface="Impact" pitchFamily="34" charset="-122"/>
                <a:cs typeface="Impact" pitchFamily="34" charset="-120"/>
              </a:rPr>
              <a:t>Backend: FastAPI and Application Logic</a:t>
            </a:r>
            <a:endParaRPr lang="en-US" sz="3000" dirty="0"/>
          </a:p>
        </p:txBody>
      </p:sp>
      <p:sp>
        <p:nvSpPr>
          <p:cNvPr id="3" name="Text 1"/>
          <p:cNvSpPr txBox="1"/>
          <p:nvPr/>
        </p:nvSpPr>
        <p:spPr>
          <a:xfrm>
            <a:off x="457200" y="1097280"/>
            <a:ext cx="1463040" cy="640080"/>
          </a:xfrm>
          <a:prstGeom prst="roundRect">
            <a:avLst>
              <a:gd name="adj" fmla="val 11429"/>
            </a:avLst>
          </a:prstGeom>
          <a:solidFill>
            <a:schemeClr val="bg2"/>
          </a:solidFill>
          <a:ln w="25400">
            <a:solidFill>
              <a:schemeClr val="tx1"/>
            </a:solidFill>
          </a:ln>
          <a:effectLst>
            <a:outerShdw sx="100000" sy="100000" kx="0" ky="0" algn="bl" rotWithShape="0" blurRad="101600" dist="38100" dir="2700000">
              <a:srgbClr val="171717">
                <a:alpha val="100000"/>
              </a:srgbClr>
            </a:outerShdw>
          </a:effectLst>
        </p:spPr>
        <p:txBody>
          <a:bodyPr wrap="square" lIns="50800" tIns="50800" rIns="50800" bIns="5080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HTTP Request</a:t>
            </a:r>
            <a:endParaRPr lang="en-US" sz="1300" dirty="0"/>
          </a:p>
        </p:txBody>
      </p:sp>
      <p:sp>
        <p:nvSpPr>
          <p:cNvPr id="4" name="Shape 2"/>
          <p:cNvSpPr/>
          <p:nvPr/>
        </p:nvSpPr>
        <p:spPr>
          <a:xfrm>
            <a:off x="1938528" y="1417320"/>
            <a:ext cx="192024" cy="0"/>
          </a:xfrm>
          <a:prstGeom prst="line">
            <a:avLst/>
          </a:prstGeom>
          <a:noFill/>
          <a:ln w="31750">
            <a:solidFill>
              <a:schemeClr val="tx1"/>
            </a:solidFill>
            <a:prstDash val="solid"/>
            <a:tailEnd type="triangle"/>
          </a:ln>
        </p:spPr>
      </p:sp>
      <p:sp>
        <p:nvSpPr>
          <p:cNvPr id="5" name="Text 3"/>
          <p:cNvSpPr txBox="1"/>
          <p:nvPr/>
        </p:nvSpPr>
        <p:spPr>
          <a:xfrm>
            <a:off x="2148840" y="1097280"/>
            <a:ext cx="1463040" cy="640080"/>
          </a:xfrm>
          <a:prstGeom prst="roundRect">
            <a:avLst>
              <a:gd name="adj" fmla="val 11429"/>
            </a:avLst>
          </a:prstGeom>
          <a:solidFill>
            <a:schemeClr val="accent2"/>
          </a:solidFill>
          <a:ln w="25400">
            <a:solidFill>
              <a:schemeClr val="tx1"/>
            </a:solidFill>
          </a:ln>
          <a:effectLst>
            <a:outerShdw sx="100000" sy="100000" kx="0" ky="0" algn="bl" rotWithShape="0" blurRad="101600" dist="38100" dir="2700000">
              <a:srgbClr val="171717">
                <a:alpha val="100000"/>
              </a:srgbClr>
            </a:outerShdw>
          </a:effectLst>
        </p:spPr>
        <p:txBody>
          <a:bodyPr wrap="square" lIns="50800" tIns="50800" rIns="50800" bIns="50800" rtlCol="0" anchor="ctr"/>
          <a:lstStyle/>
          <a:p>
            <a:pPr algn="ctr" indent="0" marL="0">
              <a:buNone/>
            </a:pPr>
            <a:r>
              <a:rPr lang="en-US" sz="1300" b="1" dirty="0">
                <a:solidFill>
                  <a:schemeClr val="bg2"/>
                </a:solidFill>
                <a:latin typeface="Calibri" pitchFamily="34" charset="0"/>
                <a:ea typeface="Calibri" pitchFamily="34" charset="-122"/>
                <a:cs typeface="Calibri" pitchFamily="34" charset="-120"/>
              </a:rPr>
              <a:t>FastAPI Route</a:t>
            </a:r>
            <a:endParaRPr lang="en-US" sz="1300" dirty="0"/>
          </a:p>
        </p:txBody>
      </p:sp>
      <p:sp>
        <p:nvSpPr>
          <p:cNvPr id="6" name="Shape 4"/>
          <p:cNvSpPr/>
          <p:nvPr/>
        </p:nvSpPr>
        <p:spPr>
          <a:xfrm>
            <a:off x="3630168" y="1417320"/>
            <a:ext cx="192024" cy="0"/>
          </a:xfrm>
          <a:prstGeom prst="line">
            <a:avLst/>
          </a:prstGeom>
          <a:noFill/>
          <a:ln w="31750">
            <a:solidFill>
              <a:schemeClr val="tx1"/>
            </a:solidFill>
            <a:prstDash val="solid"/>
            <a:tailEnd type="triangle"/>
          </a:ln>
        </p:spPr>
      </p:sp>
      <p:sp>
        <p:nvSpPr>
          <p:cNvPr id="7" name="Text 5"/>
          <p:cNvSpPr txBox="1"/>
          <p:nvPr/>
        </p:nvSpPr>
        <p:spPr>
          <a:xfrm>
            <a:off x="3840480" y="1097280"/>
            <a:ext cx="1463040" cy="640080"/>
          </a:xfrm>
          <a:prstGeom prst="roundRect">
            <a:avLst>
              <a:gd name="adj" fmla="val 11429"/>
            </a:avLst>
          </a:prstGeom>
          <a:solidFill>
            <a:schemeClr val="accent3"/>
          </a:solidFill>
          <a:ln w="25400">
            <a:solidFill>
              <a:schemeClr val="tx1"/>
            </a:solidFill>
          </a:ln>
          <a:effectLst>
            <a:outerShdw sx="100000" sy="100000" kx="0" ky="0" algn="bl" rotWithShape="0" blurRad="101600" dist="38100" dir="2700000">
              <a:srgbClr val="171717">
                <a:alpha val="100000"/>
              </a:srgbClr>
            </a:outerShdw>
          </a:effectLst>
        </p:spPr>
        <p:txBody>
          <a:bodyPr wrap="square" lIns="50800" tIns="50800" rIns="50800" bIns="5080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Pydantic Validation</a:t>
            </a:r>
            <a:endParaRPr lang="en-US" sz="1300" dirty="0"/>
          </a:p>
        </p:txBody>
      </p:sp>
      <p:sp>
        <p:nvSpPr>
          <p:cNvPr id="8" name="Shape 6"/>
          <p:cNvSpPr/>
          <p:nvPr/>
        </p:nvSpPr>
        <p:spPr>
          <a:xfrm>
            <a:off x="5321808" y="1417320"/>
            <a:ext cx="192024" cy="0"/>
          </a:xfrm>
          <a:prstGeom prst="line">
            <a:avLst/>
          </a:prstGeom>
          <a:noFill/>
          <a:ln w="31750">
            <a:solidFill>
              <a:schemeClr val="tx1"/>
            </a:solidFill>
            <a:prstDash val="solid"/>
            <a:tailEnd type="triangle"/>
          </a:ln>
        </p:spPr>
      </p:sp>
      <p:sp>
        <p:nvSpPr>
          <p:cNvPr id="9" name="Text 7"/>
          <p:cNvSpPr txBox="1"/>
          <p:nvPr/>
        </p:nvSpPr>
        <p:spPr>
          <a:xfrm>
            <a:off x="5532120" y="1097280"/>
            <a:ext cx="1463040" cy="640080"/>
          </a:xfrm>
          <a:prstGeom prst="roundRect">
            <a:avLst>
              <a:gd name="adj" fmla="val 11429"/>
            </a:avLst>
          </a:prstGeom>
          <a:solidFill>
            <a:schemeClr val="accent1"/>
          </a:solidFill>
          <a:ln w="25400">
            <a:solidFill>
              <a:schemeClr val="tx1"/>
            </a:solidFill>
          </a:ln>
          <a:effectLst>
            <a:outerShdw sx="100000" sy="100000" kx="0" ky="0" algn="bl" rotWithShape="0" blurRad="101600" dist="38100" dir="2700000">
              <a:srgbClr val="171717">
                <a:alpha val="100000"/>
              </a:srgbClr>
            </a:outerShdw>
          </a:effectLst>
        </p:spPr>
        <p:txBody>
          <a:bodyPr wrap="square" lIns="50800" tIns="50800" rIns="50800" bIns="50800" rtlCol="0" anchor="ctr"/>
          <a:lstStyle/>
          <a:p>
            <a:pPr algn="ctr" indent="0" marL="0">
              <a:buNone/>
            </a:pPr>
            <a:r>
              <a:rPr lang="en-US" sz="1300" b="1" dirty="0">
                <a:solidFill>
                  <a:schemeClr val="bg2"/>
                </a:solidFill>
                <a:latin typeface="Calibri" pitchFamily="34" charset="0"/>
                <a:ea typeface="Calibri" pitchFamily="34" charset="-122"/>
                <a:cs typeface="Calibri" pitchFamily="34" charset="-120"/>
              </a:rPr>
              <a:t>Comic Service</a:t>
            </a:r>
            <a:endParaRPr lang="en-US" sz="1300" dirty="0"/>
          </a:p>
        </p:txBody>
      </p:sp>
      <p:sp>
        <p:nvSpPr>
          <p:cNvPr id="10" name="Shape 8"/>
          <p:cNvSpPr/>
          <p:nvPr/>
        </p:nvSpPr>
        <p:spPr>
          <a:xfrm>
            <a:off x="7013448" y="1417320"/>
            <a:ext cx="192024" cy="0"/>
          </a:xfrm>
          <a:prstGeom prst="line">
            <a:avLst/>
          </a:prstGeom>
          <a:noFill/>
          <a:ln w="31750">
            <a:solidFill>
              <a:schemeClr val="tx1"/>
            </a:solidFill>
            <a:prstDash val="solid"/>
            <a:tailEnd type="triangle"/>
          </a:ln>
        </p:spPr>
      </p:sp>
      <p:sp>
        <p:nvSpPr>
          <p:cNvPr id="11" name="Text 9"/>
          <p:cNvSpPr txBox="1"/>
          <p:nvPr/>
        </p:nvSpPr>
        <p:spPr>
          <a:xfrm>
            <a:off x="7223760" y="1097280"/>
            <a:ext cx="1463040" cy="640080"/>
          </a:xfrm>
          <a:prstGeom prst="roundRect">
            <a:avLst>
              <a:gd name="adj" fmla="val 11429"/>
            </a:avLst>
          </a:prstGeom>
          <a:solidFill>
            <a:schemeClr val="bg2"/>
          </a:solidFill>
          <a:ln w="25400">
            <a:solidFill>
              <a:schemeClr val="tx1"/>
            </a:solidFill>
          </a:ln>
          <a:effectLst>
            <a:outerShdw sx="100000" sy="100000" kx="0" ky="0" algn="bl" rotWithShape="0" blurRad="101600" dist="38100" dir="2700000">
              <a:srgbClr val="171717">
                <a:alpha val="100000"/>
              </a:srgbClr>
            </a:outerShdw>
          </a:effectLst>
        </p:spPr>
        <p:txBody>
          <a:bodyPr wrap="square" lIns="50800" tIns="50800" rIns="50800" bIns="5080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Response</a:t>
            </a:r>
            <a:endParaRPr lang="en-US" sz="1300" dirty="0"/>
          </a:p>
        </p:txBody>
      </p:sp>
      <p:sp>
        <p:nvSpPr>
          <p:cNvPr id="12" name="Shape 10"/>
          <p:cNvSpPr/>
          <p:nvPr/>
        </p:nvSpPr>
        <p:spPr>
          <a:xfrm>
            <a:off x="457200" y="2011680"/>
            <a:ext cx="3931920" cy="2514600"/>
          </a:xfrm>
          <a:prstGeom prst="roundRect">
            <a:avLst>
              <a:gd name="adj" fmla="val 2909"/>
            </a:avLst>
          </a:prstGeom>
          <a:solidFill>
            <a:schemeClr val="bg2"/>
          </a:solidFill>
          <a:ln w="25400">
            <a:solidFill>
              <a:schemeClr val="tx1"/>
            </a:solidFill>
            <a:prstDash val="solid"/>
          </a:ln>
          <a:effectLst>
            <a:outerShdw sx="100000" sy="100000" kx="0" ky="0" algn="bl" rotWithShape="0" blurRad="101600" dist="38100" dir="2700000">
              <a:srgbClr val="171717">
                <a:alpha val="100000"/>
              </a:srgbClr>
            </a:outerShdw>
          </a:effectLst>
        </p:spPr>
      </p:sp>
      <p:sp>
        <p:nvSpPr>
          <p:cNvPr id="13" name="Text 11"/>
          <p:cNvSpPr txBox="1"/>
          <p:nvPr/>
        </p:nvSpPr>
        <p:spPr>
          <a:xfrm>
            <a:off x="640080" y="2075688"/>
            <a:ext cx="3200400" cy="320040"/>
          </a:xfrm>
          <a:prstGeom prst="rect">
            <a:avLst/>
          </a:prstGeom>
          <a:noFill/>
          <a:ln/>
        </p:spPr>
        <p:txBody>
          <a:bodyPr wrap="square" lIns="0" tIns="0" rIns="0" bIns="0" rtlCol="0" anchor="ctr"/>
          <a:lstStyle/>
          <a:p>
            <a:pPr indent="0" marL="0">
              <a:buNone/>
            </a:pPr>
            <a:r>
              <a:rPr lang="en-US" sz="1600" dirty="0">
                <a:solidFill>
                  <a:schemeClr val="accent1"/>
                </a:solidFill>
                <a:latin typeface="Impact" pitchFamily="34" charset="0"/>
                <a:ea typeface="Impact" pitchFamily="34" charset="-122"/>
                <a:cs typeface="Impact" pitchFamily="34" charset="-120"/>
              </a:rPr>
              <a:t>Responsibilities</a:t>
            </a:r>
            <a:endParaRPr lang="en-US" sz="1600" dirty="0"/>
          </a:p>
        </p:txBody>
      </p:sp>
      <p:sp>
        <p:nvSpPr>
          <p:cNvPr id="14" name="Text 12"/>
          <p:cNvSpPr txBox="1"/>
          <p:nvPr/>
        </p:nvSpPr>
        <p:spPr>
          <a:xfrm>
            <a:off x="640080" y="2468880"/>
            <a:ext cx="3611880" cy="1965960"/>
          </a:xfrm>
          <a:prstGeom prst="rect">
            <a:avLst/>
          </a:prstGeom>
          <a:noFill/>
          <a:ln/>
        </p:spPr>
        <p:txBody>
          <a:bodyPr wrap="square" lIns="0" tIns="0" rIns="0" bIns="0" rtlCol="0" anchor="t"/>
          <a:lstStyle/>
          <a:p>
            <a:pPr marL="342900" indent="-342900">
              <a:spcAft>
                <a:spcPts val="700"/>
              </a:spcAft>
              <a:buSzPct val="100000"/>
              <a:buChar char="•"/>
            </a:pPr>
            <a:r>
              <a:rPr lang="en-US" sz="1400" b="1" dirty="0">
                <a:solidFill>
                  <a:schemeClr val="tx1"/>
                </a:solidFill>
                <a:latin typeface="Calibri" pitchFamily="34" charset="0"/>
                <a:ea typeface="Calibri" pitchFamily="34" charset="-122"/>
                <a:cs typeface="Calibri" pitchFamily="34" charset="-120"/>
              </a:rPr>
              <a:t>Uvicorn: </a:t>
            </a:r>
            <a:pPr indent="0" marL="0">
              <a:buNone/>
            </a:pPr>
            <a:r>
              <a:rPr lang="en-US" sz="1400" dirty="0">
                <a:solidFill>
                  <a:schemeClr val="tx1"/>
                </a:solidFill>
                <a:latin typeface="Calibri" pitchFamily="34" charset="0"/>
                <a:ea typeface="Calibri" pitchFamily="34" charset="-122"/>
                <a:cs typeface="Calibri" pitchFamily="34" charset="-120"/>
              </a:rPr>
              <a:t>runs the server</a:t>
            </a:r>
            <a:endParaRPr lang="en-US" sz="1400" dirty="0"/>
          </a:p>
          <a:p>
            <a:pPr marL="342900" indent="-342900">
              <a:spcAft>
                <a:spcPts val="700"/>
              </a:spcAft>
              <a:buSzPct val="100000"/>
              <a:buChar char="•"/>
            </a:pPr>
            <a:r>
              <a:rPr lang="en-US" sz="1400" b="1" dirty="0">
                <a:solidFill>
                  <a:schemeClr val="tx1"/>
                </a:solidFill>
                <a:latin typeface="Calibri" pitchFamily="34" charset="0"/>
                <a:ea typeface="Calibri" pitchFamily="34" charset="-122"/>
                <a:cs typeface="Calibri" pitchFamily="34" charset="-120"/>
              </a:rPr>
              <a:t>FastAPI: </a:t>
            </a:r>
            <a:pPr indent="0" marL="0">
              <a:buNone/>
            </a:pPr>
            <a:r>
              <a:rPr lang="en-US" sz="1400" dirty="0">
                <a:solidFill>
                  <a:schemeClr val="tx1"/>
                </a:solidFill>
                <a:latin typeface="Calibri" pitchFamily="34" charset="0"/>
                <a:ea typeface="Calibri" pitchFamily="34" charset="-122"/>
                <a:cs typeface="Calibri" pitchFamily="34" charset="-120"/>
              </a:rPr>
              <a:t>matches requests to routes</a:t>
            </a:r>
            <a:endParaRPr lang="en-US" sz="1400" dirty="0"/>
          </a:p>
          <a:p>
            <a:pPr marL="342900" indent="-342900">
              <a:spcAft>
                <a:spcPts val="700"/>
              </a:spcAft>
              <a:buSzPct val="100000"/>
              <a:buChar char="•"/>
            </a:pPr>
            <a:r>
              <a:rPr lang="en-US" sz="1400" b="1" dirty="0">
                <a:solidFill>
                  <a:schemeClr val="tx1"/>
                </a:solidFill>
                <a:latin typeface="Calibri" pitchFamily="34" charset="0"/>
                <a:ea typeface="Calibri" pitchFamily="34" charset="-122"/>
                <a:cs typeface="Calibri" pitchFamily="34" charset="-120"/>
              </a:rPr>
              <a:t>Pydantic: </a:t>
            </a:r>
            <a:pPr indent="0" marL="0">
              <a:buNone/>
            </a:pPr>
            <a:r>
              <a:rPr lang="en-US" sz="1400" dirty="0">
                <a:solidFill>
                  <a:schemeClr val="tx1"/>
                </a:solidFill>
                <a:latin typeface="Calibri" pitchFamily="34" charset="0"/>
                <a:ea typeface="Calibri" pitchFamily="34" charset="-122"/>
                <a:cs typeface="Calibri" pitchFamily="34" charset="-120"/>
              </a:rPr>
              <a:t>validates data, when used</a:t>
            </a:r>
            <a:endParaRPr lang="en-US" sz="1400" dirty="0"/>
          </a:p>
          <a:p>
            <a:pPr marL="342900" indent="-342900">
              <a:spcAft>
                <a:spcPts val="700"/>
              </a:spcAft>
              <a:buSzPct val="100000"/>
              <a:buChar char="•"/>
            </a:pPr>
            <a:r>
              <a:rPr lang="en-US" sz="1400" b="1" dirty="0">
                <a:solidFill>
                  <a:schemeClr val="tx1"/>
                </a:solidFill>
                <a:latin typeface="Calibri" pitchFamily="34" charset="0"/>
                <a:ea typeface="Calibri" pitchFamily="34" charset="-122"/>
                <a:cs typeface="Calibri" pitchFamily="34" charset="-120"/>
              </a:rPr>
              <a:t>Comic service: </a:t>
            </a:r>
            <a:pPr indent="0" marL="0">
              <a:buNone/>
            </a:pPr>
            <a:r>
              <a:rPr lang="en-US" sz="1400" dirty="0">
                <a:solidFill>
                  <a:schemeClr val="tx1"/>
                </a:solidFill>
                <a:latin typeface="Calibri" pitchFamily="34" charset="0"/>
                <a:ea typeface="Calibri" pitchFamily="34" charset="-122"/>
                <a:cs typeface="Calibri" pitchFamily="34" charset="-120"/>
              </a:rPr>
              <a:t>coordinates generation</a:t>
            </a:r>
            <a:endParaRPr lang="en-US" sz="1400" dirty="0"/>
          </a:p>
          <a:p>
            <a:pPr marL="342900" indent="-342900">
              <a:spcAft>
                <a:spcPts val="700"/>
              </a:spcAft>
              <a:buSzPct val="100000"/>
              <a:buChar char="•"/>
            </a:pPr>
            <a:r>
              <a:rPr lang="en-US" sz="1400" b="1" dirty="0">
                <a:solidFill>
                  <a:schemeClr val="tx1"/>
                </a:solidFill>
                <a:latin typeface="Calibri" pitchFamily="34" charset="0"/>
                <a:ea typeface="Calibri" pitchFamily="34" charset="-122"/>
                <a:cs typeface="Calibri" pitchFamily="34" charset="-120"/>
              </a:rPr>
              <a:t>Backend: </a:t>
            </a:r>
            <a:pPr indent="0" marL="0">
              <a:buNone/>
            </a:pPr>
            <a:r>
              <a:rPr lang="en-US" sz="1400" dirty="0">
                <a:solidFill>
                  <a:schemeClr val="tx1"/>
                </a:solidFill>
                <a:latin typeface="Calibri" pitchFamily="34" charset="0"/>
                <a:ea typeface="Calibri" pitchFamily="34" charset="-122"/>
                <a:cs typeface="Calibri" pitchFamily="34" charset="-120"/>
              </a:rPr>
              <a:t>sends the response to the browser</a:t>
            </a:r>
            <a:endParaRPr lang="en-US" sz="1400" dirty="0"/>
          </a:p>
        </p:txBody>
      </p:sp>
      <p:sp>
        <p:nvSpPr>
          <p:cNvPr id="15" name="Shape 13"/>
          <p:cNvSpPr/>
          <p:nvPr/>
        </p:nvSpPr>
        <p:spPr>
          <a:xfrm>
            <a:off x="4572000" y="2011680"/>
            <a:ext cx="2011680" cy="1188720"/>
          </a:xfrm>
          <a:prstGeom prst="roundRect">
            <a:avLst>
              <a:gd name="adj" fmla="val 6154"/>
            </a:avLst>
          </a:prstGeom>
          <a:solidFill>
            <a:schemeClr val="bg2"/>
          </a:solidFill>
          <a:ln w="25400">
            <a:solidFill>
              <a:schemeClr val="tx1"/>
            </a:solidFill>
            <a:prstDash val="solid"/>
          </a:ln>
          <a:effectLst>
            <a:outerShdw sx="100000" sy="100000" kx="0" ky="0" algn="bl" rotWithShape="0" blurRad="101600" dist="38100" dir="2700000">
              <a:srgbClr val="171717">
                <a:alpha val="100000"/>
              </a:srgbClr>
            </a:outerShdw>
          </a:effectLst>
        </p:spPr>
      </p:sp>
      <p:sp>
        <p:nvSpPr>
          <p:cNvPr id="16" name="Text 14"/>
          <p:cNvSpPr txBox="1"/>
          <p:nvPr/>
        </p:nvSpPr>
        <p:spPr>
          <a:xfrm>
            <a:off x="4617720" y="2039112"/>
            <a:ext cx="1920240" cy="1133856"/>
          </a:xfrm>
          <a:prstGeom prst="rect">
            <a:avLst/>
          </a:prstGeom>
          <a:noFill/>
          <a:ln/>
        </p:spPr>
        <p:txBody>
          <a:bodyPr wrap="square" lIns="63500" tIns="63500" rIns="63500" bIns="63500" rtlCol="0" anchor="ctr"/>
          <a:lstStyle/>
          <a:p>
            <a:pPr indent="0" marL="0">
              <a:buNone/>
            </a:pPr>
            <a:r>
              <a:rPr lang="en-US" sz="1600" dirty="0">
                <a:solidFill>
                  <a:schemeClr val="tx1"/>
                </a:solidFill>
                <a:latin typeface="Impact" pitchFamily="34" charset="0"/>
                <a:ea typeface="Impact" pitchFamily="34" charset="-122"/>
                <a:cs typeface="Impact" pitchFamily="34" charset="-120"/>
              </a:rPr>
              <a:t>Route</a:t>
            </a:r>
            <a:endParaRPr lang="en-US" sz="1600" dirty="0"/>
          </a:p>
          <a:p>
            <a:pPr indent="0" marL="0">
              <a:buNone/>
            </a:pPr>
            <a:r>
              <a:rPr lang="en-US" sz="1200" dirty="0">
                <a:solidFill>
                  <a:schemeClr val="tx1"/>
                </a:solidFill>
                <a:latin typeface="Calibri" pitchFamily="34" charset="0"/>
                <a:ea typeface="Calibri" pitchFamily="34" charset="-122"/>
                <a:cs typeface="Calibri" pitchFamily="34" charset="-120"/>
              </a:rPr>
              <a:t>The door. Matches a URL and method to a function.</a:t>
            </a:r>
            <a:endParaRPr lang="en-US" sz="1600" dirty="0"/>
          </a:p>
        </p:txBody>
      </p:sp>
      <p:sp>
        <p:nvSpPr>
          <p:cNvPr id="17" name="Shape 15"/>
          <p:cNvSpPr/>
          <p:nvPr/>
        </p:nvSpPr>
        <p:spPr>
          <a:xfrm>
            <a:off x="6675120" y="2011680"/>
            <a:ext cx="2011680" cy="1188720"/>
          </a:xfrm>
          <a:prstGeom prst="roundRect">
            <a:avLst>
              <a:gd name="adj" fmla="val 6154"/>
            </a:avLst>
          </a:prstGeom>
          <a:solidFill>
            <a:schemeClr val="accent3"/>
          </a:solidFill>
          <a:ln w="25400">
            <a:solidFill>
              <a:schemeClr val="tx1"/>
            </a:solidFill>
            <a:prstDash val="solid"/>
          </a:ln>
          <a:effectLst>
            <a:outerShdw sx="100000" sy="100000" kx="0" ky="0" algn="bl" rotWithShape="0" blurRad="101600" dist="38100" dir="2700000">
              <a:srgbClr val="171717">
                <a:alpha val="100000"/>
              </a:srgbClr>
            </a:outerShdw>
          </a:effectLst>
        </p:spPr>
      </p:sp>
      <p:sp>
        <p:nvSpPr>
          <p:cNvPr id="18" name="Text 16"/>
          <p:cNvSpPr txBox="1"/>
          <p:nvPr/>
        </p:nvSpPr>
        <p:spPr>
          <a:xfrm>
            <a:off x="6720840" y="2039112"/>
            <a:ext cx="1920240" cy="1133856"/>
          </a:xfrm>
          <a:prstGeom prst="rect">
            <a:avLst/>
          </a:prstGeom>
          <a:noFill/>
          <a:ln/>
        </p:spPr>
        <p:txBody>
          <a:bodyPr wrap="square" lIns="63500" tIns="63500" rIns="63500" bIns="63500" rtlCol="0" anchor="ctr"/>
          <a:lstStyle/>
          <a:p>
            <a:pPr indent="0" marL="0">
              <a:buNone/>
            </a:pPr>
            <a:r>
              <a:rPr lang="en-US" sz="1600" dirty="0">
                <a:solidFill>
                  <a:schemeClr val="tx1"/>
                </a:solidFill>
                <a:latin typeface="Impact" pitchFamily="34" charset="0"/>
                <a:ea typeface="Impact" pitchFamily="34" charset="-122"/>
                <a:cs typeface="Impact" pitchFamily="34" charset="-120"/>
              </a:rPr>
              <a:t>Schema</a:t>
            </a:r>
            <a:endParaRPr lang="en-US" sz="1600" dirty="0"/>
          </a:p>
          <a:p>
            <a:pPr indent="0" marL="0">
              <a:buNone/>
            </a:pPr>
            <a:r>
              <a:rPr lang="en-US" sz="1200" dirty="0">
                <a:solidFill>
                  <a:schemeClr val="tx1"/>
                </a:solidFill>
                <a:latin typeface="Calibri" pitchFamily="34" charset="0"/>
                <a:ea typeface="Calibri" pitchFamily="34" charset="-122"/>
                <a:cs typeface="Calibri" pitchFamily="34" charset="-120"/>
              </a:rPr>
              <a:t>The rules. Describes what valid input looks like.</a:t>
            </a:r>
            <a:endParaRPr lang="en-US" sz="1600" dirty="0"/>
          </a:p>
        </p:txBody>
      </p:sp>
      <p:sp>
        <p:nvSpPr>
          <p:cNvPr id="19" name="Shape 17"/>
          <p:cNvSpPr/>
          <p:nvPr/>
        </p:nvSpPr>
        <p:spPr>
          <a:xfrm>
            <a:off x="4572000" y="3291840"/>
            <a:ext cx="2011680" cy="1188720"/>
          </a:xfrm>
          <a:prstGeom prst="roundRect">
            <a:avLst>
              <a:gd name="adj" fmla="val 6154"/>
            </a:avLst>
          </a:prstGeom>
          <a:solidFill>
            <a:schemeClr val="accent2"/>
          </a:solidFill>
          <a:ln w="25400">
            <a:solidFill>
              <a:schemeClr val="tx1"/>
            </a:solidFill>
            <a:prstDash val="solid"/>
          </a:ln>
          <a:effectLst>
            <a:outerShdw sx="100000" sy="100000" kx="0" ky="0" algn="bl" rotWithShape="0" blurRad="101600" dist="38100" dir="2700000">
              <a:srgbClr val="171717">
                <a:alpha val="100000"/>
              </a:srgbClr>
            </a:outerShdw>
          </a:effectLst>
        </p:spPr>
      </p:sp>
      <p:sp>
        <p:nvSpPr>
          <p:cNvPr id="20" name="Text 18"/>
          <p:cNvSpPr txBox="1"/>
          <p:nvPr/>
        </p:nvSpPr>
        <p:spPr>
          <a:xfrm>
            <a:off x="4617720" y="3319272"/>
            <a:ext cx="1920240" cy="1133856"/>
          </a:xfrm>
          <a:prstGeom prst="rect">
            <a:avLst/>
          </a:prstGeom>
          <a:noFill/>
          <a:ln/>
        </p:spPr>
        <p:txBody>
          <a:bodyPr wrap="square" lIns="63500" tIns="63500" rIns="63500" bIns="63500" rtlCol="0" anchor="ctr"/>
          <a:lstStyle/>
          <a:p>
            <a:pPr indent="0" marL="0">
              <a:buNone/>
            </a:pPr>
            <a:r>
              <a:rPr lang="en-US" sz="1600" dirty="0">
                <a:solidFill>
                  <a:schemeClr val="bg2"/>
                </a:solidFill>
                <a:latin typeface="Impact" pitchFamily="34" charset="0"/>
                <a:ea typeface="Impact" pitchFamily="34" charset="-122"/>
                <a:cs typeface="Impact" pitchFamily="34" charset="-120"/>
              </a:rPr>
              <a:t>Service</a:t>
            </a:r>
            <a:endParaRPr lang="en-US" sz="1600" dirty="0"/>
          </a:p>
          <a:p>
            <a:pPr indent="0" marL="0">
              <a:buNone/>
            </a:pPr>
            <a:r>
              <a:rPr lang="en-US" sz="1200" dirty="0">
                <a:solidFill>
                  <a:schemeClr val="bg2"/>
                </a:solidFill>
                <a:latin typeface="Calibri" pitchFamily="34" charset="0"/>
                <a:ea typeface="Calibri" pitchFamily="34" charset="-122"/>
                <a:cs typeface="Calibri" pitchFamily="34" charset="-120"/>
              </a:rPr>
              <a:t>The manager. Runs the steps of comic generation.</a:t>
            </a:r>
            <a:endParaRPr lang="en-US" sz="1600" dirty="0"/>
          </a:p>
        </p:txBody>
      </p:sp>
      <p:sp>
        <p:nvSpPr>
          <p:cNvPr id="21" name="Shape 19"/>
          <p:cNvSpPr/>
          <p:nvPr/>
        </p:nvSpPr>
        <p:spPr>
          <a:xfrm>
            <a:off x="6675120" y="3291840"/>
            <a:ext cx="2011680" cy="1188720"/>
          </a:xfrm>
          <a:prstGeom prst="roundRect">
            <a:avLst>
              <a:gd name="adj" fmla="val 6154"/>
            </a:avLst>
          </a:prstGeom>
          <a:solidFill>
            <a:schemeClr val="accent1"/>
          </a:solidFill>
          <a:ln w="25400">
            <a:solidFill>
              <a:schemeClr val="tx1"/>
            </a:solidFill>
            <a:prstDash val="solid"/>
          </a:ln>
          <a:effectLst>
            <a:outerShdw sx="100000" sy="100000" kx="0" ky="0" algn="bl" rotWithShape="0" blurRad="101600" dist="38100" dir="2700000">
              <a:srgbClr val="171717">
                <a:alpha val="100000"/>
              </a:srgbClr>
            </a:outerShdw>
          </a:effectLst>
        </p:spPr>
      </p:sp>
      <p:sp>
        <p:nvSpPr>
          <p:cNvPr id="22" name="Text 20"/>
          <p:cNvSpPr txBox="1"/>
          <p:nvPr/>
        </p:nvSpPr>
        <p:spPr>
          <a:xfrm>
            <a:off x="6720840" y="3319272"/>
            <a:ext cx="1920240" cy="1133856"/>
          </a:xfrm>
          <a:prstGeom prst="rect">
            <a:avLst/>
          </a:prstGeom>
          <a:noFill/>
          <a:ln/>
        </p:spPr>
        <p:txBody>
          <a:bodyPr wrap="square" lIns="63500" tIns="63500" rIns="63500" bIns="63500" rtlCol="0" anchor="ctr"/>
          <a:lstStyle/>
          <a:p>
            <a:pPr indent="0" marL="0">
              <a:buNone/>
            </a:pPr>
            <a:r>
              <a:rPr lang="en-US" sz="1600" dirty="0">
                <a:solidFill>
                  <a:schemeClr val="bg2"/>
                </a:solidFill>
                <a:latin typeface="Impact" pitchFamily="34" charset="0"/>
                <a:ea typeface="Impact" pitchFamily="34" charset="-122"/>
                <a:cs typeface="Impact" pitchFamily="34" charset="-120"/>
              </a:rPr>
              <a:t>Provider</a:t>
            </a:r>
            <a:endParaRPr lang="en-US" sz="1600" dirty="0"/>
          </a:p>
          <a:p>
            <a:pPr indent="0" marL="0">
              <a:buNone/>
            </a:pPr>
            <a:r>
              <a:rPr lang="en-US" sz="1200" dirty="0">
                <a:solidFill>
                  <a:schemeClr val="bg2"/>
                </a:solidFill>
                <a:latin typeface="Calibri" pitchFamily="34" charset="0"/>
                <a:ea typeface="Calibri" pitchFamily="34" charset="-122"/>
                <a:cs typeface="Calibri" pitchFamily="34" charset="-120"/>
              </a:rPr>
              <a:t>The specialist. Talks to one AI (Gemini, Hugging Face) or works offline.</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dirty="0">
                <a:solidFill>
                  <a:schemeClr val="tx1"/>
                </a:solidFill>
                <a:latin typeface="Impact" pitchFamily="34" charset="0"/>
                <a:ea typeface="Impact" pitchFamily="34" charset="-122"/>
                <a:cs typeface="Impact" pitchFamily="34" charset="-120"/>
              </a:rPr>
              <a:t>AI Story and Image Generation</a:t>
            </a:r>
            <a:endParaRPr lang="en-US" sz="3000" dirty="0"/>
          </a:p>
        </p:txBody>
      </p:sp>
      <p:sp>
        <p:nvSpPr>
          <p:cNvPr id="3" name="Text 1"/>
          <p:cNvSpPr txBox="1"/>
          <p:nvPr/>
        </p:nvSpPr>
        <p:spPr>
          <a:xfrm>
            <a:off x="457200" y="1097280"/>
            <a:ext cx="1463040" cy="640080"/>
          </a:xfrm>
          <a:prstGeom prst="roundRect">
            <a:avLst>
              <a:gd name="adj" fmla="val 11429"/>
            </a:avLst>
          </a:prstGeom>
          <a:solidFill>
            <a:schemeClr val="bg2"/>
          </a:solidFill>
          <a:ln w="25400">
            <a:solidFill>
              <a:schemeClr val="tx1"/>
            </a:solidFill>
          </a:ln>
          <a:effectLst>
            <a:outerShdw sx="100000" sy="100000" kx="0" ky="0" algn="bl" rotWithShape="0" blurRad="101600" dist="38100" dir="2700000">
              <a:srgbClr val="171717">
                <a:alpha val="100000"/>
              </a:srgbClr>
            </a:outerShdw>
          </a:effectLst>
        </p:spPr>
        <p:txBody>
          <a:bodyPr wrap="square" lIns="50800" tIns="50800" rIns="50800" bIns="5080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Story idea</a:t>
            </a:r>
            <a:endParaRPr lang="en-US" sz="1300" dirty="0"/>
          </a:p>
        </p:txBody>
      </p:sp>
      <p:sp>
        <p:nvSpPr>
          <p:cNvPr id="4" name="Shape 2"/>
          <p:cNvSpPr/>
          <p:nvPr/>
        </p:nvSpPr>
        <p:spPr>
          <a:xfrm>
            <a:off x="1938528" y="1417320"/>
            <a:ext cx="192024" cy="0"/>
          </a:xfrm>
          <a:prstGeom prst="line">
            <a:avLst/>
          </a:prstGeom>
          <a:noFill/>
          <a:ln w="31750">
            <a:solidFill>
              <a:schemeClr val="tx1"/>
            </a:solidFill>
            <a:prstDash val="solid"/>
            <a:tailEnd type="triangle"/>
          </a:ln>
        </p:spPr>
      </p:sp>
      <p:sp>
        <p:nvSpPr>
          <p:cNvPr id="5" name="Text 3"/>
          <p:cNvSpPr txBox="1"/>
          <p:nvPr/>
        </p:nvSpPr>
        <p:spPr>
          <a:xfrm>
            <a:off x="2148840" y="1097280"/>
            <a:ext cx="1463040" cy="640080"/>
          </a:xfrm>
          <a:prstGeom prst="roundRect">
            <a:avLst>
              <a:gd name="adj" fmla="val 11429"/>
            </a:avLst>
          </a:prstGeom>
          <a:solidFill>
            <a:schemeClr val="bg2"/>
          </a:solidFill>
          <a:ln w="25400">
            <a:solidFill>
              <a:schemeClr val="tx1"/>
            </a:solidFill>
          </a:ln>
          <a:effectLst>
            <a:outerShdw sx="100000" sy="100000" kx="0" ky="0" algn="bl" rotWithShape="0" blurRad="101600" dist="38100" dir="2700000">
              <a:srgbClr val="171717">
                <a:alpha val="100000"/>
              </a:srgbClr>
            </a:outerShdw>
          </a:effectLst>
        </p:spPr>
        <p:txBody>
          <a:bodyPr wrap="square" lIns="50800" tIns="50800" rIns="50800" bIns="5080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Story outline</a:t>
            </a:r>
            <a:endParaRPr lang="en-US" sz="1300" dirty="0"/>
          </a:p>
        </p:txBody>
      </p:sp>
      <p:sp>
        <p:nvSpPr>
          <p:cNvPr id="6" name="Shape 4"/>
          <p:cNvSpPr/>
          <p:nvPr/>
        </p:nvSpPr>
        <p:spPr>
          <a:xfrm>
            <a:off x="3630168" y="1417320"/>
            <a:ext cx="192024" cy="0"/>
          </a:xfrm>
          <a:prstGeom prst="line">
            <a:avLst/>
          </a:prstGeom>
          <a:noFill/>
          <a:ln w="31750">
            <a:solidFill>
              <a:schemeClr val="tx1"/>
            </a:solidFill>
            <a:prstDash val="solid"/>
            <a:tailEnd type="triangle"/>
          </a:ln>
        </p:spPr>
      </p:sp>
      <p:sp>
        <p:nvSpPr>
          <p:cNvPr id="7" name="Text 5"/>
          <p:cNvSpPr txBox="1"/>
          <p:nvPr/>
        </p:nvSpPr>
        <p:spPr>
          <a:xfrm>
            <a:off x="3840480" y="1097280"/>
            <a:ext cx="1463040" cy="640080"/>
          </a:xfrm>
          <a:prstGeom prst="roundRect">
            <a:avLst>
              <a:gd name="adj" fmla="val 11429"/>
            </a:avLst>
          </a:prstGeom>
          <a:solidFill>
            <a:schemeClr val="accent3"/>
          </a:solidFill>
          <a:ln w="25400">
            <a:solidFill>
              <a:schemeClr val="tx1"/>
            </a:solidFill>
          </a:ln>
          <a:effectLst>
            <a:outerShdw sx="100000" sy="100000" kx="0" ky="0" algn="bl" rotWithShape="0" blurRad="101600" dist="38100" dir="2700000">
              <a:srgbClr val="171717">
                <a:alpha val="100000"/>
              </a:srgbClr>
            </a:outerShdw>
          </a:effectLst>
        </p:spPr>
        <p:txBody>
          <a:bodyPr wrap="square" lIns="50800" tIns="50800" rIns="50800" bIns="5080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Narration and dialogue</a:t>
            </a:r>
            <a:endParaRPr lang="en-US" sz="1300" dirty="0"/>
          </a:p>
        </p:txBody>
      </p:sp>
      <p:sp>
        <p:nvSpPr>
          <p:cNvPr id="8" name="Shape 6"/>
          <p:cNvSpPr/>
          <p:nvPr/>
        </p:nvSpPr>
        <p:spPr>
          <a:xfrm>
            <a:off x="5321808" y="1417320"/>
            <a:ext cx="192024" cy="0"/>
          </a:xfrm>
          <a:prstGeom prst="line">
            <a:avLst/>
          </a:prstGeom>
          <a:noFill/>
          <a:ln w="31750">
            <a:solidFill>
              <a:schemeClr val="tx1"/>
            </a:solidFill>
            <a:prstDash val="solid"/>
            <a:tailEnd type="triangle"/>
          </a:ln>
        </p:spPr>
      </p:sp>
      <p:sp>
        <p:nvSpPr>
          <p:cNvPr id="9" name="Text 7"/>
          <p:cNvSpPr txBox="1"/>
          <p:nvPr/>
        </p:nvSpPr>
        <p:spPr>
          <a:xfrm>
            <a:off x="5532120" y="1097280"/>
            <a:ext cx="1463040" cy="640080"/>
          </a:xfrm>
          <a:prstGeom prst="roundRect">
            <a:avLst>
              <a:gd name="adj" fmla="val 11429"/>
            </a:avLst>
          </a:prstGeom>
          <a:solidFill>
            <a:schemeClr val="accent3"/>
          </a:solidFill>
          <a:ln w="25400">
            <a:solidFill>
              <a:schemeClr val="tx1"/>
            </a:solidFill>
          </a:ln>
          <a:effectLst>
            <a:outerShdw sx="100000" sy="100000" kx="0" ky="0" algn="bl" rotWithShape="0" blurRad="101600" dist="38100" dir="2700000">
              <a:srgbClr val="171717">
                <a:alpha val="100000"/>
              </a:srgbClr>
            </a:outerShdw>
          </a:effectLst>
        </p:spPr>
        <p:txBody>
          <a:bodyPr wrap="square" lIns="50800" tIns="50800" rIns="50800" bIns="5080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Panel descriptions</a:t>
            </a:r>
            <a:endParaRPr lang="en-US" sz="1300" dirty="0"/>
          </a:p>
        </p:txBody>
      </p:sp>
      <p:sp>
        <p:nvSpPr>
          <p:cNvPr id="10" name="Shape 8"/>
          <p:cNvSpPr/>
          <p:nvPr/>
        </p:nvSpPr>
        <p:spPr>
          <a:xfrm>
            <a:off x="7013448" y="1417320"/>
            <a:ext cx="192024" cy="0"/>
          </a:xfrm>
          <a:prstGeom prst="line">
            <a:avLst/>
          </a:prstGeom>
          <a:noFill/>
          <a:ln w="31750">
            <a:solidFill>
              <a:schemeClr val="tx1"/>
            </a:solidFill>
            <a:prstDash val="solid"/>
            <a:tailEnd type="triangle"/>
          </a:ln>
        </p:spPr>
      </p:sp>
      <p:sp>
        <p:nvSpPr>
          <p:cNvPr id="11" name="Text 9"/>
          <p:cNvSpPr txBox="1"/>
          <p:nvPr/>
        </p:nvSpPr>
        <p:spPr>
          <a:xfrm>
            <a:off x="7223760" y="1097280"/>
            <a:ext cx="1463040" cy="640080"/>
          </a:xfrm>
          <a:prstGeom prst="roundRect">
            <a:avLst>
              <a:gd name="adj" fmla="val 11429"/>
            </a:avLst>
          </a:prstGeom>
          <a:solidFill>
            <a:schemeClr val="accent1"/>
          </a:solidFill>
          <a:ln w="25400">
            <a:solidFill>
              <a:schemeClr val="tx1"/>
            </a:solidFill>
          </a:ln>
          <a:effectLst>
            <a:outerShdw sx="100000" sy="100000" kx="0" ky="0" algn="bl" rotWithShape="0" blurRad="101600" dist="38100" dir="2700000">
              <a:srgbClr val="171717">
                <a:alpha val="100000"/>
              </a:srgbClr>
            </a:outerShdw>
          </a:effectLst>
        </p:spPr>
        <p:txBody>
          <a:bodyPr wrap="square" lIns="50800" tIns="50800" rIns="50800" bIns="50800" rtlCol="0" anchor="ctr"/>
          <a:lstStyle/>
          <a:p>
            <a:pPr algn="ctr" indent="0" marL="0">
              <a:buNone/>
            </a:pPr>
            <a:r>
              <a:rPr lang="en-US" sz="1300" b="1" dirty="0">
                <a:solidFill>
                  <a:schemeClr val="bg2"/>
                </a:solidFill>
                <a:latin typeface="Calibri" pitchFamily="34" charset="0"/>
                <a:ea typeface="Calibri" pitchFamily="34" charset="-122"/>
                <a:cs typeface="Calibri" pitchFamily="34" charset="-120"/>
              </a:rPr>
              <a:t>Illustrations</a:t>
            </a:r>
            <a:endParaRPr lang="en-US" sz="1300" dirty="0"/>
          </a:p>
        </p:txBody>
      </p:sp>
      <p:sp>
        <p:nvSpPr>
          <p:cNvPr id="12" name="Shape 10"/>
          <p:cNvSpPr/>
          <p:nvPr/>
        </p:nvSpPr>
        <p:spPr>
          <a:xfrm>
            <a:off x="457200" y="1965960"/>
            <a:ext cx="2651760" cy="2011680"/>
          </a:xfrm>
          <a:prstGeom prst="roundRect">
            <a:avLst>
              <a:gd name="adj" fmla="val 3636"/>
            </a:avLst>
          </a:prstGeom>
          <a:solidFill>
            <a:schemeClr val="accent2"/>
          </a:solidFill>
          <a:ln w="25400">
            <a:solidFill>
              <a:schemeClr val="tx1"/>
            </a:solidFill>
            <a:prstDash val="solid"/>
          </a:ln>
          <a:effectLst>
            <a:outerShdw sx="100000" sy="100000" kx="0" ky="0" algn="bl" rotWithShape="0" blurRad="101600" dist="38100" dir="2700000">
              <a:srgbClr val="171717">
                <a:alpha val="100000"/>
              </a:srgbClr>
            </a:outerShdw>
          </a:effectLst>
        </p:spPr>
      </p:sp>
      <p:sp>
        <p:nvSpPr>
          <p:cNvPr id="13" name="Text 11"/>
          <p:cNvSpPr txBox="1"/>
          <p:nvPr/>
        </p:nvSpPr>
        <p:spPr>
          <a:xfrm>
            <a:off x="594360" y="2011680"/>
            <a:ext cx="2377440" cy="365760"/>
          </a:xfrm>
          <a:prstGeom prst="rect">
            <a:avLst/>
          </a:prstGeom>
          <a:noFill/>
          <a:ln/>
        </p:spPr>
        <p:txBody>
          <a:bodyPr wrap="square" lIns="0" tIns="0" rIns="0" bIns="0" rtlCol="0" anchor="ctr"/>
          <a:lstStyle/>
          <a:p>
            <a:pPr indent="0" marL="0">
              <a:buNone/>
            </a:pPr>
            <a:r>
              <a:rPr lang="en-US" sz="1600" dirty="0">
                <a:solidFill>
                  <a:schemeClr val="bg2"/>
                </a:solidFill>
                <a:latin typeface="Impact" pitchFamily="34" charset="0"/>
                <a:ea typeface="Impact" pitchFamily="34" charset="-122"/>
                <a:cs typeface="Impact" pitchFamily="34" charset="-120"/>
              </a:rPr>
              <a:t>Story: Gemini</a:t>
            </a:r>
            <a:endParaRPr lang="en-US" sz="1600" dirty="0"/>
          </a:p>
        </p:txBody>
      </p:sp>
      <p:sp>
        <p:nvSpPr>
          <p:cNvPr id="14" name="Text 12"/>
          <p:cNvSpPr txBox="1"/>
          <p:nvPr/>
        </p:nvSpPr>
        <p:spPr>
          <a:xfrm>
            <a:off x="594360" y="2423160"/>
            <a:ext cx="2377440" cy="146304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bg2"/>
                </a:solidFill>
                <a:latin typeface="Calibri" pitchFamily="34" charset="0"/>
                <a:ea typeface="Calibri" pitchFamily="34" charset="-122"/>
                <a:cs typeface="Calibri" pitchFamily="34" charset="-120"/>
              </a:rPr>
              <a:t>Official google-genai SDK</a:t>
            </a:r>
            <a:endParaRPr lang="en-US" sz="1300" dirty="0"/>
          </a:p>
          <a:p>
            <a:pPr marL="342900" indent="-342900">
              <a:spcAft>
                <a:spcPts val="500"/>
              </a:spcAft>
              <a:buSzPct val="100000"/>
              <a:buChar char="•"/>
            </a:pPr>
            <a:r>
              <a:rPr lang="en-US" sz="1300" dirty="0">
                <a:solidFill>
                  <a:schemeClr val="bg2"/>
                </a:solidFill>
                <a:latin typeface="Calibri" pitchFamily="34" charset="0"/>
                <a:ea typeface="Calibri" pitchFamily="34" charset="-122"/>
                <a:cs typeface="Calibri" pitchFamily="34" charset="-120"/>
              </a:rPr>
              <a:t>Model IDs are configurable</a:t>
            </a:r>
            <a:endParaRPr lang="en-US" sz="1300" dirty="0"/>
          </a:p>
          <a:p>
            <a:pPr marL="342900" indent="-342900">
              <a:spcAft>
                <a:spcPts val="500"/>
              </a:spcAft>
              <a:buSzPct val="100000"/>
              <a:buChar char="•"/>
            </a:pPr>
            <a:r>
              <a:rPr lang="en-US" sz="1300" dirty="0">
                <a:solidFill>
                  <a:schemeClr val="bg2"/>
                </a:solidFill>
                <a:latin typeface="Calibri" pitchFamily="34" charset="0"/>
                <a:ea typeface="Calibri" pitchFamily="34" charset="-122"/>
                <a:cs typeface="Calibri" pitchFamily="34" charset="-120"/>
              </a:rPr>
              <a:t>Writes outline, narration, dialogue and panel descriptions</a:t>
            </a:r>
            <a:endParaRPr lang="en-US" sz="1300" dirty="0"/>
          </a:p>
        </p:txBody>
      </p:sp>
      <p:sp>
        <p:nvSpPr>
          <p:cNvPr id="15" name="Shape 13"/>
          <p:cNvSpPr/>
          <p:nvPr/>
        </p:nvSpPr>
        <p:spPr>
          <a:xfrm>
            <a:off x="3246120" y="1965960"/>
            <a:ext cx="2651760" cy="2011680"/>
          </a:xfrm>
          <a:prstGeom prst="roundRect">
            <a:avLst>
              <a:gd name="adj" fmla="val 3636"/>
            </a:avLst>
          </a:prstGeom>
          <a:solidFill>
            <a:schemeClr val="bg2"/>
          </a:solidFill>
          <a:ln w="25400">
            <a:solidFill>
              <a:schemeClr val="tx1"/>
            </a:solidFill>
            <a:prstDash val="solid"/>
          </a:ln>
          <a:effectLst>
            <a:outerShdw sx="100000" sy="100000" kx="0" ky="0" algn="bl" rotWithShape="0" blurRad="101600" dist="38100" dir="2700000">
              <a:srgbClr val="171717">
                <a:alpha val="100000"/>
              </a:srgbClr>
            </a:outerShdw>
          </a:effectLst>
        </p:spPr>
      </p:sp>
      <p:sp>
        <p:nvSpPr>
          <p:cNvPr id="16" name="Text 14"/>
          <p:cNvSpPr txBox="1"/>
          <p:nvPr/>
        </p:nvSpPr>
        <p:spPr>
          <a:xfrm>
            <a:off x="3383280" y="2011680"/>
            <a:ext cx="2377440" cy="365760"/>
          </a:xfrm>
          <a:prstGeom prst="rect">
            <a:avLst/>
          </a:prstGeom>
          <a:noFill/>
          <a:ln/>
        </p:spPr>
        <p:txBody>
          <a:bodyPr wrap="square" lIns="0" tIns="0" rIns="0" bIns="0" rtlCol="0" anchor="ctr"/>
          <a:lstStyle/>
          <a:p>
            <a:pPr indent="0" marL="0">
              <a:buNone/>
            </a:pPr>
            <a:r>
              <a:rPr lang="en-US" sz="1600" dirty="0">
                <a:solidFill>
                  <a:schemeClr val="tx1"/>
                </a:solidFill>
                <a:latin typeface="Impact" pitchFamily="34" charset="0"/>
                <a:ea typeface="Impact" pitchFamily="34" charset="-122"/>
                <a:cs typeface="Impact" pitchFamily="34" charset="-120"/>
              </a:rPr>
              <a:t>Images: 3 options</a:t>
            </a:r>
            <a:endParaRPr lang="en-US" sz="1600" dirty="0"/>
          </a:p>
        </p:txBody>
      </p:sp>
      <p:sp>
        <p:nvSpPr>
          <p:cNvPr id="17" name="Text 15"/>
          <p:cNvSpPr txBox="1"/>
          <p:nvPr/>
        </p:nvSpPr>
        <p:spPr>
          <a:xfrm>
            <a:off x="3383280" y="2423160"/>
            <a:ext cx="2377440" cy="146304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latin typeface="Calibri" pitchFamily="34" charset="0"/>
                <a:ea typeface="Calibri" pitchFamily="34" charset="-122"/>
                <a:cs typeface="Calibri" pitchFamily="34" charset="-120"/>
              </a:rPr>
              <a:t>Hugging Face inference (live)</a:t>
            </a:r>
            <a:endParaRPr lang="en-US" sz="1300" dirty="0"/>
          </a:p>
          <a:p>
            <a:pPr marL="342900" indent="-342900">
              <a:spcAft>
                <a:spcPts val="500"/>
              </a:spcAft>
              <a:buSzPct val="100000"/>
              <a:buChar char="•"/>
            </a:pPr>
            <a:r>
              <a:rPr lang="en-US" sz="1300" dirty="0">
                <a:solidFill>
                  <a:schemeClr val="tx1"/>
                </a:solidFill>
                <a:latin typeface="Calibri" pitchFamily="34" charset="0"/>
                <a:ea typeface="Calibri" pitchFamily="34" charset="-122"/>
                <a:cs typeface="Calibri" pitchFamily="34" charset="-120"/>
              </a:rPr>
              <a:t>Local Diffusers (optional)</a:t>
            </a:r>
            <a:endParaRPr lang="en-US" sz="1300" dirty="0"/>
          </a:p>
          <a:p>
            <a:pPr marL="342900" indent="-342900">
              <a:spcAft>
                <a:spcPts val="500"/>
              </a:spcAft>
              <a:buSzPct val="100000"/>
              <a:buChar char="•"/>
            </a:pPr>
            <a:r>
              <a:rPr lang="en-US" sz="1300" dirty="0">
                <a:solidFill>
                  <a:schemeClr val="tx1"/>
                </a:solidFill>
                <a:latin typeface="Calibri" pitchFamily="34" charset="0"/>
                <a:ea typeface="Calibri" pitchFamily="34" charset="-122"/>
                <a:cs typeface="Calibri" pitchFamily="34" charset="-120"/>
              </a:rPr>
              <a:t>Offline procedural illustrator (demo)</a:t>
            </a:r>
            <a:endParaRPr lang="en-US" sz="1300" dirty="0"/>
          </a:p>
        </p:txBody>
      </p:sp>
      <p:sp>
        <p:nvSpPr>
          <p:cNvPr id="18" name="Shape 16"/>
          <p:cNvSpPr/>
          <p:nvPr/>
        </p:nvSpPr>
        <p:spPr>
          <a:xfrm>
            <a:off x="6035040" y="1965960"/>
            <a:ext cx="2651760" cy="2011680"/>
          </a:xfrm>
          <a:prstGeom prst="roundRect">
            <a:avLst>
              <a:gd name="adj" fmla="val 3636"/>
            </a:avLst>
          </a:prstGeom>
          <a:solidFill>
            <a:schemeClr val="accent3"/>
          </a:solidFill>
          <a:ln w="25400">
            <a:solidFill>
              <a:schemeClr val="tx1"/>
            </a:solidFill>
            <a:prstDash val="solid"/>
          </a:ln>
          <a:effectLst>
            <a:outerShdw sx="100000" sy="100000" kx="0" ky="0" algn="bl" rotWithShape="0" blurRad="101600" dist="38100" dir="2700000">
              <a:srgbClr val="171717">
                <a:alpha val="100000"/>
              </a:srgbClr>
            </a:outerShdw>
          </a:effectLst>
        </p:spPr>
      </p:sp>
      <p:sp>
        <p:nvSpPr>
          <p:cNvPr id="19" name="Text 17"/>
          <p:cNvSpPr txBox="1"/>
          <p:nvPr/>
        </p:nvSpPr>
        <p:spPr>
          <a:xfrm>
            <a:off x="6172200" y="2011680"/>
            <a:ext cx="2377440" cy="365760"/>
          </a:xfrm>
          <a:prstGeom prst="rect">
            <a:avLst/>
          </a:prstGeom>
          <a:noFill/>
          <a:ln/>
        </p:spPr>
        <p:txBody>
          <a:bodyPr wrap="square" lIns="0" tIns="0" rIns="0" bIns="0" rtlCol="0" anchor="ctr"/>
          <a:lstStyle/>
          <a:p>
            <a:pPr indent="0" marL="0">
              <a:buNone/>
            </a:pPr>
            <a:r>
              <a:rPr lang="en-US" sz="1600" dirty="0">
                <a:solidFill>
                  <a:schemeClr val="tx1"/>
                </a:solidFill>
                <a:latin typeface="Impact" pitchFamily="34" charset="0"/>
                <a:ea typeface="Impact" pitchFamily="34" charset="-122"/>
                <a:cs typeface="Impact" pitchFamily="34" charset="-120"/>
              </a:rPr>
              <a:t>Consistency</a:t>
            </a:r>
            <a:endParaRPr lang="en-US" sz="1600" dirty="0"/>
          </a:p>
        </p:txBody>
      </p:sp>
      <p:sp>
        <p:nvSpPr>
          <p:cNvPr id="20" name="Text 18"/>
          <p:cNvSpPr txBox="1"/>
          <p:nvPr/>
        </p:nvSpPr>
        <p:spPr>
          <a:xfrm>
            <a:off x="6172200" y="2423160"/>
            <a:ext cx="2377440" cy="146304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latin typeface="Calibri" pitchFamily="34" charset="0"/>
                <a:ea typeface="Calibri" pitchFamily="34" charset="-122"/>
                <a:cs typeface="Calibri" pitchFamily="34" charset="-120"/>
              </a:rPr>
              <a:t>Shared character appearance prompt</a:t>
            </a:r>
            <a:endParaRPr lang="en-US" sz="1300" dirty="0"/>
          </a:p>
          <a:p>
            <a:pPr marL="342900" indent="-342900">
              <a:spcAft>
                <a:spcPts val="500"/>
              </a:spcAft>
              <a:buSzPct val="100000"/>
              <a:buChar char="•"/>
            </a:pPr>
            <a:r>
              <a:rPr lang="en-US" sz="1300" dirty="0">
                <a:solidFill>
                  <a:schemeClr val="tx1"/>
                </a:solidFill>
                <a:latin typeface="Calibri" pitchFamily="34" charset="0"/>
                <a:ea typeface="Calibri" pitchFamily="34" charset="-122"/>
                <a:cs typeface="Calibri" pitchFamily="34" charset="-120"/>
              </a:rPr>
              <a:t>Shared visual-style prompt</a:t>
            </a:r>
            <a:endParaRPr lang="en-US" sz="1300" dirty="0"/>
          </a:p>
          <a:p>
            <a:pPr marL="342900" indent="-342900">
              <a:spcAft>
                <a:spcPts val="500"/>
              </a:spcAft>
              <a:buSzPct val="100000"/>
              <a:buChar char="•"/>
            </a:pPr>
            <a:r>
              <a:rPr lang="en-US" sz="1300" dirty="0">
                <a:solidFill>
                  <a:schemeClr val="tx1"/>
                </a:solidFill>
                <a:latin typeface="Calibri" pitchFamily="34" charset="0"/>
                <a:ea typeface="Calibri" pitchFamily="34" charset="-122"/>
                <a:cs typeface="Calibri" pitchFamily="34" charset="-120"/>
              </a:rPr>
              <a:t>Same look across every panel</a:t>
            </a:r>
            <a:endParaRPr lang="en-US" sz="1300" dirty="0"/>
          </a:p>
        </p:txBody>
      </p:sp>
      <p:sp>
        <p:nvSpPr>
          <p:cNvPr id="21" name="Shape 19"/>
          <p:cNvSpPr/>
          <p:nvPr/>
        </p:nvSpPr>
        <p:spPr>
          <a:xfrm>
            <a:off x="457200" y="4114800"/>
            <a:ext cx="8229600" cy="594360"/>
          </a:xfrm>
          <a:prstGeom prst="roundRect">
            <a:avLst>
              <a:gd name="adj" fmla="val 12308"/>
            </a:avLst>
          </a:prstGeom>
          <a:solidFill>
            <a:schemeClr val="bg2"/>
          </a:solidFill>
          <a:ln w="38100">
            <a:solidFill>
              <a:schemeClr val="accent1"/>
            </a:solidFill>
            <a:prstDash val="solid"/>
          </a:ln>
        </p:spPr>
      </p:sp>
      <p:sp>
        <p:nvSpPr>
          <p:cNvPr id="22" name="Text 20"/>
          <p:cNvSpPr txBox="1"/>
          <p:nvPr/>
        </p:nvSpPr>
        <p:spPr>
          <a:xfrm>
            <a:off x="594360" y="4133088"/>
            <a:ext cx="7955280" cy="548640"/>
          </a:xfrm>
          <a:prstGeom prst="rect">
            <a:avLst/>
          </a:prstGeom>
          <a:noFill/>
          <a:ln/>
        </p:spPr>
        <p:txBody>
          <a:bodyPr wrap="square" lIns="0" tIns="0" rIns="0" bIns="0"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Live AI needs valid credentials and available models. Offline illustrations are procedural drawings — not AI-generated images.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dirty="0">
                <a:solidFill>
                  <a:schemeClr val="tx1"/>
                </a:solidFill>
                <a:latin typeface="Impact" pitchFamily="34" charset="0"/>
                <a:ea typeface="Impact" pitchFamily="34" charset="-122"/>
                <a:cs typeface="Impact" pitchFamily="34" charset="-120"/>
              </a:rPr>
              <a:t>Background Processing and Live Progress</a:t>
            </a:r>
            <a:endParaRPr lang="en-US" sz="3000" dirty="0"/>
          </a:p>
        </p:txBody>
      </p:sp>
      <p:sp>
        <p:nvSpPr>
          <p:cNvPr id="3" name="Text 1"/>
          <p:cNvSpPr txBox="1"/>
          <p:nvPr/>
        </p:nvSpPr>
        <p:spPr>
          <a:xfrm>
            <a:off x="457200" y="1097280"/>
            <a:ext cx="3749040" cy="493776"/>
          </a:xfrm>
          <a:prstGeom prst="roundRect">
            <a:avLst>
              <a:gd name="adj" fmla="val 14815"/>
            </a:avLst>
          </a:prstGeom>
          <a:solidFill>
            <a:schemeClr val="bg2"/>
          </a:solidFill>
          <a:ln w="25400">
            <a:solidFill>
              <a:schemeClr val="tx1"/>
            </a:solidFill>
          </a:ln>
          <a:effectLst>
            <a:outerShdw sx="100000" sy="100000" kx="0" ky="0" algn="bl" rotWithShape="0" blurRad="101600" dist="38100" dir="2700000">
              <a:srgbClr val="171717">
                <a:alpha val="100000"/>
              </a:srgbClr>
            </a:outerShdw>
          </a:effectLst>
        </p:spPr>
        <p:txBody>
          <a:bodyPr wrap="square" lIns="508000" tIns="508000" rIns="508000" bIns="508000" rtlCol="0" anchor="ctr"/>
          <a:lstStyle/>
          <a:p>
            <a:pPr algn="l" indent="0" marL="0">
              <a:buNone/>
            </a:pPr>
            <a:r>
              <a:rPr lang="en-US" sz="1300" b="1" dirty="0">
                <a:solidFill>
                  <a:schemeClr val="tx1"/>
                </a:solidFill>
                <a:latin typeface="Calibri" pitchFamily="34" charset="0"/>
                <a:ea typeface="Calibri" pitchFamily="34" charset="-122"/>
                <a:cs typeface="Calibri" pitchFamily="34" charset="-120"/>
              </a:rPr>
              <a:t>Understanding Idea</a:t>
            </a:r>
            <a:endParaRPr lang="en-US" sz="1300" dirty="0"/>
          </a:p>
        </p:txBody>
      </p:sp>
      <p:sp>
        <p:nvSpPr>
          <p:cNvPr id="4" name="Text 2"/>
          <p:cNvSpPr txBox="1"/>
          <p:nvPr/>
        </p:nvSpPr>
        <p:spPr>
          <a:xfrm>
            <a:off x="548640" y="1179576"/>
            <a:ext cx="329184" cy="329184"/>
          </a:xfrm>
          <a:prstGeom prst="ellipse">
            <a:avLst/>
          </a:prstGeom>
          <a:solidFill>
            <a:schemeClr val="accent2"/>
          </a:solidFill>
          <a:ln w="19050">
            <a:solidFill>
              <a:schemeClr val="tx1"/>
            </a:solidFill>
          </a:ln>
        </p:spPr>
        <p:txBody>
          <a:bodyPr wrap="square" lIns="0" tIns="0" rIns="0" bIns="0" rtlCol="0" anchor="ctr"/>
          <a:lstStyle/>
          <a:p>
            <a:pPr algn="ctr" indent="0" marL="0">
              <a:buNone/>
            </a:pPr>
            <a:r>
              <a:rPr lang="en-US" sz="1400" dirty="0">
                <a:solidFill>
                  <a:schemeClr val="bg2"/>
                </a:solidFill>
                <a:latin typeface="Impact" pitchFamily="34" charset="0"/>
                <a:ea typeface="Impact" pitchFamily="34" charset="-122"/>
                <a:cs typeface="Impact" pitchFamily="34" charset="-120"/>
              </a:rPr>
              <a:t>1</a:t>
            </a:r>
            <a:endParaRPr lang="en-US" sz="1400" dirty="0"/>
          </a:p>
        </p:txBody>
      </p:sp>
      <p:sp>
        <p:nvSpPr>
          <p:cNvPr id="5" name="Text 3"/>
          <p:cNvSpPr txBox="1"/>
          <p:nvPr/>
        </p:nvSpPr>
        <p:spPr>
          <a:xfrm>
            <a:off x="457200" y="1682496"/>
            <a:ext cx="3749040" cy="493776"/>
          </a:xfrm>
          <a:prstGeom prst="roundRect">
            <a:avLst>
              <a:gd name="adj" fmla="val 14815"/>
            </a:avLst>
          </a:prstGeom>
          <a:solidFill>
            <a:schemeClr val="bg2"/>
          </a:solidFill>
          <a:ln w="25400">
            <a:solidFill>
              <a:schemeClr val="tx1"/>
            </a:solidFill>
          </a:ln>
          <a:effectLst>
            <a:outerShdw sx="100000" sy="100000" kx="0" ky="0" algn="bl" rotWithShape="0" blurRad="101600" dist="38100" dir="2700000">
              <a:srgbClr val="171717">
                <a:alpha val="100000"/>
              </a:srgbClr>
            </a:outerShdw>
          </a:effectLst>
        </p:spPr>
        <p:txBody>
          <a:bodyPr wrap="square" lIns="508000" tIns="508000" rIns="508000" bIns="508000" rtlCol="0" anchor="ctr"/>
          <a:lstStyle/>
          <a:p>
            <a:pPr algn="l" indent="0" marL="0">
              <a:buNone/>
            </a:pPr>
            <a:r>
              <a:rPr lang="en-US" sz="1300" b="1" dirty="0">
                <a:solidFill>
                  <a:schemeClr val="tx1"/>
                </a:solidFill>
                <a:latin typeface="Calibri" pitchFamily="34" charset="0"/>
                <a:ea typeface="Calibri" pitchFamily="34" charset="-122"/>
                <a:cs typeface="Calibri" pitchFamily="34" charset="-120"/>
              </a:rPr>
              <a:t>Generating Outline</a:t>
            </a:r>
            <a:endParaRPr lang="en-US" sz="1300" dirty="0"/>
          </a:p>
        </p:txBody>
      </p:sp>
      <p:sp>
        <p:nvSpPr>
          <p:cNvPr id="6" name="Text 4"/>
          <p:cNvSpPr txBox="1"/>
          <p:nvPr/>
        </p:nvSpPr>
        <p:spPr>
          <a:xfrm>
            <a:off x="548640" y="1764792"/>
            <a:ext cx="329184" cy="329184"/>
          </a:xfrm>
          <a:prstGeom prst="ellipse">
            <a:avLst/>
          </a:prstGeom>
          <a:solidFill>
            <a:schemeClr val="accent2"/>
          </a:solidFill>
          <a:ln w="19050">
            <a:solidFill>
              <a:schemeClr val="tx1"/>
            </a:solidFill>
          </a:ln>
        </p:spPr>
        <p:txBody>
          <a:bodyPr wrap="square" lIns="0" tIns="0" rIns="0" bIns="0" rtlCol="0" anchor="ctr"/>
          <a:lstStyle/>
          <a:p>
            <a:pPr algn="ctr" indent="0" marL="0">
              <a:buNone/>
            </a:pPr>
            <a:r>
              <a:rPr lang="en-US" sz="1400" dirty="0">
                <a:solidFill>
                  <a:schemeClr val="bg2"/>
                </a:solidFill>
                <a:latin typeface="Impact" pitchFamily="34" charset="0"/>
                <a:ea typeface="Impact" pitchFamily="34" charset="-122"/>
                <a:cs typeface="Impact" pitchFamily="34" charset="-120"/>
              </a:rPr>
              <a:t>2</a:t>
            </a:r>
            <a:endParaRPr lang="en-US" sz="1400" dirty="0"/>
          </a:p>
        </p:txBody>
      </p:sp>
      <p:sp>
        <p:nvSpPr>
          <p:cNvPr id="7" name="Text 5"/>
          <p:cNvSpPr txBox="1"/>
          <p:nvPr/>
        </p:nvSpPr>
        <p:spPr>
          <a:xfrm>
            <a:off x="457200" y="2267712"/>
            <a:ext cx="3749040" cy="493776"/>
          </a:xfrm>
          <a:prstGeom prst="roundRect">
            <a:avLst>
              <a:gd name="adj" fmla="val 14815"/>
            </a:avLst>
          </a:prstGeom>
          <a:solidFill>
            <a:schemeClr val="bg2"/>
          </a:solidFill>
          <a:ln w="25400">
            <a:solidFill>
              <a:schemeClr val="tx1"/>
            </a:solidFill>
          </a:ln>
          <a:effectLst>
            <a:outerShdw sx="100000" sy="100000" kx="0" ky="0" algn="bl" rotWithShape="0" blurRad="101600" dist="38100" dir="2700000">
              <a:srgbClr val="171717">
                <a:alpha val="100000"/>
              </a:srgbClr>
            </a:outerShdw>
          </a:effectLst>
        </p:spPr>
        <p:txBody>
          <a:bodyPr wrap="square" lIns="508000" tIns="508000" rIns="508000" bIns="508000" rtlCol="0" anchor="ctr"/>
          <a:lstStyle/>
          <a:p>
            <a:pPr algn="l" indent="0" marL="0">
              <a:buNone/>
            </a:pPr>
            <a:r>
              <a:rPr lang="en-US" sz="1300" b="1" dirty="0">
                <a:solidFill>
                  <a:schemeClr val="tx1"/>
                </a:solidFill>
                <a:latin typeface="Calibri" pitchFamily="34" charset="0"/>
                <a:ea typeface="Calibri" pitchFamily="34" charset="-122"/>
                <a:cs typeface="Calibri" pitchFamily="34" charset="-120"/>
              </a:rPr>
              <a:t>Narration &amp; Dialogue</a:t>
            </a:r>
            <a:endParaRPr lang="en-US" sz="1300" dirty="0"/>
          </a:p>
        </p:txBody>
      </p:sp>
      <p:sp>
        <p:nvSpPr>
          <p:cNvPr id="8" name="Text 6"/>
          <p:cNvSpPr txBox="1"/>
          <p:nvPr/>
        </p:nvSpPr>
        <p:spPr>
          <a:xfrm>
            <a:off x="548640" y="2350008"/>
            <a:ext cx="329184" cy="329184"/>
          </a:xfrm>
          <a:prstGeom prst="ellipse">
            <a:avLst/>
          </a:prstGeom>
          <a:solidFill>
            <a:schemeClr val="accent2"/>
          </a:solidFill>
          <a:ln w="19050">
            <a:solidFill>
              <a:schemeClr val="tx1"/>
            </a:solidFill>
          </a:ln>
        </p:spPr>
        <p:txBody>
          <a:bodyPr wrap="square" lIns="0" tIns="0" rIns="0" bIns="0" rtlCol="0" anchor="ctr"/>
          <a:lstStyle/>
          <a:p>
            <a:pPr algn="ctr" indent="0" marL="0">
              <a:buNone/>
            </a:pPr>
            <a:r>
              <a:rPr lang="en-US" sz="1400" dirty="0">
                <a:solidFill>
                  <a:schemeClr val="bg2"/>
                </a:solidFill>
                <a:latin typeface="Impact" pitchFamily="34" charset="0"/>
                <a:ea typeface="Impact" pitchFamily="34" charset="-122"/>
                <a:cs typeface="Impact" pitchFamily="34" charset="-120"/>
              </a:rPr>
              <a:t>3</a:t>
            </a:r>
            <a:endParaRPr lang="en-US" sz="1400" dirty="0"/>
          </a:p>
        </p:txBody>
      </p:sp>
      <p:sp>
        <p:nvSpPr>
          <p:cNvPr id="9" name="Text 7"/>
          <p:cNvSpPr txBox="1"/>
          <p:nvPr/>
        </p:nvSpPr>
        <p:spPr>
          <a:xfrm>
            <a:off x="457200" y="2852928"/>
            <a:ext cx="3749040" cy="493776"/>
          </a:xfrm>
          <a:prstGeom prst="roundRect">
            <a:avLst>
              <a:gd name="adj" fmla="val 14815"/>
            </a:avLst>
          </a:prstGeom>
          <a:solidFill>
            <a:schemeClr val="accent3"/>
          </a:solidFill>
          <a:ln w="25400">
            <a:solidFill>
              <a:schemeClr val="tx1"/>
            </a:solidFill>
          </a:ln>
          <a:effectLst>
            <a:outerShdw sx="100000" sy="100000" kx="0" ky="0" algn="bl" rotWithShape="0" blurRad="101600" dist="38100" dir="2700000">
              <a:srgbClr val="171717">
                <a:alpha val="100000"/>
              </a:srgbClr>
            </a:outerShdw>
          </a:effectLst>
        </p:spPr>
        <p:txBody>
          <a:bodyPr wrap="square" lIns="508000" tIns="508000" rIns="508000" bIns="508000" rtlCol="0" anchor="ctr"/>
          <a:lstStyle/>
          <a:p>
            <a:pPr algn="l" indent="0" marL="0">
              <a:buNone/>
            </a:pPr>
            <a:r>
              <a:rPr lang="en-US" sz="1300" b="1" dirty="0">
                <a:solidFill>
                  <a:schemeClr val="tx1"/>
                </a:solidFill>
                <a:latin typeface="Calibri" pitchFamily="34" charset="0"/>
                <a:ea typeface="Calibri" pitchFamily="34" charset="-122"/>
                <a:cs typeface="Calibri" pitchFamily="34" charset="-120"/>
              </a:rPr>
              <a:t>Illustrating Panels</a:t>
            </a:r>
            <a:endParaRPr lang="en-US" sz="1300" dirty="0"/>
          </a:p>
        </p:txBody>
      </p:sp>
      <p:sp>
        <p:nvSpPr>
          <p:cNvPr id="10" name="Text 8"/>
          <p:cNvSpPr txBox="1"/>
          <p:nvPr/>
        </p:nvSpPr>
        <p:spPr>
          <a:xfrm>
            <a:off x="548640" y="2935224"/>
            <a:ext cx="329184" cy="329184"/>
          </a:xfrm>
          <a:prstGeom prst="ellipse">
            <a:avLst/>
          </a:prstGeom>
          <a:solidFill>
            <a:schemeClr val="accent1"/>
          </a:solidFill>
          <a:ln w="19050">
            <a:solidFill>
              <a:schemeClr val="tx1"/>
            </a:solidFill>
          </a:ln>
        </p:spPr>
        <p:txBody>
          <a:bodyPr wrap="square" lIns="0" tIns="0" rIns="0" bIns="0" rtlCol="0" anchor="ctr"/>
          <a:lstStyle/>
          <a:p>
            <a:pPr algn="ctr" indent="0" marL="0">
              <a:buNone/>
            </a:pPr>
            <a:r>
              <a:rPr lang="en-US" sz="1400" dirty="0">
                <a:solidFill>
                  <a:schemeClr val="bg2"/>
                </a:solidFill>
                <a:latin typeface="Impact" pitchFamily="34" charset="0"/>
                <a:ea typeface="Impact" pitchFamily="34" charset="-122"/>
                <a:cs typeface="Impact" pitchFamily="34" charset="-120"/>
              </a:rPr>
              <a:t>4</a:t>
            </a:r>
            <a:endParaRPr lang="en-US" sz="1400" dirty="0"/>
          </a:p>
        </p:txBody>
      </p:sp>
      <p:sp>
        <p:nvSpPr>
          <p:cNvPr id="11" name="Text 9"/>
          <p:cNvSpPr txBox="1"/>
          <p:nvPr/>
        </p:nvSpPr>
        <p:spPr>
          <a:xfrm>
            <a:off x="457200" y="3438144"/>
            <a:ext cx="3749040" cy="493776"/>
          </a:xfrm>
          <a:prstGeom prst="roundRect">
            <a:avLst>
              <a:gd name="adj" fmla="val 14815"/>
            </a:avLst>
          </a:prstGeom>
          <a:solidFill>
            <a:schemeClr val="bg2"/>
          </a:solidFill>
          <a:ln w="25400">
            <a:solidFill>
              <a:schemeClr val="tx1"/>
            </a:solidFill>
          </a:ln>
          <a:effectLst>
            <a:outerShdw sx="100000" sy="100000" kx="0" ky="0" algn="bl" rotWithShape="0" blurRad="101600" dist="38100" dir="2700000">
              <a:srgbClr val="171717">
                <a:alpha val="100000"/>
              </a:srgbClr>
            </a:outerShdw>
          </a:effectLst>
        </p:spPr>
        <p:txBody>
          <a:bodyPr wrap="square" lIns="508000" tIns="508000" rIns="508000" bIns="508000" rtlCol="0" anchor="ctr"/>
          <a:lstStyle/>
          <a:p>
            <a:pPr algn="l" indent="0" marL="0">
              <a:buNone/>
            </a:pPr>
            <a:r>
              <a:rPr lang="en-US" sz="1300" b="1" dirty="0">
                <a:solidFill>
                  <a:schemeClr val="tx1"/>
                </a:solidFill>
                <a:latin typeface="Calibri" pitchFamily="34" charset="0"/>
                <a:ea typeface="Calibri" pitchFamily="34" charset="-122"/>
                <a:cs typeface="Calibri" pitchFamily="34" charset="-120"/>
              </a:rPr>
              <a:t>Assembling &amp; PDF Compilation</a:t>
            </a:r>
            <a:endParaRPr lang="en-US" sz="1300" dirty="0"/>
          </a:p>
        </p:txBody>
      </p:sp>
      <p:sp>
        <p:nvSpPr>
          <p:cNvPr id="12" name="Text 10"/>
          <p:cNvSpPr txBox="1"/>
          <p:nvPr/>
        </p:nvSpPr>
        <p:spPr>
          <a:xfrm>
            <a:off x="548640" y="3520440"/>
            <a:ext cx="329184" cy="329184"/>
          </a:xfrm>
          <a:prstGeom prst="ellipse">
            <a:avLst/>
          </a:prstGeom>
          <a:solidFill>
            <a:schemeClr val="accent2"/>
          </a:solidFill>
          <a:ln w="19050">
            <a:solidFill>
              <a:schemeClr val="tx1"/>
            </a:solidFill>
          </a:ln>
        </p:spPr>
        <p:txBody>
          <a:bodyPr wrap="square" lIns="0" tIns="0" rIns="0" bIns="0" rtlCol="0" anchor="ctr"/>
          <a:lstStyle/>
          <a:p>
            <a:pPr algn="ctr" indent="0" marL="0">
              <a:buNone/>
            </a:pPr>
            <a:r>
              <a:rPr lang="en-US" sz="1400" dirty="0">
                <a:solidFill>
                  <a:schemeClr val="bg2"/>
                </a:solidFill>
                <a:latin typeface="Impact" pitchFamily="34" charset="0"/>
                <a:ea typeface="Impact" pitchFamily="34" charset="-122"/>
                <a:cs typeface="Impact" pitchFamily="34" charset="-120"/>
              </a:rPr>
              <a:t>5</a:t>
            </a:r>
            <a:endParaRPr lang="en-US" sz="1400" dirty="0"/>
          </a:p>
        </p:txBody>
      </p:sp>
      <p:sp>
        <p:nvSpPr>
          <p:cNvPr id="13" name="Shape 11"/>
          <p:cNvSpPr/>
          <p:nvPr/>
        </p:nvSpPr>
        <p:spPr>
          <a:xfrm>
            <a:off x="457200" y="4160520"/>
            <a:ext cx="3749040" cy="182880"/>
          </a:xfrm>
          <a:prstGeom prst="roundRect">
            <a:avLst>
              <a:gd name="adj" fmla="val 25000"/>
            </a:avLst>
          </a:prstGeom>
          <a:solidFill>
            <a:srgbClr val="E6E2DA"/>
          </a:solidFill>
          <a:ln w="15875">
            <a:solidFill>
              <a:schemeClr val="tx1"/>
            </a:solidFill>
            <a:prstDash val="solid"/>
          </a:ln>
        </p:spPr>
      </p:sp>
      <p:sp>
        <p:nvSpPr>
          <p:cNvPr id="14" name="Shape 12"/>
          <p:cNvSpPr/>
          <p:nvPr/>
        </p:nvSpPr>
        <p:spPr>
          <a:xfrm>
            <a:off x="457200" y="4160520"/>
            <a:ext cx="2468880" cy="182880"/>
          </a:xfrm>
          <a:prstGeom prst="roundRect">
            <a:avLst>
              <a:gd name="adj" fmla="val 25000"/>
            </a:avLst>
          </a:prstGeom>
          <a:solidFill>
            <a:schemeClr val="accent2"/>
          </a:solidFill>
          <a:ln w="15875">
            <a:solidFill>
              <a:schemeClr val="tx1"/>
            </a:solidFill>
            <a:prstDash val="solid"/>
          </a:ln>
        </p:spPr>
      </p:sp>
      <p:sp>
        <p:nvSpPr>
          <p:cNvPr id="15" name="Text 13"/>
          <p:cNvSpPr txBox="1"/>
          <p:nvPr/>
        </p:nvSpPr>
        <p:spPr>
          <a:xfrm>
            <a:off x="457200" y="4389120"/>
            <a:ext cx="3749040" cy="228600"/>
          </a:xfrm>
          <a:prstGeom prst="rect">
            <a:avLst/>
          </a:prstGeom>
          <a:noFill/>
          <a:ln/>
        </p:spPr>
        <p:txBody>
          <a:bodyPr wrap="square" lIns="0" tIns="0" rIns="0" bIns="0" rtlCol="0" anchor="ctr"/>
          <a:lstStyle/>
          <a:p>
            <a:pPr indent="0" marL="0">
              <a:buNone/>
            </a:pPr>
            <a:r>
              <a:rPr lang="en-US" sz="1000" i="1" dirty="0">
                <a:solidFill>
                  <a:schemeClr val="tx2"/>
                </a:solidFill>
                <a:latin typeface="Calibri" pitchFamily="34" charset="0"/>
                <a:ea typeface="Calibri" pitchFamily="34" charset="-122"/>
                <a:cs typeface="Calibri" pitchFamily="34" charset="-120"/>
              </a:rPr>
              <a:t>Progress bar moves as each stage finishes (conceptual)</a:t>
            </a:r>
            <a:endParaRPr lang="en-US" sz="1000" dirty="0"/>
          </a:p>
        </p:txBody>
      </p:sp>
      <p:sp>
        <p:nvSpPr>
          <p:cNvPr id="16" name="Text 14"/>
          <p:cNvSpPr txBox="1"/>
          <p:nvPr/>
        </p:nvSpPr>
        <p:spPr>
          <a:xfrm>
            <a:off x="4572000" y="1097280"/>
            <a:ext cx="1645920" cy="457200"/>
          </a:xfrm>
          <a:prstGeom prst="roundRect">
            <a:avLst>
              <a:gd name="adj" fmla="val 16000"/>
            </a:avLst>
          </a:prstGeom>
          <a:solidFill>
            <a:schemeClr val="accent2"/>
          </a:solidFill>
          <a:ln w="25400">
            <a:solidFill>
              <a:schemeClr val="tx1"/>
            </a:solidFill>
          </a:ln>
          <a:effectLst>
            <a:outerShdw sx="100000" sy="100000" kx="0" ky="0" algn="bl" rotWithShape="0" blurRad="101600" dist="38100" dir="2700000">
              <a:srgbClr val="171717">
                <a:alpha val="100000"/>
              </a:srgbClr>
            </a:outerShdw>
          </a:effectLst>
        </p:spPr>
        <p:txBody>
          <a:bodyPr wrap="square" lIns="50800" tIns="50800" rIns="50800" bIns="50800" rtlCol="0" anchor="ctr"/>
          <a:lstStyle/>
          <a:p>
            <a:pPr algn="ctr" indent="0" marL="0">
              <a:buNone/>
            </a:pPr>
            <a:r>
              <a:rPr lang="en-US" sz="1200" b="1" dirty="0">
                <a:solidFill>
                  <a:schemeClr val="bg2"/>
                </a:solidFill>
                <a:latin typeface="Calibri" pitchFamily="34" charset="0"/>
                <a:ea typeface="Calibri" pitchFamily="34" charset="-122"/>
                <a:cs typeface="Calibri" pitchFamily="34" charset="-120"/>
              </a:rPr>
              <a:t>Browser (JavaScript)</a:t>
            </a:r>
            <a:endParaRPr lang="en-US" sz="1200" dirty="0"/>
          </a:p>
        </p:txBody>
      </p:sp>
      <p:sp>
        <p:nvSpPr>
          <p:cNvPr id="17" name="Text 15"/>
          <p:cNvSpPr txBox="1"/>
          <p:nvPr/>
        </p:nvSpPr>
        <p:spPr>
          <a:xfrm>
            <a:off x="7040880" y="1097280"/>
            <a:ext cx="1645920" cy="457200"/>
          </a:xfrm>
          <a:prstGeom prst="roundRect">
            <a:avLst>
              <a:gd name="adj" fmla="val 16000"/>
            </a:avLst>
          </a:prstGeom>
          <a:solidFill>
            <a:schemeClr val="accent1"/>
          </a:solidFill>
          <a:ln w="25400">
            <a:solidFill>
              <a:schemeClr val="tx1"/>
            </a:solidFill>
          </a:ln>
          <a:effectLst>
            <a:outerShdw sx="100000" sy="100000" kx="0" ky="0" algn="bl" rotWithShape="0" blurRad="101600" dist="38100" dir="2700000">
              <a:srgbClr val="171717">
                <a:alpha val="100000"/>
              </a:srgbClr>
            </a:outerShdw>
          </a:effectLst>
        </p:spPr>
        <p:txBody>
          <a:bodyPr wrap="square" lIns="50800" tIns="50800" rIns="50800" bIns="50800" rtlCol="0" anchor="ctr"/>
          <a:lstStyle/>
          <a:p>
            <a:pPr algn="ctr" indent="0" marL="0">
              <a:buNone/>
            </a:pPr>
            <a:r>
              <a:rPr lang="en-US" sz="1200" b="1" dirty="0">
                <a:solidFill>
                  <a:schemeClr val="bg2"/>
                </a:solidFill>
                <a:latin typeface="Calibri" pitchFamily="34" charset="0"/>
                <a:ea typeface="Calibri" pitchFamily="34" charset="-122"/>
                <a:cs typeface="Calibri" pitchFamily="34" charset="-120"/>
              </a:rPr>
              <a:t>FastAPI + Comic Service</a:t>
            </a:r>
            <a:endParaRPr lang="en-US" sz="1200" dirty="0"/>
          </a:p>
        </p:txBody>
      </p:sp>
      <p:sp>
        <p:nvSpPr>
          <p:cNvPr id="18" name="Shape 16"/>
          <p:cNvSpPr/>
          <p:nvPr/>
        </p:nvSpPr>
        <p:spPr>
          <a:xfrm>
            <a:off x="5394960" y="1600200"/>
            <a:ext cx="0" cy="2926080"/>
          </a:xfrm>
          <a:prstGeom prst="line">
            <a:avLst/>
          </a:prstGeom>
          <a:noFill/>
          <a:ln w="19050">
            <a:solidFill>
              <a:schemeClr val="tx2"/>
            </a:solidFill>
            <a:prstDash val="dash"/>
          </a:ln>
        </p:spPr>
      </p:sp>
      <p:sp>
        <p:nvSpPr>
          <p:cNvPr id="19" name="Shape 17"/>
          <p:cNvSpPr/>
          <p:nvPr/>
        </p:nvSpPr>
        <p:spPr>
          <a:xfrm>
            <a:off x="7863840" y="1600200"/>
            <a:ext cx="0" cy="2926080"/>
          </a:xfrm>
          <a:prstGeom prst="line">
            <a:avLst/>
          </a:prstGeom>
          <a:noFill/>
          <a:ln w="19050">
            <a:solidFill>
              <a:schemeClr val="tx2"/>
            </a:solidFill>
            <a:prstDash val="dash"/>
          </a:ln>
        </p:spPr>
      </p:sp>
      <p:sp>
        <p:nvSpPr>
          <p:cNvPr id="20" name="Text 18"/>
          <p:cNvSpPr txBox="1"/>
          <p:nvPr/>
        </p:nvSpPr>
        <p:spPr>
          <a:xfrm>
            <a:off x="5440680" y="1664208"/>
            <a:ext cx="2377440" cy="237744"/>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1. Create-comic request (once)</a:t>
            </a:r>
            <a:endParaRPr lang="en-US" sz="1100" dirty="0"/>
          </a:p>
        </p:txBody>
      </p:sp>
      <p:sp>
        <p:nvSpPr>
          <p:cNvPr id="21" name="Shape 19"/>
          <p:cNvSpPr/>
          <p:nvPr/>
        </p:nvSpPr>
        <p:spPr>
          <a:xfrm>
            <a:off x="5394960" y="1920240"/>
            <a:ext cx="2468880" cy="0"/>
          </a:xfrm>
          <a:prstGeom prst="line">
            <a:avLst/>
          </a:prstGeom>
          <a:noFill/>
          <a:ln w="31750">
            <a:solidFill>
              <a:schemeClr val="tx1"/>
            </a:solidFill>
            <a:prstDash val="solid"/>
            <a:tailEnd type="triangle"/>
          </a:ln>
        </p:spPr>
      </p:sp>
      <p:sp>
        <p:nvSpPr>
          <p:cNvPr id="22" name="Text 20"/>
          <p:cNvSpPr txBox="1"/>
          <p:nvPr/>
        </p:nvSpPr>
        <p:spPr>
          <a:xfrm>
            <a:off x="5440680" y="2075688"/>
            <a:ext cx="2377440" cy="237744"/>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comic id returned</a:t>
            </a:r>
            <a:endParaRPr lang="en-US" sz="1100" dirty="0"/>
          </a:p>
        </p:txBody>
      </p:sp>
      <p:sp>
        <p:nvSpPr>
          <p:cNvPr id="23" name="Shape 21"/>
          <p:cNvSpPr/>
          <p:nvPr/>
        </p:nvSpPr>
        <p:spPr>
          <a:xfrm>
            <a:off x="5394960" y="2331720"/>
            <a:ext cx="2468880" cy="0"/>
          </a:xfrm>
          <a:prstGeom prst="line">
            <a:avLst/>
          </a:prstGeom>
          <a:noFill/>
          <a:ln w="31750">
            <a:solidFill>
              <a:schemeClr val="tx1"/>
            </a:solidFill>
            <a:prstDash val="solid"/>
            <a:headEnd type="triangle"/>
          </a:ln>
        </p:spPr>
      </p:sp>
      <p:sp>
        <p:nvSpPr>
          <p:cNvPr id="24" name="Shape 22"/>
          <p:cNvSpPr/>
          <p:nvPr/>
        </p:nvSpPr>
        <p:spPr>
          <a:xfrm>
            <a:off x="4572000" y="2560320"/>
            <a:ext cx="4114800" cy="1325880"/>
          </a:xfrm>
          <a:prstGeom prst="roundRect">
            <a:avLst>
              <a:gd name="adj" fmla="val 5517"/>
            </a:avLst>
          </a:prstGeom>
          <a:solidFill>
            <a:schemeClr val="bg1">
              <a:alpha val="0"/>
            </a:schemeClr>
          </a:solidFill>
          <a:ln w="25400">
            <a:solidFill>
              <a:schemeClr val="accent1"/>
            </a:solidFill>
            <a:prstDash val="dash"/>
          </a:ln>
        </p:spPr>
      </p:sp>
      <p:sp>
        <p:nvSpPr>
          <p:cNvPr id="25" name="Text 23"/>
          <p:cNvSpPr txBox="1"/>
          <p:nvPr/>
        </p:nvSpPr>
        <p:spPr>
          <a:xfrm>
            <a:off x="4663440" y="2578608"/>
            <a:ext cx="3931920" cy="228600"/>
          </a:xfrm>
          <a:prstGeom prst="rect">
            <a:avLst/>
          </a:prstGeom>
          <a:noFill/>
          <a:ln/>
        </p:spPr>
        <p:txBody>
          <a:bodyPr wrap="square" lIns="0" tIns="0" rIns="0" bIns="0" rtlCol="0" anchor="ctr"/>
          <a:lstStyle/>
          <a:p>
            <a:pPr indent="0" marL="0">
              <a:buNone/>
            </a:pPr>
            <a:r>
              <a:rPr lang="en-US" sz="1100" b="1" i="1" dirty="0">
                <a:solidFill>
                  <a:schemeClr val="accent1"/>
                </a:solidFill>
                <a:latin typeface="Calibri" pitchFamily="34" charset="0"/>
                <a:ea typeface="Calibri" pitchFamily="34" charset="-122"/>
                <a:cs typeface="Calibri" pitchFamily="34" charset="-120"/>
              </a:rPr>
              <a:t>Polling: ask again every few seconds</a:t>
            </a:r>
            <a:endParaRPr lang="en-US" sz="1100" dirty="0"/>
          </a:p>
        </p:txBody>
      </p:sp>
      <p:sp>
        <p:nvSpPr>
          <p:cNvPr id="26" name="Text 24"/>
          <p:cNvSpPr txBox="1"/>
          <p:nvPr/>
        </p:nvSpPr>
        <p:spPr>
          <a:xfrm>
            <a:off x="5440680" y="2944368"/>
            <a:ext cx="2377440" cy="237744"/>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GET /api/comics/{comic_id}/status</a:t>
            </a:r>
            <a:endParaRPr lang="en-US" sz="1100" dirty="0"/>
          </a:p>
        </p:txBody>
      </p:sp>
      <p:sp>
        <p:nvSpPr>
          <p:cNvPr id="27" name="Shape 25"/>
          <p:cNvSpPr/>
          <p:nvPr/>
        </p:nvSpPr>
        <p:spPr>
          <a:xfrm>
            <a:off x="5394960" y="3200400"/>
            <a:ext cx="2468880" cy="0"/>
          </a:xfrm>
          <a:prstGeom prst="line">
            <a:avLst/>
          </a:prstGeom>
          <a:noFill/>
          <a:ln w="31750">
            <a:solidFill>
              <a:schemeClr val="tx1"/>
            </a:solidFill>
            <a:prstDash val="solid"/>
            <a:tailEnd type="triangle"/>
          </a:ln>
        </p:spPr>
      </p:sp>
      <p:sp>
        <p:nvSpPr>
          <p:cNvPr id="28" name="Text 26"/>
          <p:cNvSpPr txBox="1"/>
          <p:nvPr/>
        </p:nvSpPr>
        <p:spPr>
          <a:xfrm>
            <a:off x="5440680" y="3401568"/>
            <a:ext cx="2377440" cy="237744"/>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status + current stage</a:t>
            </a:r>
            <a:endParaRPr lang="en-US" sz="1100" dirty="0"/>
          </a:p>
        </p:txBody>
      </p:sp>
      <p:sp>
        <p:nvSpPr>
          <p:cNvPr id="29" name="Shape 27"/>
          <p:cNvSpPr/>
          <p:nvPr/>
        </p:nvSpPr>
        <p:spPr>
          <a:xfrm>
            <a:off x="5394960" y="3657600"/>
            <a:ext cx="2468880" cy="0"/>
          </a:xfrm>
          <a:prstGeom prst="line">
            <a:avLst/>
          </a:prstGeom>
          <a:noFill/>
          <a:ln w="31750">
            <a:solidFill>
              <a:schemeClr val="tx1"/>
            </a:solidFill>
            <a:prstDash val="solid"/>
            <a:headEnd type="triangle"/>
          </a:ln>
        </p:spPr>
      </p:sp>
      <p:sp>
        <p:nvSpPr>
          <p:cNvPr id="30" name="Text 28"/>
          <p:cNvSpPr txBox="1"/>
          <p:nvPr/>
        </p:nvSpPr>
        <p:spPr>
          <a:xfrm>
            <a:off x="5440680" y="3995928"/>
            <a:ext cx="2377440" cy="237744"/>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when complete: show comic + PDF</a:t>
            </a:r>
            <a:endParaRPr lang="en-US" sz="1100" dirty="0"/>
          </a:p>
        </p:txBody>
      </p:sp>
      <p:sp>
        <p:nvSpPr>
          <p:cNvPr id="31" name="Shape 29"/>
          <p:cNvSpPr/>
          <p:nvPr/>
        </p:nvSpPr>
        <p:spPr>
          <a:xfrm>
            <a:off x="5394960" y="4251960"/>
            <a:ext cx="2468880" cy="0"/>
          </a:xfrm>
          <a:prstGeom prst="line">
            <a:avLst/>
          </a:prstGeom>
          <a:noFill/>
          <a:ln w="31750">
            <a:solidFill>
              <a:schemeClr val="tx1"/>
            </a:solidFill>
            <a:prstDash val="solid"/>
            <a:headEnd type="triangle"/>
          </a:ln>
        </p:spPr>
      </p:sp>
      <p:sp>
        <p:nvSpPr>
          <p:cNvPr id="32" name="Text 30"/>
          <p:cNvSpPr txBox="1"/>
          <p:nvPr/>
        </p:nvSpPr>
        <p:spPr>
          <a:xfrm>
            <a:off x="4572000" y="4526280"/>
            <a:ext cx="4114800" cy="228600"/>
          </a:xfrm>
          <a:prstGeom prst="rect">
            <a:avLst/>
          </a:prstGeom>
          <a:noFill/>
          <a:ln/>
        </p:spPr>
        <p:txBody>
          <a:bodyPr wrap="square" lIns="0" tIns="0" rIns="0" bIns="0" rtlCol="0" anchor="ctr"/>
          <a:lstStyle/>
          <a:p>
            <a:pPr indent="0" marL="0">
              <a:buNone/>
            </a:pPr>
            <a:r>
              <a:rPr lang="en-US" sz="1000" i="1" dirty="0">
                <a:solidFill>
                  <a:schemeClr val="tx2"/>
                </a:solidFill>
                <a:latin typeface="Calibri" pitchFamily="34" charset="0"/>
                <a:ea typeface="Calibri" pitchFamily="34" charset="-122"/>
                <a:cs typeface="Calibri" pitchFamily="34" charset="-120"/>
              </a:rPr>
              <a:t>Polling only — Server-Sent Events are not claimed</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dirty="0">
                <a:solidFill>
                  <a:schemeClr val="tx1"/>
                </a:solidFill>
                <a:latin typeface="Impact" pitchFamily="34" charset="0"/>
                <a:ea typeface="Impact" pitchFamily="34" charset="-122"/>
                <a:cs typeface="Impact" pitchFamily="34" charset="-120"/>
              </a:rPr>
              <a:t>Database, Image Storage and PDF Generation</a:t>
            </a:r>
            <a:endParaRPr lang="en-US" sz="3000" dirty="0"/>
          </a:p>
        </p:txBody>
      </p:sp>
      <p:sp>
        <p:nvSpPr>
          <p:cNvPr id="3" name="Shape 1"/>
          <p:cNvSpPr/>
          <p:nvPr/>
        </p:nvSpPr>
        <p:spPr>
          <a:xfrm>
            <a:off x="457200" y="1097280"/>
            <a:ext cx="4023360" cy="1691640"/>
          </a:xfrm>
          <a:prstGeom prst="roundRect">
            <a:avLst>
              <a:gd name="adj" fmla="val 4324"/>
            </a:avLst>
          </a:prstGeom>
          <a:solidFill>
            <a:schemeClr val="accent2"/>
          </a:solidFill>
          <a:ln w="25400">
            <a:solidFill>
              <a:schemeClr val="tx1"/>
            </a:solidFill>
            <a:prstDash val="solid"/>
          </a:ln>
          <a:effectLst>
            <a:outerShdw sx="100000" sy="100000" kx="0" ky="0" algn="bl" rotWithShape="0" blurRad="101600" dist="38100" dir="2700000">
              <a:srgbClr val="171717">
                <a:alpha val="100000"/>
              </a:srgbClr>
            </a:outerShdw>
          </a:effectLst>
        </p:spPr>
      </p:sp>
      <p:sp>
        <p:nvSpPr>
          <p:cNvPr id="4" name="Text 2"/>
          <p:cNvSpPr txBox="1"/>
          <p:nvPr/>
        </p:nvSpPr>
        <p:spPr>
          <a:xfrm>
            <a:off x="640080" y="1143000"/>
            <a:ext cx="3657600" cy="365760"/>
          </a:xfrm>
          <a:prstGeom prst="rect">
            <a:avLst/>
          </a:prstGeom>
          <a:noFill/>
          <a:ln/>
        </p:spPr>
        <p:txBody>
          <a:bodyPr wrap="square" lIns="0" tIns="0" rIns="0" bIns="0" rtlCol="0" anchor="ctr"/>
          <a:lstStyle/>
          <a:p>
            <a:pPr indent="0" marL="0">
              <a:buNone/>
            </a:pPr>
            <a:r>
              <a:rPr lang="en-US" sz="1700" dirty="0">
                <a:solidFill>
                  <a:schemeClr val="accent3"/>
                </a:solidFill>
                <a:latin typeface="Impact" pitchFamily="34" charset="0"/>
                <a:ea typeface="Impact" pitchFamily="34" charset="-122"/>
                <a:cs typeface="Impact" pitchFamily="34" charset="-120"/>
              </a:rPr>
              <a:t>SQLite + SQLAlchemy</a:t>
            </a:r>
            <a:endParaRPr lang="en-US" sz="1700" dirty="0"/>
          </a:p>
        </p:txBody>
      </p:sp>
      <p:sp>
        <p:nvSpPr>
          <p:cNvPr id="5" name="Text 3"/>
          <p:cNvSpPr txBox="1"/>
          <p:nvPr/>
        </p:nvSpPr>
        <p:spPr>
          <a:xfrm>
            <a:off x="640080" y="1554480"/>
            <a:ext cx="3657600" cy="11887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2"/>
                </a:solidFill>
                <a:latin typeface="Calibri" pitchFamily="34" charset="0"/>
                <a:ea typeface="Calibri" pitchFamily="34" charset="-122"/>
                <a:cs typeface="Calibri" pitchFamily="34" charset="-120"/>
              </a:rPr>
              <a:t>Comic metadata</a:t>
            </a:r>
            <a:endParaRPr lang="en-US" sz="1400" dirty="0"/>
          </a:p>
          <a:p>
            <a:pPr marL="342900" indent="-342900">
              <a:spcAft>
                <a:spcPts val="400"/>
              </a:spcAft>
              <a:buSzPct val="100000"/>
              <a:buChar char="•"/>
            </a:pPr>
            <a:r>
              <a:rPr lang="en-US" sz="1400" dirty="0">
                <a:solidFill>
                  <a:schemeClr val="bg2"/>
                </a:solidFill>
                <a:latin typeface="Calibri" pitchFamily="34" charset="0"/>
                <a:ea typeface="Calibri" pitchFamily="34" charset="-122"/>
                <a:cs typeface="Calibri" pitchFamily="34" charset="-120"/>
              </a:rPr>
              <a:t>Panel records</a:t>
            </a:r>
            <a:endParaRPr lang="en-US" sz="1400" dirty="0"/>
          </a:p>
          <a:p>
            <a:pPr marL="342900" indent="-342900">
              <a:spcAft>
                <a:spcPts val="400"/>
              </a:spcAft>
              <a:buSzPct val="100000"/>
              <a:buChar char="•"/>
            </a:pPr>
            <a:r>
              <a:rPr lang="en-US" sz="1400" dirty="0">
                <a:solidFill>
                  <a:schemeClr val="bg2"/>
                </a:solidFill>
                <a:latin typeface="Calibri" pitchFamily="34" charset="0"/>
                <a:ea typeface="Calibri" pitchFamily="34" charset="-122"/>
                <a:cs typeface="Calibri" pitchFamily="34" charset="-120"/>
              </a:rPr>
              <a:t>Status and other persisted information</a:t>
            </a:r>
            <a:endParaRPr lang="en-US" sz="1400" dirty="0"/>
          </a:p>
        </p:txBody>
      </p:sp>
      <p:sp>
        <p:nvSpPr>
          <p:cNvPr id="6" name="Shape 4"/>
          <p:cNvSpPr/>
          <p:nvPr/>
        </p:nvSpPr>
        <p:spPr>
          <a:xfrm>
            <a:off x="4663440" y="1097280"/>
            <a:ext cx="4023360" cy="1691640"/>
          </a:xfrm>
          <a:prstGeom prst="roundRect">
            <a:avLst>
              <a:gd name="adj" fmla="val 4324"/>
            </a:avLst>
          </a:prstGeom>
          <a:solidFill>
            <a:schemeClr val="accent3"/>
          </a:solidFill>
          <a:ln w="25400">
            <a:solidFill>
              <a:schemeClr val="tx1"/>
            </a:solidFill>
            <a:prstDash val="solid"/>
          </a:ln>
          <a:effectLst>
            <a:outerShdw sx="100000" sy="100000" kx="0" ky="0" algn="bl" rotWithShape="0" blurRad="101600" dist="38100" dir="2700000">
              <a:srgbClr val="171717">
                <a:alpha val="100000"/>
              </a:srgbClr>
            </a:outerShdw>
          </a:effectLst>
        </p:spPr>
      </p:sp>
      <p:sp>
        <p:nvSpPr>
          <p:cNvPr id="7" name="Text 5"/>
          <p:cNvSpPr txBox="1"/>
          <p:nvPr/>
        </p:nvSpPr>
        <p:spPr>
          <a:xfrm>
            <a:off x="4846320" y="1143000"/>
            <a:ext cx="3657600" cy="365760"/>
          </a:xfrm>
          <a:prstGeom prst="rect">
            <a:avLst/>
          </a:prstGeom>
          <a:noFill/>
          <a:ln/>
        </p:spPr>
        <p:txBody>
          <a:bodyPr wrap="square" lIns="0" tIns="0" rIns="0" bIns="0" rtlCol="0" anchor="ctr"/>
          <a:lstStyle/>
          <a:p>
            <a:pPr indent="0" marL="0">
              <a:buNone/>
            </a:pPr>
            <a:r>
              <a:rPr lang="en-US" sz="1700" dirty="0">
                <a:solidFill>
                  <a:schemeClr val="accent1"/>
                </a:solidFill>
                <a:latin typeface="Impact" pitchFamily="34" charset="0"/>
                <a:ea typeface="Impact" pitchFamily="34" charset="-122"/>
                <a:cs typeface="Impact" pitchFamily="34" charset="-120"/>
              </a:rPr>
              <a:t>Filesystem</a:t>
            </a:r>
            <a:endParaRPr lang="en-US" sz="1700" dirty="0"/>
          </a:p>
        </p:txBody>
      </p:sp>
      <p:sp>
        <p:nvSpPr>
          <p:cNvPr id="8" name="Text 6"/>
          <p:cNvSpPr txBox="1"/>
          <p:nvPr/>
        </p:nvSpPr>
        <p:spPr>
          <a:xfrm>
            <a:off x="4846320" y="1554480"/>
            <a:ext cx="3657600" cy="11887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Panel image files</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Generated PDF files</a:t>
            </a:r>
            <a:endParaRPr lang="en-US" sz="1400" dirty="0"/>
          </a:p>
        </p:txBody>
      </p:sp>
      <p:sp>
        <p:nvSpPr>
          <p:cNvPr id="9" name="Text 7"/>
          <p:cNvSpPr txBox="1"/>
          <p:nvPr/>
        </p:nvSpPr>
        <p:spPr>
          <a:xfrm>
            <a:off x="457200" y="2852928"/>
            <a:ext cx="3657600" cy="274320"/>
          </a:xfrm>
          <a:prstGeom prst="rect">
            <a:avLst/>
          </a:prstGeom>
          <a:noFill/>
          <a:ln/>
        </p:spPr>
        <p:txBody>
          <a:bodyPr wrap="square" lIns="0" tIns="0" rIns="0" bIns="0" rtlCol="0" anchor="ctr"/>
          <a:lstStyle/>
          <a:p>
            <a:pPr indent="0" marL="0">
              <a:buNone/>
            </a:pPr>
            <a:r>
              <a:rPr lang="en-US" sz="1600" dirty="0">
                <a:solidFill>
                  <a:schemeClr val="tx1"/>
                </a:solidFill>
                <a:latin typeface="Impact" pitchFamily="34" charset="0"/>
                <a:ea typeface="Impact" pitchFamily="34" charset="-122"/>
                <a:cs typeface="Impact" pitchFamily="34" charset="-120"/>
              </a:rPr>
              <a:t>PDF pipeline</a:t>
            </a:r>
            <a:endParaRPr lang="en-US" sz="1600" dirty="0"/>
          </a:p>
        </p:txBody>
      </p:sp>
      <p:sp>
        <p:nvSpPr>
          <p:cNvPr id="10" name="Text 8"/>
          <p:cNvSpPr txBox="1"/>
          <p:nvPr/>
        </p:nvSpPr>
        <p:spPr>
          <a:xfrm>
            <a:off x="457200" y="3154680"/>
            <a:ext cx="1828800" cy="731520"/>
          </a:xfrm>
          <a:prstGeom prst="roundRect">
            <a:avLst>
              <a:gd name="adj" fmla="val 10000"/>
            </a:avLst>
          </a:prstGeom>
          <a:solidFill>
            <a:schemeClr val="bg2"/>
          </a:solidFill>
          <a:ln w="25400">
            <a:solidFill>
              <a:schemeClr val="tx1"/>
            </a:solidFill>
          </a:ln>
          <a:effectLst>
            <a:outerShdw sx="100000" sy="100000" kx="0" ky="0" algn="bl" rotWithShape="0" blurRad="101600" dist="38100" dir="2700000">
              <a:srgbClr val="171717">
                <a:alpha val="100000"/>
              </a:srgbClr>
            </a:outerShdw>
          </a:effectLst>
        </p:spPr>
        <p:txBody>
          <a:bodyPr wrap="square" lIns="50800" tIns="50800" rIns="50800" bIns="5080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Story + Illustrations + Narration + Dialogue</a:t>
            </a:r>
            <a:endParaRPr lang="en-US" sz="1200" dirty="0"/>
          </a:p>
        </p:txBody>
      </p:sp>
      <p:sp>
        <p:nvSpPr>
          <p:cNvPr id="11" name="Shape 9"/>
          <p:cNvSpPr/>
          <p:nvPr/>
        </p:nvSpPr>
        <p:spPr>
          <a:xfrm>
            <a:off x="2304288" y="3520440"/>
            <a:ext cx="265176" cy="0"/>
          </a:xfrm>
          <a:prstGeom prst="line">
            <a:avLst/>
          </a:prstGeom>
          <a:noFill/>
          <a:ln w="31750">
            <a:solidFill>
              <a:schemeClr val="tx1"/>
            </a:solidFill>
            <a:prstDash val="solid"/>
            <a:tailEnd type="triangle"/>
          </a:ln>
        </p:spPr>
      </p:sp>
      <p:sp>
        <p:nvSpPr>
          <p:cNvPr id="12" name="Text 10"/>
          <p:cNvSpPr txBox="1"/>
          <p:nvPr/>
        </p:nvSpPr>
        <p:spPr>
          <a:xfrm>
            <a:off x="2587752" y="3154680"/>
            <a:ext cx="1828800" cy="731520"/>
          </a:xfrm>
          <a:prstGeom prst="roundRect">
            <a:avLst>
              <a:gd name="adj" fmla="val 10000"/>
            </a:avLst>
          </a:prstGeom>
          <a:solidFill>
            <a:schemeClr val="accent1"/>
          </a:solidFill>
          <a:ln w="25400">
            <a:solidFill>
              <a:schemeClr val="tx1"/>
            </a:solidFill>
          </a:ln>
          <a:effectLst>
            <a:outerShdw sx="100000" sy="100000" kx="0" ky="0" algn="bl" rotWithShape="0" blurRad="101600" dist="38100" dir="2700000">
              <a:srgbClr val="171717">
                <a:alpha val="100000"/>
              </a:srgbClr>
            </a:outerShdw>
          </a:effectLst>
        </p:spPr>
        <p:txBody>
          <a:bodyPr wrap="square" lIns="50800" tIns="50800" rIns="50800" bIns="50800" rtlCol="0" anchor="ctr"/>
          <a:lstStyle/>
          <a:p>
            <a:pPr algn="ctr" indent="0" marL="0">
              <a:buNone/>
            </a:pPr>
            <a:r>
              <a:rPr lang="en-US" sz="1200" b="1" dirty="0">
                <a:solidFill>
                  <a:schemeClr val="bg2"/>
                </a:solidFill>
                <a:latin typeface="Calibri" pitchFamily="34" charset="0"/>
                <a:ea typeface="Calibri" pitchFamily="34" charset="-122"/>
                <a:cs typeface="Calibri" pitchFamily="34" charset="-120"/>
              </a:rPr>
              <a:t>fpdf2</a:t>
            </a:r>
            <a:endParaRPr lang="en-US" sz="1200" dirty="0"/>
          </a:p>
        </p:txBody>
      </p:sp>
      <p:sp>
        <p:nvSpPr>
          <p:cNvPr id="13" name="Shape 11"/>
          <p:cNvSpPr/>
          <p:nvPr/>
        </p:nvSpPr>
        <p:spPr>
          <a:xfrm>
            <a:off x="4434840" y="3520440"/>
            <a:ext cx="265176" cy="0"/>
          </a:xfrm>
          <a:prstGeom prst="line">
            <a:avLst/>
          </a:prstGeom>
          <a:noFill/>
          <a:ln w="31750">
            <a:solidFill>
              <a:schemeClr val="tx1"/>
            </a:solidFill>
            <a:prstDash val="solid"/>
            <a:tailEnd type="triangle"/>
          </a:ln>
        </p:spPr>
      </p:sp>
      <p:sp>
        <p:nvSpPr>
          <p:cNvPr id="14" name="Text 12"/>
          <p:cNvSpPr txBox="1"/>
          <p:nvPr/>
        </p:nvSpPr>
        <p:spPr>
          <a:xfrm>
            <a:off x="4718304" y="3154680"/>
            <a:ext cx="1828800" cy="731520"/>
          </a:xfrm>
          <a:prstGeom prst="roundRect">
            <a:avLst>
              <a:gd name="adj" fmla="val 10000"/>
            </a:avLst>
          </a:prstGeom>
          <a:solidFill>
            <a:schemeClr val="accent3"/>
          </a:solidFill>
          <a:ln w="25400">
            <a:solidFill>
              <a:schemeClr val="tx1"/>
            </a:solidFill>
          </a:ln>
          <a:effectLst>
            <a:outerShdw sx="100000" sy="100000" kx="0" ky="0" algn="bl" rotWithShape="0" blurRad="101600" dist="38100" dir="2700000">
              <a:srgbClr val="171717">
                <a:alpha val="100000"/>
              </a:srgbClr>
            </a:outerShdw>
          </a:effectLst>
        </p:spPr>
        <p:txBody>
          <a:bodyPr wrap="square" lIns="50800" tIns="50800" rIns="50800" bIns="5080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PDF File</a:t>
            </a:r>
            <a:endParaRPr lang="en-US" sz="1200" dirty="0"/>
          </a:p>
        </p:txBody>
      </p:sp>
      <p:sp>
        <p:nvSpPr>
          <p:cNvPr id="15" name="Shape 13"/>
          <p:cNvSpPr/>
          <p:nvPr/>
        </p:nvSpPr>
        <p:spPr>
          <a:xfrm>
            <a:off x="6565392" y="3520440"/>
            <a:ext cx="265176" cy="0"/>
          </a:xfrm>
          <a:prstGeom prst="line">
            <a:avLst/>
          </a:prstGeom>
          <a:noFill/>
          <a:ln w="31750">
            <a:solidFill>
              <a:schemeClr val="tx1"/>
            </a:solidFill>
            <a:prstDash val="solid"/>
            <a:tailEnd type="triangle"/>
          </a:ln>
        </p:spPr>
      </p:sp>
      <p:sp>
        <p:nvSpPr>
          <p:cNvPr id="16" name="Text 14"/>
          <p:cNvSpPr txBox="1"/>
          <p:nvPr/>
        </p:nvSpPr>
        <p:spPr>
          <a:xfrm>
            <a:off x="6848856" y="3154680"/>
            <a:ext cx="1828800" cy="731520"/>
          </a:xfrm>
          <a:prstGeom prst="roundRect">
            <a:avLst>
              <a:gd name="adj" fmla="val 10000"/>
            </a:avLst>
          </a:prstGeom>
          <a:solidFill>
            <a:schemeClr val="accent2"/>
          </a:solidFill>
          <a:ln w="25400">
            <a:solidFill>
              <a:schemeClr val="tx1"/>
            </a:solidFill>
          </a:ln>
          <a:effectLst>
            <a:outerShdw sx="100000" sy="100000" kx="0" ky="0" algn="bl" rotWithShape="0" blurRad="101600" dist="38100" dir="2700000">
              <a:srgbClr val="171717">
                <a:alpha val="100000"/>
              </a:srgbClr>
            </a:outerShdw>
          </a:effectLst>
        </p:spPr>
        <p:txBody>
          <a:bodyPr wrap="square" lIns="50800" tIns="50800" rIns="50800" bIns="50800" rtlCol="0" anchor="ctr"/>
          <a:lstStyle/>
          <a:p>
            <a:pPr algn="ctr" indent="0" marL="0">
              <a:buNone/>
            </a:pPr>
            <a:r>
              <a:rPr lang="en-US" sz="1200" b="1" dirty="0">
                <a:solidFill>
                  <a:schemeClr val="bg2"/>
                </a:solidFill>
                <a:latin typeface="Calibri" pitchFamily="34" charset="0"/>
                <a:ea typeface="Calibri" pitchFamily="34" charset="-122"/>
                <a:cs typeface="Calibri" pitchFamily="34" charset="-120"/>
              </a:rPr>
              <a:t>Browser Download</a:t>
            </a:r>
            <a:endParaRPr lang="en-US" sz="1200" dirty="0"/>
          </a:p>
        </p:txBody>
      </p:sp>
      <p:sp>
        <p:nvSpPr>
          <p:cNvPr id="17" name="Shape 15"/>
          <p:cNvSpPr/>
          <p:nvPr/>
        </p:nvSpPr>
        <p:spPr>
          <a:xfrm>
            <a:off x="457200" y="4041648"/>
            <a:ext cx="8229600" cy="658368"/>
          </a:xfrm>
          <a:prstGeom prst="roundRect">
            <a:avLst>
              <a:gd name="adj" fmla="val 11111"/>
            </a:avLst>
          </a:prstGeom>
          <a:solidFill>
            <a:schemeClr val="bg2"/>
          </a:solidFill>
          <a:ln w="19050">
            <a:solidFill>
              <a:schemeClr val="tx1"/>
            </a:solidFill>
            <a:prstDash val="solid"/>
          </a:ln>
        </p:spPr>
      </p:sp>
      <p:sp>
        <p:nvSpPr>
          <p:cNvPr id="18" name="Text 16"/>
          <p:cNvSpPr txBox="1"/>
          <p:nvPr/>
        </p:nvSpPr>
        <p:spPr>
          <a:xfrm>
            <a:off x="594360" y="4059936"/>
            <a:ext cx="7955280" cy="621792"/>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Why two places? The database keeps small, searchable records (what exists, what status). The filesystem keeps large files (images, PDF). Each store does what it is best at.</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dirty="0">
                <a:solidFill>
                  <a:schemeClr val="tx1"/>
                </a:solidFill>
                <a:latin typeface="Impact" pitchFamily="34" charset="0"/>
                <a:ea typeface="Impact" pitchFamily="34" charset="-122"/>
                <a:cs typeface="Impact" pitchFamily="34" charset="-120"/>
              </a:rPr>
              <a:t>User Interface, Testing and Verification</a:t>
            </a:r>
            <a:endParaRPr lang="en-US" sz="3000" dirty="0"/>
          </a:p>
        </p:txBody>
      </p:sp>
      <p:sp>
        <p:nvSpPr>
          <p:cNvPr id="3" name="Text 1"/>
          <p:cNvSpPr txBox="1"/>
          <p:nvPr/>
        </p:nvSpPr>
        <p:spPr>
          <a:xfrm>
            <a:off x="457200" y="1097280"/>
            <a:ext cx="1554480" cy="640080"/>
          </a:xfrm>
          <a:prstGeom prst="roundRect">
            <a:avLst>
              <a:gd name="adj" fmla="val 11429"/>
            </a:avLst>
          </a:prstGeom>
          <a:solidFill>
            <a:schemeClr val="bg2"/>
          </a:solidFill>
          <a:ln w="25400">
            <a:solidFill>
              <a:schemeClr val="tx1"/>
            </a:solidFill>
          </a:ln>
          <a:effectLst>
            <a:outerShdw sx="100000" sy="100000" kx="0" ky="0" algn="bl" rotWithShape="0" blurRad="101600" dist="38100" dir="2700000">
              <a:srgbClr val="171717">
                <a:alpha val="100000"/>
              </a:srgbClr>
            </a:outerShdw>
          </a:effectLst>
        </p:spPr>
        <p:txBody>
          <a:bodyPr wrap="square" lIns="50800" tIns="50800" rIns="50800" bIns="5080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Homepage</a:t>
            </a:r>
            <a:endParaRPr lang="en-US" sz="1300" dirty="0"/>
          </a:p>
        </p:txBody>
      </p:sp>
      <p:sp>
        <p:nvSpPr>
          <p:cNvPr id="4" name="Text 2"/>
          <p:cNvSpPr txBox="1"/>
          <p:nvPr/>
        </p:nvSpPr>
        <p:spPr>
          <a:xfrm>
            <a:off x="2125980" y="1097280"/>
            <a:ext cx="1554480" cy="640080"/>
          </a:xfrm>
          <a:prstGeom prst="roundRect">
            <a:avLst>
              <a:gd name="adj" fmla="val 11429"/>
            </a:avLst>
          </a:prstGeom>
          <a:solidFill>
            <a:schemeClr val="accent3"/>
          </a:solidFill>
          <a:ln w="25400">
            <a:solidFill>
              <a:schemeClr val="tx1"/>
            </a:solidFill>
          </a:ln>
          <a:effectLst>
            <a:outerShdw sx="100000" sy="100000" kx="0" ky="0" algn="bl" rotWithShape="0" blurRad="101600" dist="38100" dir="2700000">
              <a:srgbClr val="171717">
                <a:alpha val="100000"/>
              </a:srgbClr>
            </a:outerShdw>
          </a:effectLst>
        </p:spPr>
        <p:txBody>
          <a:bodyPr wrap="square" lIns="50800" tIns="50800" rIns="50800" bIns="5080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Studio</a:t>
            </a:r>
            <a:endParaRPr lang="en-US" sz="1300" dirty="0"/>
          </a:p>
        </p:txBody>
      </p:sp>
      <p:sp>
        <p:nvSpPr>
          <p:cNvPr id="5" name="Text 3"/>
          <p:cNvSpPr txBox="1"/>
          <p:nvPr/>
        </p:nvSpPr>
        <p:spPr>
          <a:xfrm>
            <a:off x="3794760" y="1097280"/>
            <a:ext cx="1554480" cy="640080"/>
          </a:xfrm>
          <a:prstGeom prst="roundRect">
            <a:avLst>
              <a:gd name="adj" fmla="val 11429"/>
            </a:avLst>
          </a:prstGeom>
          <a:solidFill>
            <a:schemeClr val="accent2"/>
          </a:solidFill>
          <a:ln w="25400">
            <a:solidFill>
              <a:schemeClr val="tx1"/>
            </a:solidFill>
          </a:ln>
          <a:effectLst>
            <a:outerShdw sx="100000" sy="100000" kx="0" ky="0" algn="bl" rotWithShape="0" blurRad="101600" dist="38100" dir="2700000">
              <a:srgbClr val="171717">
                <a:alpha val="100000"/>
              </a:srgbClr>
            </a:outerShdw>
          </a:effectLst>
        </p:spPr>
        <p:txBody>
          <a:bodyPr wrap="square" lIns="50800" tIns="50800" rIns="50800" bIns="50800" rtlCol="0" anchor="ctr"/>
          <a:lstStyle/>
          <a:p>
            <a:pPr algn="ctr" indent="0" marL="0">
              <a:buNone/>
            </a:pPr>
            <a:r>
              <a:rPr lang="en-US" sz="1300" b="1" dirty="0">
                <a:solidFill>
                  <a:schemeClr val="bg2"/>
                </a:solidFill>
                <a:latin typeface="Calibri" pitchFamily="34" charset="0"/>
                <a:ea typeface="Calibri" pitchFamily="34" charset="-122"/>
                <a:cs typeface="Calibri" pitchFamily="34" charset="-120"/>
              </a:rPr>
              <a:t>Progress indicator</a:t>
            </a:r>
            <a:endParaRPr lang="en-US" sz="1300" dirty="0"/>
          </a:p>
        </p:txBody>
      </p:sp>
      <p:sp>
        <p:nvSpPr>
          <p:cNvPr id="6" name="Text 4"/>
          <p:cNvSpPr txBox="1"/>
          <p:nvPr/>
        </p:nvSpPr>
        <p:spPr>
          <a:xfrm>
            <a:off x="5463540" y="1097280"/>
            <a:ext cx="1554480" cy="640080"/>
          </a:xfrm>
          <a:prstGeom prst="roundRect">
            <a:avLst>
              <a:gd name="adj" fmla="val 11429"/>
            </a:avLst>
          </a:prstGeom>
          <a:solidFill>
            <a:schemeClr val="bg2"/>
          </a:solidFill>
          <a:ln w="25400">
            <a:solidFill>
              <a:schemeClr val="tx1"/>
            </a:solidFill>
          </a:ln>
          <a:effectLst>
            <a:outerShdw sx="100000" sy="100000" kx="0" ky="0" algn="bl" rotWithShape="0" blurRad="101600" dist="38100" dir="2700000">
              <a:srgbClr val="171717">
                <a:alpha val="100000"/>
              </a:srgbClr>
            </a:outerShdw>
          </a:effectLst>
        </p:spPr>
        <p:txBody>
          <a:bodyPr wrap="square" lIns="50800" tIns="50800" rIns="50800" bIns="5080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Comic reader</a:t>
            </a:r>
            <a:endParaRPr lang="en-US" sz="1300" dirty="0"/>
          </a:p>
        </p:txBody>
      </p:sp>
      <p:sp>
        <p:nvSpPr>
          <p:cNvPr id="7" name="Text 5"/>
          <p:cNvSpPr txBox="1"/>
          <p:nvPr/>
        </p:nvSpPr>
        <p:spPr>
          <a:xfrm>
            <a:off x="7132320" y="1097280"/>
            <a:ext cx="1554480" cy="640080"/>
          </a:xfrm>
          <a:prstGeom prst="roundRect">
            <a:avLst>
              <a:gd name="adj" fmla="val 11429"/>
            </a:avLst>
          </a:prstGeom>
          <a:solidFill>
            <a:schemeClr val="accent1"/>
          </a:solidFill>
          <a:ln w="25400">
            <a:solidFill>
              <a:schemeClr val="tx1"/>
            </a:solidFill>
          </a:ln>
          <a:effectLst>
            <a:outerShdw sx="100000" sy="100000" kx="0" ky="0" algn="bl" rotWithShape="0" blurRad="101600" dist="38100" dir="2700000">
              <a:srgbClr val="171717">
                <a:alpha val="100000"/>
              </a:srgbClr>
            </a:outerShdw>
          </a:effectLst>
        </p:spPr>
        <p:txBody>
          <a:bodyPr wrap="square" lIns="50800" tIns="50800" rIns="50800" bIns="50800" rtlCol="0" anchor="ctr"/>
          <a:lstStyle/>
          <a:p>
            <a:pPr algn="ctr" indent="0" marL="0">
              <a:buNone/>
            </a:pPr>
            <a:r>
              <a:rPr lang="en-US" sz="1300" b="1" dirty="0">
                <a:solidFill>
                  <a:schemeClr val="bg2"/>
                </a:solidFill>
                <a:latin typeface="Calibri" pitchFamily="34" charset="0"/>
                <a:ea typeface="Calibri" pitchFamily="34" charset="-122"/>
                <a:cs typeface="Calibri" pitchFamily="34" charset="-120"/>
              </a:rPr>
              <a:t>PDF export</a:t>
            </a:r>
            <a:endParaRPr lang="en-US" sz="1300" dirty="0"/>
          </a:p>
        </p:txBody>
      </p:sp>
      <p:sp>
        <p:nvSpPr>
          <p:cNvPr id="8" name="Text 6"/>
          <p:cNvSpPr txBox="1"/>
          <p:nvPr/>
        </p:nvSpPr>
        <p:spPr>
          <a:xfrm>
            <a:off x="457200" y="1783080"/>
            <a:ext cx="8229600" cy="201168"/>
          </a:xfrm>
          <a:prstGeom prst="rect">
            <a:avLst/>
          </a:prstGeom>
          <a:noFill/>
          <a:ln/>
        </p:spPr>
        <p:txBody>
          <a:bodyPr wrap="square" lIns="0" tIns="0" rIns="0" bIns="0" rtlCol="0" anchor="ctr"/>
          <a:lstStyle/>
          <a:p>
            <a:pPr indent="0" marL="0">
              <a:buNone/>
            </a:pPr>
            <a:r>
              <a:rPr lang="en-US" sz="1000" i="1" dirty="0">
                <a:solidFill>
                  <a:schemeClr val="tx2"/>
                </a:solidFill>
                <a:latin typeface="Calibri" pitchFamily="34" charset="0"/>
                <a:ea typeface="Calibri" pitchFamily="34" charset="-122"/>
                <a:cs typeface="Calibri" pitchFamily="34" charset="-120"/>
              </a:rPr>
              <a:t>Main screens — conceptual tiles; add real screenshots here</a:t>
            </a:r>
            <a:endParaRPr lang="en-US" sz="1000" dirty="0"/>
          </a:p>
        </p:txBody>
      </p:sp>
      <p:sp>
        <p:nvSpPr>
          <p:cNvPr id="9" name="Shape 7"/>
          <p:cNvSpPr/>
          <p:nvPr/>
        </p:nvSpPr>
        <p:spPr>
          <a:xfrm>
            <a:off x="457200" y="2103120"/>
            <a:ext cx="4023360" cy="2286000"/>
          </a:xfrm>
          <a:prstGeom prst="roundRect">
            <a:avLst>
              <a:gd name="adj" fmla="val 3200"/>
            </a:avLst>
          </a:prstGeom>
          <a:solidFill>
            <a:schemeClr val="bg2"/>
          </a:solidFill>
          <a:ln w="25400">
            <a:solidFill>
              <a:schemeClr val="tx1"/>
            </a:solidFill>
            <a:prstDash val="solid"/>
          </a:ln>
          <a:effectLst>
            <a:outerShdw sx="100000" sy="100000" kx="0" ky="0" algn="bl" rotWithShape="0" blurRad="101600" dist="38100" dir="2700000">
              <a:srgbClr val="171717">
                <a:alpha val="100000"/>
              </a:srgbClr>
            </a:outerShdw>
          </a:effectLst>
        </p:spPr>
      </p:sp>
      <p:sp>
        <p:nvSpPr>
          <p:cNvPr id="10" name="Text 8"/>
          <p:cNvSpPr txBox="1"/>
          <p:nvPr/>
        </p:nvSpPr>
        <p:spPr>
          <a:xfrm>
            <a:off x="640080" y="2148840"/>
            <a:ext cx="3657600" cy="457200"/>
          </a:xfrm>
          <a:prstGeom prst="rect">
            <a:avLst/>
          </a:prstGeom>
          <a:noFill/>
          <a:ln/>
        </p:spPr>
        <p:txBody>
          <a:bodyPr wrap="square" lIns="0" tIns="0" rIns="0" bIns="0" rtlCol="0" anchor="ctr"/>
          <a:lstStyle/>
          <a:p>
            <a:pPr indent="0" marL="0">
              <a:buNone/>
            </a:pPr>
            <a:r>
              <a:rPr lang="en-US" sz="2400" dirty="0">
                <a:solidFill>
                  <a:schemeClr val="accent4"/>
                </a:solidFill>
                <a:latin typeface="Impact" pitchFamily="34" charset="0"/>
                <a:ea typeface="Impact" pitchFamily="34" charset="-122"/>
                <a:cs typeface="Impact" pitchFamily="34" charset="-120"/>
              </a:rPr>
              <a:t>12 passed, 0 failed</a:t>
            </a:r>
            <a:endParaRPr lang="en-US" sz="2400" dirty="0"/>
          </a:p>
        </p:txBody>
      </p:sp>
      <p:sp>
        <p:nvSpPr>
          <p:cNvPr id="11" name="Text 9"/>
          <p:cNvSpPr txBox="1"/>
          <p:nvPr/>
        </p:nvSpPr>
        <p:spPr>
          <a:xfrm>
            <a:off x="640080" y="2651760"/>
            <a:ext cx="3657600" cy="169164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latin typeface="Calibri" pitchFamily="34" charset="0"/>
                <a:ea typeface="Calibri" pitchFamily="34" charset="-122"/>
                <a:cs typeface="Calibri" pitchFamily="34" charset="-120"/>
              </a:rPr>
              <a:t>Story generation in deterministic mode</a:t>
            </a:r>
            <a:endParaRPr lang="en-US" sz="1300" dirty="0"/>
          </a:p>
          <a:p>
            <a:pPr marL="342900" indent="-342900">
              <a:spcAft>
                <a:spcPts val="300"/>
              </a:spcAft>
              <a:buSzPct val="100000"/>
              <a:buChar char="•"/>
            </a:pPr>
            <a:r>
              <a:rPr lang="en-US" sz="1300" dirty="0">
                <a:solidFill>
                  <a:schemeClr val="tx1"/>
                </a:solidFill>
                <a:latin typeface="Calibri" pitchFamily="34" charset="0"/>
                <a:ea typeface="Calibri" pitchFamily="34" charset="-122"/>
                <a:cs typeface="Calibri" pitchFamily="34" charset="-120"/>
              </a:rPr>
              <a:t>Offline illustration</a:t>
            </a:r>
            <a:endParaRPr lang="en-US" sz="1300" dirty="0"/>
          </a:p>
          <a:p>
            <a:pPr marL="342900" indent="-342900">
              <a:spcAft>
                <a:spcPts val="300"/>
              </a:spcAft>
              <a:buSzPct val="100000"/>
              <a:buChar char="•"/>
            </a:pPr>
            <a:r>
              <a:rPr lang="en-US" sz="1300" dirty="0">
                <a:solidFill>
                  <a:schemeClr val="tx1"/>
                </a:solidFill>
                <a:latin typeface="Calibri" pitchFamily="34" charset="0"/>
                <a:ea typeface="Calibri" pitchFamily="34" charset="-122"/>
                <a:cs typeface="Calibri" pitchFamily="34" charset="-120"/>
              </a:rPr>
              <a:t>Layout and PDF creation</a:t>
            </a:r>
            <a:endParaRPr lang="en-US" sz="1300" dirty="0"/>
          </a:p>
          <a:p>
            <a:pPr marL="342900" indent="-342900">
              <a:spcAft>
                <a:spcPts val="300"/>
              </a:spcAft>
              <a:buSzPct val="100000"/>
              <a:buChar char="•"/>
            </a:pPr>
            <a:r>
              <a:rPr lang="en-US" sz="1300" dirty="0">
                <a:solidFill>
                  <a:schemeClr val="tx1"/>
                </a:solidFill>
                <a:latin typeface="Calibri" pitchFamily="34" charset="0"/>
                <a:ea typeface="Calibri" pitchFamily="34" charset="-122"/>
                <a:cs typeface="Calibri" pitchFamily="34" charset="-120"/>
              </a:rPr>
              <a:t>Route rendering</a:t>
            </a:r>
            <a:endParaRPr lang="en-US" sz="1300" dirty="0"/>
          </a:p>
          <a:p>
            <a:pPr marL="342900" indent="-342900">
              <a:spcAft>
                <a:spcPts val="300"/>
              </a:spcAft>
              <a:buSzPct val="100000"/>
              <a:buChar char="•"/>
            </a:pPr>
            <a:r>
              <a:rPr lang="en-US" sz="1300" dirty="0">
                <a:solidFill>
                  <a:schemeClr val="tx1"/>
                </a:solidFill>
                <a:latin typeface="Calibri" pitchFamily="34" charset="0"/>
                <a:ea typeface="Calibri" pitchFamily="34" charset="-122"/>
                <a:cs typeface="Calibri" pitchFamily="34" charset="-120"/>
              </a:rPr>
              <a:t>Request validation</a:t>
            </a:r>
            <a:endParaRPr lang="en-US" sz="1300" dirty="0"/>
          </a:p>
          <a:p>
            <a:pPr marL="342900" indent="-342900">
              <a:spcAft>
                <a:spcPts val="300"/>
              </a:spcAft>
              <a:buSzPct val="100000"/>
              <a:buChar char="•"/>
            </a:pPr>
            <a:r>
              <a:rPr lang="en-US" sz="1300" dirty="0">
                <a:solidFill>
                  <a:schemeClr val="tx1"/>
                </a:solidFill>
                <a:latin typeface="Calibri" pitchFamily="34" charset="0"/>
                <a:ea typeface="Calibri" pitchFamily="34" charset="-122"/>
                <a:cs typeface="Calibri" pitchFamily="34" charset="-120"/>
              </a:rPr>
              <a:t>Comic creation and status polling</a:t>
            </a:r>
            <a:endParaRPr lang="en-US" sz="1300" dirty="0"/>
          </a:p>
        </p:txBody>
      </p:sp>
      <p:sp>
        <p:nvSpPr>
          <p:cNvPr id="12" name="Shape 10"/>
          <p:cNvSpPr/>
          <p:nvPr/>
        </p:nvSpPr>
        <p:spPr>
          <a:xfrm>
            <a:off x="4663440" y="2103120"/>
            <a:ext cx="4023360" cy="2286000"/>
          </a:xfrm>
          <a:prstGeom prst="roundRect">
            <a:avLst>
              <a:gd name="adj" fmla="val 3200"/>
            </a:avLst>
          </a:prstGeom>
          <a:solidFill>
            <a:schemeClr val="accent2"/>
          </a:solidFill>
          <a:ln w="25400">
            <a:solidFill>
              <a:schemeClr val="tx1"/>
            </a:solidFill>
            <a:prstDash val="solid"/>
          </a:ln>
          <a:effectLst>
            <a:outerShdw sx="100000" sy="100000" kx="0" ky="0" algn="bl" rotWithShape="0" blurRad="101600" dist="38100" dir="2700000">
              <a:srgbClr val="171717">
                <a:alpha val="100000"/>
              </a:srgbClr>
            </a:outerShdw>
          </a:effectLst>
        </p:spPr>
      </p:sp>
      <p:sp>
        <p:nvSpPr>
          <p:cNvPr id="13" name="Text 11"/>
          <p:cNvSpPr txBox="1"/>
          <p:nvPr/>
        </p:nvSpPr>
        <p:spPr>
          <a:xfrm>
            <a:off x="4846320" y="2148840"/>
            <a:ext cx="3657600" cy="365760"/>
          </a:xfrm>
          <a:prstGeom prst="rect">
            <a:avLst/>
          </a:prstGeom>
          <a:noFill/>
          <a:ln/>
        </p:spPr>
        <p:txBody>
          <a:bodyPr wrap="square" lIns="0" tIns="0" rIns="0" bIns="0" rtlCol="0" anchor="ctr"/>
          <a:lstStyle/>
          <a:p>
            <a:pPr indent="0" marL="0">
              <a:buNone/>
            </a:pPr>
            <a:r>
              <a:rPr lang="en-US" sz="1700" dirty="0">
                <a:solidFill>
                  <a:schemeClr val="accent3"/>
                </a:solidFill>
                <a:latin typeface="Impact" pitchFamily="34" charset="0"/>
                <a:ea typeface="Impact" pitchFamily="34" charset="-122"/>
                <a:cs typeface="Impact" pitchFamily="34" charset="-120"/>
              </a:rPr>
              <a:t>Demo checklist</a:t>
            </a:r>
            <a:endParaRPr lang="en-US" sz="1700" dirty="0"/>
          </a:p>
        </p:txBody>
      </p:sp>
      <p:sp>
        <p:nvSpPr>
          <p:cNvPr id="14" name="Text 12"/>
          <p:cNvSpPr txBox="1"/>
          <p:nvPr/>
        </p:nvSpPr>
        <p:spPr>
          <a:xfrm>
            <a:off x="4846320" y="2560320"/>
            <a:ext cx="246888" cy="246888"/>
          </a:xfrm>
          <a:prstGeom prst="ellipse">
            <a:avLst/>
          </a:prstGeom>
          <a:solidFill>
            <a:schemeClr val="accent3"/>
          </a:solidFill>
          <a:ln w="19050">
            <a:solidFill>
              <a:schemeClr val="tx1"/>
            </a:solidFill>
          </a:ln>
        </p:spPr>
        <p:txBody>
          <a:bodyPr wrap="square" lIns="0" tIns="0" rIns="0" bIns="0" rtlCol="0" anchor="ctr"/>
          <a:lstStyle/>
          <a:p>
            <a:pPr algn="ctr" indent="0" marL="0">
              <a:buNone/>
            </a:pPr>
            <a:r>
              <a:rPr lang="en-US" sz="1400" dirty="0">
                <a:solidFill>
                  <a:schemeClr val="tx1"/>
                </a:solidFill>
                <a:latin typeface="Impact" pitchFamily="34" charset="0"/>
                <a:ea typeface="Impact" pitchFamily="34" charset="-122"/>
                <a:cs typeface="Impact" pitchFamily="34" charset="-120"/>
              </a:rPr>
              <a:t>1</a:t>
            </a:r>
            <a:endParaRPr lang="en-US" sz="1400" dirty="0"/>
          </a:p>
        </p:txBody>
      </p:sp>
      <p:sp>
        <p:nvSpPr>
          <p:cNvPr id="15" name="Text 13"/>
          <p:cNvSpPr txBox="1"/>
          <p:nvPr/>
        </p:nvSpPr>
        <p:spPr>
          <a:xfrm>
            <a:off x="5212080" y="2542032"/>
            <a:ext cx="3291840" cy="283464"/>
          </a:xfrm>
          <a:prstGeom prst="rect">
            <a:avLst/>
          </a:prstGeom>
          <a:noFill/>
          <a:ln/>
        </p:spPr>
        <p:txBody>
          <a:bodyPr wrap="square" lIns="0" tIns="0" rIns="0" bIns="0" rtlCol="0" anchor="ctr"/>
          <a:lstStyle/>
          <a:p>
            <a:pPr indent="0" marL="0">
              <a:buNone/>
            </a:pPr>
            <a:r>
              <a:rPr lang="en-US" sz="1300" dirty="0">
                <a:solidFill>
                  <a:schemeClr val="bg2"/>
                </a:solidFill>
                <a:latin typeface="Calibri" pitchFamily="34" charset="0"/>
                <a:ea typeface="Calibri" pitchFamily="34" charset="-122"/>
                <a:cs typeface="Calibri" pitchFamily="34" charset="-120"/>
              </a:rPr>
              <a:t>Open the application</a:t>
            </a:r>
            <a:endParaRPr lang="en-US" sz="1300" dirty="0"/>
          </a:p>
        </p:txBody>
      </p:sp>
      <p:sp>
        <p:nvSpPr>
          <p:cNvPr id="16" name="Text 14"/>
          <p:cNvSpPr txBox="1"/>
          <p:nvPr/>
        </p:nvSpPr>
        <p:spPr>
          <a:xfrm>
            <a:off x="4846320" y="2852928"/>
            <a:ext cx="246888" cy="246888"/>
          </a:xfrm>
          <a:prstGeom prst="ellipse">
            <a:avLst/>
          </a:prstGeom>
          <a:solidFill>
            <a:schemeClr val="accent3"/>
          </a:solidFill>
          <a:ln w="19050">
            <a:solidFill>
              <a:schemeClr val="tx1"/>
            </a:solidFill>
          </a:ln>
        </p:spPr>
        <p:txBody>
          <a:bodyPr wrap="square" lIns="0" tIns="0" rIns="0" bIns="0" rtlCol="0" anchor="ctr"/>
          <a:lstStyle/>
          <a:p>
            <a:pPr algn="ctr" indent="0" marL="0">
              <a:buNone/>
            </a:pPr>
            <a:r>
              <a:rPr lang="en-US" sz="1400" dirty="0">
                <a:solidFill>
                  <a:schemeClr val="tx1"/>
                </a:solidFill>
                <a:latin typeface="Impact" pitchFamily="34" charset="0"/>
                <a:ea typeface="Impact" pitchFamily="34" charset="-122"/>
                <a:cs typeface="Impact" pitchFamily="34" charset="-120"/>
              </a:rPr>
              <a:t>2</a:t>
            </a:r>
            <a:endParaRPr lang="en-US" sz="1400" dirty="0"/>
          </a:p>
        </p:txBody>
      </p:sp>
      <p:sp>
        <p:nvSpPr>
          <p:cNvPr id="17" name="Text 15"/>
          <p:cNvSpPr txBox="1"/>
          <p:nvPr/>
        </p:nvSpPr>
        <p:spPr>
          <a:xfrm>
            <a:off x="5212080" y="2834640"/>
            <a:ext cx="3291840" cy="283464"/>
          </a:xfrm>
          <a:prstGeom prst="rect">
            <a:avLst/>
          </a:prstGeom>
          <a:noFill/>
          <a:ln/>
        </p:spPr>
        <p:txBody>
          <a:bodyPr wrap="square" lIns="0" tIns="0" rIns="0" bIns="0" rtlCol="0" anchor="ctr"/>
          <a:lstStyle/>
          <a:p>
            <a:pPr indent="0" marL="0">
              <a:buNone/>
            </a:pPr>
            <a:r>
              <a:rPr lang="en-US" sz="1300" dirty="0">
                <a:solidFill>
                  <a:schemeClr val="bg2"/>
                </a:solidFill>
                <a:latin typeface="Calibri" pitchFamily="34" charset="0"/>
                <a:ea typeface="Calibri" pitchFamily="34" charset="-122"/>
                <a:cs typeface="Calibri" pitchFamily="34" charset="-120"/>
              </a:rPr>
              <a:t>Enter a story idea</a:t>
            </a:r>
            <a:endParaRPr lang="en-US" sz="1300" dirty="0"/>
          </a:p>
        </p:txBody>
      </p:sp>
      <p:sp>
        <p:nvSpPr>
          <p:cNvPr id="18" name="Text 16"/>
          <p:cNvSpPr txBox="1"/>
          <p:nvPr/>
        </p:nvSpPr>
        <p:spPr>
          <a:xfrm>
            <a:off x="4846320" y="3145536"/>
            <a:ext cx="246888" cy="246888"/>
          </a:xfrm>
          <a:prstGeom prst="ellipse">
            <a:avLst/>
          </a:prstGeom>
          <a:solidFill>
            <a:schemeClr val="accent3"/>
          </a:solidFill>
          <a:ln w="19050">
            <a:solidFill>
              <a:schemeClr val="tx1"/>
            </a:solidFill>
          </a:ln>
        </p:spPr>
        <p:txBody>
          <a:bodyPr wrap="square" lIns="0" tIns="0" rIns="0" bIns="0" rtlCol="0" anchor="ctr"/>
          <a:lstStyle/>
          <a:p>
            <a:pPr algn="ctr" indent="0" marL="0">
              <a:buNone/>
            </a:pPr>
            <a:r>
              <a:rPr lang="en-US" sz="1400" dirty="0">
                <a:solidFill>
                  <a:schemeClr val="tx1"/>
                </a:solidFill>
                <a:latin typeface="Impact" pitchFamily="34" charset="0"/>
                <a:ea typeface="Impact" pitchFamily="34" charset="-122"/>
                <a:cs typeface="Impact" pitchFamily="34" charset="-120"/>
              </a:rPr>
              <a:t>3</a:t>
            </a:r>
            <a:endParaRPr lang="en-US" sz="1400" dirty="0"/>
          </a:p>
        </p:txBody>
      </p:sp>
      <p:sp>
        <p:nvSpPr>
          <p:cNvPr id="19" name="Text 17"/>
          <p:cNvSpPr txBox="1"/>
          <p:nvPr/>
        </p:nvSpPr>
        <p:spPr>
          <a:xfrm>
            <a:off x="5212080" y="3127248"/>
            <a:ext cx="3291840" cy="283464"/>
          </a:xfrm>
          <a:prstGeom prst="rect">
            <a:avLst/>
          </a:prstGeom>
          <a:noFill/>
          <a:ln/>
        </p:spPr>
        <p:txBody>
          <a:bodyPr wrap="square" lIns="0" tIns="0" rIns="0" bIns="0" rtlCol="0" anchor="ctr"/>
          <a:lstStyle/>
          <a:p>
            <a:pPr indent="0" marL="0">
              <a:buNone/>
            </a:pPr>
            <a:r>
              <a:rPr lang="en-US" sz="1300" dirty="0">
                <a:solidFill>
                  <a:schemeClr val="bg2"/>
                </a:solidFill>
                <a:latin typeface="Calibri" pitchFamily="34" charset="0"/>
                <a:ea typeface="Calibri" pitchFamily="34" charset="-122"/>
                <a:cs typeface="Calibri" pitchFamily="34" charset="-120"/>
              </a:rPr>
              <a:t>Generate the comic</a:t>
            </a:r>
            <a:endParaRPr lang="en-US" sz="1300" dirty="0"/>
          </a:p>
        </p:txBody>
      </p:sp>
      <p:sp>
        <p:nvSpPr>
          <p:cNvPr id="20" name="Text 18"/>
          <p:cNvSpPr txBox="1"/>
          <p:nvPr/>
        </p:nvSpPr>
        <p:spPr>
          <a:xfrm>
            <a:off x="4846320" y="3438144"/>
            <a:ext cx="246888" cy="246888"/>
          </a:xfrm>
          <a:prstGeom prst="ellipse">
            <a:avLst/>
          </a:prstGeom>
          <a:solidFill>
            <a:schemeClr val="accent3"/>
          </a:solidFill>
          <a:ln w="19050">
            <a:solidFill>
              <a:schemeClr val="tx1"/>
            </a:solidFill>
          </a:ln>
        </p:spPr>
        <p:txBody>
          <a:bodyPr wrap="square" lIns="0" tIns="0" rIns="0" bIns="0" rtlCol="0" anchor="ctr"/>
          <a:lstStyle/>
          <a:p>
            <a:pPr algn="ctr" indent="0" marL="0">
              <a:buNone/>
            </a:pPr>
            <a:r>
              <a:rPr lang="en-US" sz="1400" dirty="0">
                <a:solidFill>
                  <a:schemeClr val="tx1"/>
                </a:solidFill>
                <a:latin typeface="Impact" pitchFamily="34" charset="0"/>
                <a:ea typeface="Impact" pitchFamily="34" charset="-122"/>
                <a:cs typeface="Impact" pitchFamily="34" charset="-120"/>
              </a:rPr>
              <a:t>4</a:t>
            </a:r>
            <a:endParaRPr lang="en-US" sz="1400" dirty="0"/>
          </a:p>
        </p:txBody>
      </p:sp>
      <p:sp>
        <p:nvSpPr>
          <p:cNvPr id="21" name="Text 19"/>
          <p:cNvSpPr txBox="1"/>
          <p:nvPr/>
        </p:nvSpPr>
        <p:spPr>
          <a:xfrm>
            <a:off x="5212080" y="3419856"/>
            <a:ext cx="3291840" cy="283464"/>
          </a:xfrm>
          <a:prstGeom prst="rect">
            <a:avLst/>
          </a:prstGeom>
          <a:noFill/>
          <a:ln/>
        </p:spPr>
        <p:txBody>
          <a:bodyPr wrap="square" lIns="0" tIns="0" rIns="0" bIns="0" rtlCol="0" anchor="ctr"/>
          <a:lstStyle/>
          <a:p>
            <a:pPr indent="0" marL="0">
              <a:buNone/>
            </a:pPr>
            <a:r>
              <a:rPr lang="en-US" sz="1300" dirty="0">
                <a:solidFill>
                  <a:schemeClr val="bg2"/>
                </a:solidFill>
                <a:latin typeface="Calibri" pitchFamily="34" charset="0"/>
                <a:ea typeface="Calibri" pitchFamily="34" charset="-122"/>
                <a:cs typeface="Calibri" pitchFamily="34" charset="-120"/>
              </a:rPr>
              <a:t>Watch the progress</a:t>
            </a:r>
            <a:endParaRPr lang="en-US" sz="1300" dirty="0"/>
          </a:p>
        </p:txBody>
      </p:sp>
      <p:sp>
        <p:nvSpPr>
          <p:cNvPr id="22" name="Text 20"/>
          <p:cNvSpPr txBox="1"/>
          <p:nvPr/>
        </p:nvSpPr>
        <p:spPr>
          <a:xfrm>
            <a:off x="4846320" y="3730752"/>
            <a:ext cx="246888" cy="246888"/>
          </a:xfrm>
          <a:prstGeom prst="ellipse">
            <a:avLst/>
          </a:prstGeom>
          <a:solidFill>
            <a:schemeClr val="accent3"/>
          </a:solidFill>
          <a:ln w="19050">
            <a:solidFill>
              <a:schemeClr val="tx1"/>
            </a:solidFill>
          </a:ln>
        </p:spPr>
        <p:txBody>
          <a:bodyPr wrap="square" lIns="0" tIns="0" rIns="0" bIns="0" rtlCol="0" anchor="ctr"/>
          <a:lstStyle/>
          <a:p>
            <a:pPr algn="ctr" indent="0" marL="0">
              <a:buNone/>
            </a:pPr>
            <a:r>
              <a:rPr lang="en-US" sz="1400" dirty="0">
                <a:solidFill>
                  <a:schemeClr val="tx1"/>
                </a:solidFill>
                <a:latin typeface="Impact" pitchFamily="34" charset="0"/>
                <a:ea typeface="Impact" pitchFamily="34" charset="-122"/>
                <a:cs typeface="Impact" pitchFamily="34" charset="-120"/>
              </a:rPr>
              <a:t>5</a:t>
            </a:r>
            <a:endParaRPr lang="en-US" sz="1400" dirty="0"/>
          </a:p>
        </p:txBody>
      </p:sp>
      <p:sp>
        <p:nvSpPr>
          <p:cNvPr id="23" name="Text 21"/>
          <p:cNvSpPr txBox="1"/>
          <p:nvPr/>
        </p:nvSpPr>
        <p:spPr>
          <a:xfrm>
            <a:off x="5212080" y="3712464"/>
            <a:ext cx="3291840" cy="283464"/>
          </a:xfrm>
          <a:prstGeom prst="rect">
            <a:avLst/>
          </a:prstGeom>
          <a:noFill/>
          <a:ln/>
        </p:spPr>
        <p:txBody>
          <a:bodyPr wrap="square" lIns="0" tIns="0" rIns="0" bIns="0" rtlCol="0" anchor="ctr"/>
          <a:lstStyle/>
          <a:p>
            <a:pPr indent="0" marL="0">
              <a:buNone/>
            </a:pPr>
            <a:r>
              <a:rPr lang="en-US" sz="1300" dirty="0">
                <a:solidFill>
                  <a:schemeClr val="bg2"/>
                </a:solidFill>
                <a:latin typeface="Calibri" pitchFamily="34" charset="0"/>
                <a:ea typeface="Calibri" pitchFamily="34" charset="-122"/>
                <a:cs typeface="Calibri" pitchFamily="34" charset="-120"/>
              </a:rPr>
              <a:t>Read the panels</a:t>
            </a:r>
            <a:endParaRPr lang="en-US" sz="1300" dirty="0"/>
          </a:p>
        </p:txBody>
      </p:sp>
      <p:sp>
        <p:nvSpPr>
          <p:cNvPr id="24" name="Text 22"/>
          <p:cNvSpPr txBox="1"/>
          <p:nvPr/>
        </p:nvSpPr>
        <p:spPr>
          <a:xfrm>
            <a:off x="4846320" y="4023360"/>
            <a:ext cx="246888" cy="246888"/>
          </a:xfrm>
          <a:prstGeom prst="ellipse">
            <a:avLst/>
          </a:prstGeom>
          <a:solidFill>
            <a:schemeClr val="accent3"/>
          </a:solidFill>
          <a:ln w="19050">
            <a:solidFill>
              <a:schemeClr val="tx1"/>
            </a:solidFill>
          </a:ln>
        </p:spPr>
        <p:txBody>
          <a:bodyPr wrap="square" lIns="0" tIns="0" rIns="0" bIns="0" rtlCol="0" anchor="ctr"/>
          <a:lstStyle/>
          <a:p>
            <a:pPr algn="ctr" indent="0" marL="0">
              <a:buNone/>
            </a:pPr>
            <a:r>
              <a:rPr lang="en-US" sz="1400" dirty="0">
                <a:solidFill>
                  <a:schemeClr val="tx1"/>
                </a:solidFill>
                <a:latin typeface="Impact" pitchFamily="34" charset="0"/>
                <a:ea typeface="Impact" pitchFamily="34" charset="-122"/>
                <a:cs typeface="Impact" pitchFamily="34" charset="-120"/>
              </a:rPr>
              <a:t>6</a:t>
            </a:r>
            <a:endParaRPr lang="en-US" sz="1400" dirty="0"/>
          </a:p>
        </p:txBody>
      </p:sp>
      <p:sp>
        <p:nvSpPr>
          <p:cNvPr id="25" name="Text 23"/>
          <p:cNvSpPr txBox="1"/>
          <p:nvPr/>
        </p:nvSpPr>
        <p:spPr>
          <a:xfrm>
            <a:off x="5212080" y="4005072"/>
            <a:ext cx="3291840" cy="283464"/>
          </a:xfrm>
          <a:prstGeom prst="rect">
            <a:avLst/>
          </a:prstGeom>
          <a:noFill/>
          <a:ln/>
        </p:spPr>
        <p:txBody>
          <a:bodyPr wrap="square" lIns="0" tIns="0" rIns="0" bIns="0" rtlCol="0" anchor="ctr"/>
          <a:lstStyle/>
          <a:p>
            <a:pPr indent="0" marL="0">
              <a:buNone/>
            </a:pPr>
            <a:r>
              <a:rPr lang="en-US" sz="1300" dirty="0">
                <a:solidFill>
                  <a:schemeClr val="bg2"/>
                </a:solidFill>
                <a:latin typeface="Calibri" pitchFamily="34" charset="0"/>
                <a:ea typeface="Calibri" pitchFamily="34" charset="-122"/>
                <a:cs typeface="Calibri" pitchFamily="34" charset="-120"/>
              </a:rPr>
              <a:t>Download the PDF</a:t>
            </a:r>
            <a:endParaRPr lang="en-US" sz="1300" dirty="0"/>
          </a:p>
        </p:txBody>
      </p:sp>
      <p:sp>
        <p:nvSpPr>
          <p:cNvPr id="26" name="Text 24"/>
          <p:cNvSpPr txBox="1"/>
          <p:nvPr/>
        </p:nvSpPr>
        <p:spPr>
          <a:xfrm>
            <a:off x="457200" y="4480560"/>
            <a:ext cx="7680960" cy="274320"/>
          </a:xfrm>
          <a:prstGeom prst="rect">
            <a:avLst/>
          </a:prstGeom>
          <a:noFill/>
          <a:ln/>
        </p:spPr>
        <p:txBody>
          <a:bodyPr wrap="square" lIns="0" tIns="0" rIns="0" bIns="0" rtlCol="0" anchor="ctr"/>
          <a:lstStyle/>
          <a:p>
            <a:pPr indent="0" marL="0">
              <a:buNone/>
            </a:pPr>
            <a:r>
              <a:rPr lang="en-US" sz="1200" b="1" i="1" dirty="0">
                <a:solidFill>
                  <a:schemeClr val="accent1"/>
                </a:solidFill>
                <a:latin typeface="Calibri" pitchFamily="34" charset="0"/>
                <a:ea typeface="Calibri" pitchFamily="34" charset="-122"/>
                <a:cs typeface="Calibri" pitchFamily="34" charset="-120"/>
              </a:rPr>
              <a:t>These test results do not by themselves prove that live Gemini or Hugging Face API calls work.</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dirty="0">
                <a:solidFill>
                  <a:schemeClr val="bg1"/>
                </a:solidFill>
                <a:latin typeface="Impact" pitchFamily="34" charset="0"/>
                <a:ea typeface="Impact" pitchFamily="34" charset="-122"/>
                <a:cs typeface="Impact" pitchFamily="34" charset="-120"/>
              </a:rPr>
              <a:t>Complete Workflow, Conclusion and Q&amp;A</a:t>
            </a:r>
            <a:endParaRPr lang="en-US" sz="3000" dirty="0"/>
          </a:p>
        </p:txBody>
      </p:sp>
      <p:sp>
        <p:nvSpPr>
          <p:cNvPr id="3" name="Text 1"/>
          <p:cNvSpPr txBox="1"/>
          <p:nvPr/>
        </p:nvSpPr>
        <p:spPr>
          <a:xfrm>
            <a:off x="457200" y="1051560"/>
            <a:ext cx="1234440" cy="548640"/>
          </a:xfrm>
          <a:prstGeom prst="roundRect">
            <a:avLst>
              <a:gd name="adj" fmla="val 13333"/>
            </a:avLst>
          </a:prstGeom>
          <a:solidFill>
            <a:schemeClr val="bg2"/>
          </a:solidFill>
          <a:ln w="25400">
            <a:solidFill>
              <a:schemeClr val="tx1"/>
            </a:solidFill>
          </a:ln>
          <a:effectLst>
            <a:outerShdw sx="100000" sy="100000" kx="0" ky="0" algn="bl" rotWithShape="0" blurRad="101600" dist="38100" dir="2700000">
              <a:srgbClr val="FF3B30">
                <a:alpha val="100000"/>
              </a:srgbClr>
            </a:outerShdw>
          </a:effectLst>
        </p:spPr>
        <p:txBody>
          <a:bodyPr wrap="square" lIns="50800" tIns="50800" rIns="50800" bIns="5080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User</a:t>
            </a:r>
            <a:endParaRPr lang="en-US" sz="1200" dirty="0"/>
          </a:p>
        </p:txBody>
      </p:sp>
      <p:sp>
        <p:nvSpPr>
          <p:cNvPr id="4" name="Shape 2"/>
          <p:cNvSpPr/>
          <p:nvPr/>
        </p:nvSpPr>
        <p:spPr>
          <a:xfrm>
            <a:off x="1700784" y="1325880"/>
            <a:ext cx="146304" cy="0"/>
          </a:xfrm>
          <a:prstGeom prst="line">
            <a:avLst/>
          </a:prstGeom>
          <a:noFill/>
          <a:ln w="31750">
            <a:solidFill>
              <a:schemeClr val="accent3"/>
            </a:solidFill>
            <a:prstDash val="solid"/>
            <a:tailEnd type="triangle"/>
          </a:ln>
        </p:spPr>
      </p:sp>
      <p:sp>
        <p:nvSpPr>
          <p:cNvPr id="5" name="Text 3"/>
          <p:cNvSpPr txBox="1"/>
          <p:nvPr/>
        </p:nvSpPr>
        <p:spPr>
          <a:xfrm>
            <a:off x="1856232" y="1051560"/>
            <a:ext cx="1234440" cy="548640"/>
          </a:xfrm>
          <a:prstGeom prst="roundRect">
            <a:avLst>
              <a:gd name="adj" fmla="val 13333"/>
            </a:avLst>
          </a:prstGeom>
          <a:solidFill>
            <a:schemeClr val="accent3"/>
          </a:solidFill>
          <a:ln w="25400">
            <a:solidFill>
              <a:schemeClr val="tx1"/>
            </a:solidFill>
          </a:ln>
          <a:effectLst>
            <a:outerShdw sx="100000" sy="100000" kx="0" ky="0" algn="bl" rotWithShape="0" blurRad="101600" dist="38100" dir="2700000">
              <a:srgbClr val="FF3B30">
                <a:alpha val="100000"/>
              </a:srgbClr>
            </a:outerShdw>
          </a:effectLst>
        </p:spPr>
        <p:txBody>
          <a:bodyPr wrap="square" lIns="50800" tIns="50800" rIns="50800" bIns="5080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Browser UI</a:t>
            </a:r>
            <a:endParaRPr lang="en-US" sz="1200" dirty="0"/>
          </a:p>
        </p:txBody>
      </p:sp>
      <p:sp>
        <p:nvSpPr>
          <p:cNvPr id="6" name="Shape 4"/>
          <p:cNvSpPr/>
          <p:nvPr/>
        </p:nvSpPr>
        <p:spPr>
          <a:xfrm>
            <a:off x="3099816" y="1325880"/>
            <a:ext cx="146304" cy="0"/>
          </a:xfrm>
          <a:prstGeom prst="line">
            <a:avLst/>
          </a:prstGeom>
          <a:noFill/>
          <a:ln w="31750">
            <a:solidFill>
              <a:schemeClr val="accent3"/>
            </a:solidFill>
            <a:prstDash val="solid"/>
            <a:tailEnd type="triangle"/>
          </a:ln>
        </p:spPr>
      </p:sp>
      <p:sp>
        <p:nvSpPr>
          <p:cNvPr id="7" name="Text 5"/>
          <p:cNvSpPr txBox="1"/>
          <p:nvPr/>
        </p:nvSpPr>
        <p:spPr>
          <a:xfrm>
            <a:off x="3255264" y="1051560"/>
            <a:ext cx="1234440" cy="548640"/>
          </a:xfrm>
          <a:prstGeom prst="roundRect">
            <a:avLst>
              <a:gd name="adj" fmla="val 13333"/>
            </a:avLst>
          </a:prstGeom>
          <a:solidFill>
            <a:schemeClr val="bg2"/>
          </a:solidFill>
          <a:ln w="25400">
            <a:solidFill>
              <a:schemeClr val="tx1"/>
            </a:solidFill>
          </a:ln>
          <a:effectLst>
            <a:outerShdw sx="100000" sy="100000" kx="0" ky="0" algn="bl" rotWithShape="0" blurRad="101600" dist="38100" dir="2700000">
              <a:srgbClr val="FF3B30">
                <a:alpha val="100000"/>
              </a:srgbClr>
            </a:outerShdw>
          </a:effectLst>
        </p:spPr>
        <p:txBody>
          <a:bodyPr wrap="square" lIns="50800" tIns="50800" rIns="50800" bIns="5080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HTTP Request</a:t>
            </a:r>
            <a:endParaRPr lang="en-US" sz="1200" dirty="0"/>
          </a:p>
        </p:txBody>
      </p:sp>
      <p:sp>
        <p:nvSpPr>
          <p:cNvPr id="8" name="Shape 6"/>
          <p:cNvSpPr/>
          <p:nvPr/>
        </p:nvSpPr>
        <p:spPr>
          <a:xfrm>
            <a:off x="4498848" y="1325880"/>
            <a:ext cx="146304" cy="0"/>
          </a:xfrm>
          <a:prstGeom prst="line">
            <a:avLst/>
          </a:prstGeom>
          <a:noFill/>
          <a:ln w="31750">
            <a:solidFill>
              <a:schemeClr val="accent3"/>
            </a:solidFill>
            <a:prstDash val="solid"/>
            <a:tailEnd type="triangle"/>
          </a:ln>
        </p:spPr>
      </p:sp>
      <p:sp>
        <p:nvSpPr>
          <p:cNvPr id="9" name="Text 7"/>
          <p:cNvSpPr txBox="1"/>
          <p:nvPr/>
        </p:nvSpPr>
        <p:spPr>
          <a:xfrm>
            <a:off x="4654296" y="1051560"/>
            <a:ext cx="1234440" cy="548640"/>
          </a:xfrm>
          <a:prstGeom prst="roundRect">
            <a:avLst>
              <a:gd name="adj" fmla="val 13333"/>
            </a:avLst>
          </a:prstGeom>
          <a:solidFill>
            <a:schemeClr val="accent2"/>
          </a:solidFill>
          <a:ln w="25400">
            <a:solidFill>
              <a:schemeClr val="tx1"/>
            </a:solidFill>
          </a:ln>
          <a:effectLst>
            <a:outerShdw sx="100000" sy="100000" kx="0" ky="0" algn="bl" rotWithShape="0" blurRad="101600" dist="38100" dir="2700000">
              <a:srgbClr val="FF3B30">
                <a:alpha val="100000"/>
              </a:srgbClr>
            </a:outerShdw>
          </a:effectLst>
        </p:spPr>
        <p:txBody>
          <a:bodyPr wrap="square" lIns="50800" tIns="50800" rIns="50800" bIns="50800" rtlCol="0" anchor="ctr"/>
          <a:lstStyle/>
          <a:p>
            <a:pPr algn="ctr" indent="0" marL="0">
              <a:buNone/>
            </a:pPr>
            <a:r>
              <a:rPr lang="en-US" sz="1200" b="1" dirty="0">
                <a:solidFill>
                  <a:schemeClr val="bg2"/>
                </a:solidFill>
                <a:latin typeface="Calibri" pitchFamily="34" charset="0"/>
                <a:ea typeface="Calibri" pitchFamily="34" charset="-122"/>
                <a:cs typeface="Calibri" pitchFamily="34" charset="-120"/>
              </a:rPr>
              <a:t>FastAPI</a:t>
            </a:r>
            <a:endParaRPr lang="en-US" sz="1200" dirty="0"/>
          </a:p>
        </p:txBody>
      </p:sp>
      <p:sp>
        <p:nvSpPr>
          <p:cNvPr id="10" name="Shape 8"/>
          <p:cNvSpPr/>
          <p:nvPr/>
        </p:nvSpPr>
        <p:spPr>
          <a:xfrm>
            <a:off x="5897880" y="1325880"/>
            <a:ext cx="146304" cy="0"/>
          </a:xfrm>
          <a:prstGeom prst="line">
            <a:avLst/>
          </a:prstGeom>
          <a:noFill/>
          <a:ln w="31750">
            <a:solidFill>
              <a:schemeClr val="accent3"/>
            </a:solidFill>
            <a:prstDash val="solid"/>
            <a:tailEnd type="triangle"/>
          </a:ln>
        </p:spPr>
      </p:sp>
      <p:sp>
        <p:nvSpPr>
          <p:cNvPr id="11" name="Text 9"/>
          <p:cNvSpPr txBox="1"/>
          <p:nvPr/>
        </p:nvSpPr>
        <p:spPr>
          <a:xfrm>
            <a:off x="6053328" y="1051560"/>
            <a:ext cx="1234440" cy="548640"/>
          </a:xfrm>
          <a:prstGeom prst="roundRect">
            <a:avLst>
              <a:gd name="adj" fmla="val 13333"/>
            </a:avLst>
          </a:prstGeom>
          <a:solidFill>
            <a:schemeClr val="accent3"/>
          </a:solidFill>
          <a:ln w="25400">
            <a:solidFill>
              <a:schemeClr val="tx1"/>
            </a:solidFill>
          </a:ln>
          <a:effectLst>
            <a:outerShdw sx="100000" sy="100000" kx="0" ky="0" algn="bl" rotWithShape="0" blurRad="101600" dist="38100" dir="2700000">
              <a:srgbClr val="FF3B30">
                <a:alpha val="100000"/>
              </a:srgbClr>
            </a:outerShdw>
          </a:effectLst>
        </p:spPr>
        <p:txBody>
          <a:bodyPr wrap="square" lIns="50800" tIns="50800" rIns="50800" bIns="5080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Validation</a:t>
            </a:r>
            <a:endParaRPr lang="en-US" sz="1200" dirty="0"/>
          </a:p>
        </p:txBody>
      </p:sp>
      <p:sp>
        <p:nvSpPr>
          <p:cNvPr id="12" name="Shape 10"/>
          <p:cNvSpPr/>
          <p:nvPr/>
        </p:nvSpPr>
        <p:spPr>
          <a:xfrm>
            <a:off x="7296912" y="1325880"/>
            <a:ext cx="146304" cy="0"/>
          </a:xfrm>
          <a:prstGeom prst="line">
            <a:avLst/>
          </a:prstGeom>
          <a:noFill/>
          <a:ln w="31750">
            <a:solidFill>
              <a:schemeClr val="accent3"/>
            </a:solidFill>
            <a:prstDash val="solid"/>
            <a:tailEnd type="triangle"/>
          </a:ln>
        </p:spPr>
      </p:sp>
      <p:sp>
        <p:nvSpPr>
          <p:cNvPr id="13" name="Text 11"/>
          <p:cNvSpPr txBox="1"/>
          <p:nvPr/>
        </p:nvSpPr>
        <p:spPr>
          <a:xfrm>
            <a:off x="7452360" y="1051560"/>
            <a:ext cx="1234440" cy="548640"/>
          </a:xfrm>
          <a:prstGeom prst="roundRect">
            <a:avLst>
              <a:gd name="adj" fmla="val 13333"/>
            </a:avLst>
          </a:prstGeom>
          <a:solidFill>
            <a:schemeClr val="accent1"/>
          </a:solidFill>
          <a:ln w="25400">
            <a:solidFill>
              <a:schemeClr val="tx1"/>
            </a:solidFill>
          </a:ln>
          <a:effectLst>
            <a:outerShdw sx="100000" sy="100000" kx="0" ky="0" algn="bl" rotWithShape="0" blurRad="101600" dist="38100" dir="2700000">
              <a:srgbClr val="FF3B30">
                <a:alpha val="100000"/>
              </a:srgbClr>
            </a:outerShdw>
          </a:effectLst>
        </p:spPr>
        <p:txBody>
          <a:bodyPr wrap="square" lIns="50800" tIns="50800" rIns="50800" bIns="50800" rtlCol="0" anchor="ctr"/>
          <a:lstStyle/>
          <a:p>
            <a:pPr algn="ctr" indent="0" marL="0">
              <a:buNone/>
            </a:pPr>
            <a:r>
              <a:rPr lang="en-US" sz="1200" b="1" dirty="0">
                <a:solidFill>
                  <a:schemeClr val="bg2"/>
                </a:solidFill>
                <a:latin typeface="Calibri" pitchFamily="34" charset="0"/>
                <a:ea typeface="Calibri" pitchFamily="34" charset="-122"/>
                <a:cs typeface="Calibri" pitchFamily="34" charset="-120"/>
              </a:rPr>
              <a:t>Comic Service</a:t>
            </a:r>
            <a:endParaRPr lang="en-US" sz="1200" dirty="0"/>
          </a:p>
        </p:txBody>
      </p:sp>
      <p:sp>
        <p:nvSpPr>
          <p:cNvPr id="14" name="Shape 12"/>
          <p:cNvSpPr/>
          <p:nvPr/>
        </p:nvSpPr>
        <p:spPr>
          <a:xfrm>
            <a:off x="8069580" y="1618488"/>
            <a:ext cx="0" cy="329184"/>
          </a:xfrm>
          <a:prstGeom prst="line">
            <a:avLst/>
          </a:prstGeom>
          <a:noFill/>
          <a:ln w="31750">
            <a:solidFill>
              <a:schemeClr val="accent3"/>
            </a:solidFill>
            <a:prstDash val="solid"/>
            <a:tailEnd type="triangle"/>
          </a:ln>
        </p:spPr>
      </p:sp>
      <p:sp>
        <p:nvSpPr>
          <p:cNvPr id="15" name="Text 13"/>
          <p:cNvSpPr txBox="1"/>
          <p:nvPr/>
        </p:nvSpPr>
        <p:spPr>
          <a:xfrm>
            <a:off x="7452360" y="1965960"/>
            <a:ext cx="1234440" cy="548640"/>
          </a:xfrm>
          <a:prstGeom prst="roundRect">
            <a:avLst>
              <a:gd name="adj" fmla="val 13333"/>
            </a:avLst>
          </a:prstGeom>
          <a:solidFill>
            <a:schemeClr val="accent2"/>
          </a:solidFill>
          <a:ln w="25400">
            <a:solidFill>
              <a:schemeClr val="tx1"/>
            </a:solidFill>
          </a:ln>
          <a:effectLst>
            <a:outerShdw sx="100000" sy="100000" kx="0" ky="0" algn="bl" rotWithShape="0" blurRad="101600" dist="38100" dir="2700000">
              <a:srgbClr val="FF3B30">
                <a:alpha val="100000"/>
              </a:srgbClr>
            </a:outerShdw>
          </a:effectLst>
        </p:spPr>
        <p:txBody>
          <a:bodyPr wrap="square" lIns="50800" tIns="50800" rIns="50800" bIns="50800" rtlCol="0" anchor="ctr"/>
          <a:lstStyle/>
          <a:p>
            <a:pPr algn="ctr" indent="0" marL="0">
              <a:buNone/>
            </a:pPr>
            <a:r>
              <a:rPr lang="en-US" sz="1200" b="1" dirty="0">
                <a:solidFill>
                  <a:schemeClr val="bg2"/>
                </a:solidFill>
                <a:latin typeface="Calibri" pitchFamily="34" charset="0"/>
                <a:ea typeface="Calibri" pitchFamily="34" charset="-122"/>
                <a:cs typeface="Calibri" pitchFamily="34" charset="-120"/>
              </a:rPr>
              <a:t>Story Provider</a:t>
            </a:r>
            <a:endParaRPr lang="en-US" sz="1200" dirty="0"/>
          </a:p>
        </p:txBody>
      </p:sp>
      <p:sp>
        <p:nvSpPr>
          <p:cNvPr id="16" name="Shape 14"/>
          <p:cNvSpPr/>
          <p:nvPr/>
        </p:nvSpPr>
        <p:spPr>
          <a:xfrm>
            <a:off x="7296912" y="2240280"/>
            <a:ext cx="146304" cy="0"/>
          </a:xfrm>
          <a:prstGeom prst="line">
            <a:avLst/>
          </a:prstGeom>
          <a:noFill/>
          <a:ln w="31750">
            <a:solidFill>
              <a:schemeClr val="accent3"/>
            </a:solidFill>
            <a:prstDash val="solid"/>
            <a:headEnd type="triangle"/>
          </a:ln>
        </p:spPr>
      </p:sp>
      <p:sp>
        <p:nvSpPr>
          <p:cNvPr id="17" name="Text 15"/>
          <p:cNvSpPr txBox="1"/>
          <p:nvPr/>
        </p:nvSpPr>
        <p:spPr>
          <a:xfrm>
            <a:off x="6053328" y="1965960"/>
            <a:ext cx="1234440" cy="548640"/>
          </a:xfrm>
          <a:prstGeom prst="roundRect">
            <a:avLst>
              <a:gd name="adj" fmla="val 13333"/>
            </a:avLst>
          </a:prstGeom>
          <a:solidFill>
            <a:schemeClr val="bg2"/>
          </a:solidFill>
          <a:ln w="25400">
            <a:solidFill>
              <a:schemeClr val="tx1"/>
            </a:solidFill>
          </a:ln>
          <a:effectLst>
            <a:outerShdw sx="100000" sy="100000" kx="0" ky="0" algn="bl" rotWithShape="0" blurRad="101600" dist="38100" dir="2700000">
              <a:srgbClr val="FF3B30">
                <a:alpha val="100000"/>
              </a:srgbClr>
            </a:outerShdw>
          </a:effectLst>
        </p:spPr>
        <p:txBody>
          <a:bodyPr wrap="square" lIns="50800" tIns="50800" rIns="50800" bIns="5080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Image Provider</a:t>
            </a:r>
            <a:endParaRPr lang="en-US" sz="1200" dirty="0"/>
          </a:p>
        </p:txBody>
      </p:sp>
      <p:sp>
        <p:nvSpPr>
          <p:cNvPr id="18" name="Shape 16"/>
          <p:cNvSpPr/>
          <p:nvPr/>
        </p:nvSpPr>
        <p:spPr>
          <a:xfrm>
            <a:off x="5897880" y="2240280"/>
            <a:ext cx="146304" cy="0"/>
          </a:xfrm>
          <a:prstGeom prst="line">
            <a:avLst/>
          </a:prstGeom>
          <a:noFill/>
          <a:ln w="31750">
            <a:solidFill>
              <a:schemeClr val="accent3"/>
            </a:solidFill>
            <a:prstDash val="solid"/>
            <a:headEnd type="triangle"/>
          </a:ln>
        </p:spPr>
      </p:sp>
      <p:sp>
        <p:nvSpPr>
          <p:cNvPr id="19" name="Text 17"/>
          <p:cNvSpPr txBox="1"/>
          <p:nvPr/>
        </p:nvSpPr>
        <p:spPr>
          <a:xfrm>
            <a:off x="4654296" y="1965960"/>
            <a:ext cx="1234440" cy="548640"/>
          </a:xfrm>
          <a:prstGeom prst="roundRect">
            <a:avLst>
              <a:gd name="adj" fmla="val 13333"/>
            </a:avLst>
          </a:prstGeom>
          <a:solidFill>
            <a:schemeClr val="accent3"/>
          </a:solidFill>
          <a:ln w="25400">
            <a:solidFill>
              <a:schemeClr val="tx1"/>
            </a:solidFill>
          </a:ln>
          <a:effectLst>
            <a:outerShdw sx="100000" sy="100000" kx="0" ky="0" algn="bl" rotWithShape="0" blurRad="101600" dist="38100" dir="2700000">
              <a:srgbClr val="FF3B30">
                <a:alpha val="100000"/>
              </a:srgbClr>
            </a:outerShdw>
          </a:effectLst>
        </p:spPr>
        <p:txBody>
          <a:bodyPr wrap="square" lIns="50800" tIns="50800" rIns="50800" bIns="5080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Layout Builder</a:t>
            </a:r>
            <a:endParaRPr lang="en-US" sz="1200" dirty="0"/>
          </a:p>
        </p:txBody>
      </p:sp>
      <p:sp>
        <p:nvSpPr>
          <p:cNvPr id="20" name="Shape 18"/>
          <p:cNvSpPr/>
          <p:nvPr/>
        </p:nvSpPr>
        <p:spPr>
          <a:xfrm>
            <a:off x="4498848" y="2240280"/>
            <a:ext cx="146304" cy="0"/>
          </a:xfrm>
          <a:prstGeom prst="line">
            <a:avLst/>
          </a:prstGeom>
          <a:noFill/>
          <a:ln w="31750">
            <a:solidFill>
              <a:schemeClr val="accent3"/>
            </a:solidFill>
            <a:prstDash val="solid"/>
            <a:headEnd type="triangle"/>
          </a:ln>
        </p:spPr>
      </p:sp>
      <p:sp>
        <p:nvSpPr>
          <p:cNvPr id="21" name="Text 19"/>
          <p:cNvSpPr txBox="1"/>
          <p:nvPr/>
        </p:nvSpPr>
        <p:spPr>
          <a:xfrm>
            <a:off x="3255264" y="1965960"/>
            <a:ext cx="1234440" cy="548640"/>
          </a:xfrm>
          <a:prstGeom prst="roundRect">
            <a:avLst>
              <a:gd name="adj" fmla="val 13333"/>
            </a:avLst>
          </a:prstGeom>
          <a:solidFill>
            <a:schemeClr val="accent1"/>
          </a:solidFill>
          <a:ln w="25400">
            <a:solidFill>
              <a:schemeClr val="tx1"/>
            </a:solidFill>
          </a:ln>
          <a:effectLst>
            <a:outerShdw sx="100000" sy="100000" kx="0" ky="0" algn="bl" rotWithShape="0" blurRad="101600" dist="38100" dir="2700000">
              <a:srgbClr val="FF3B30">
                <a:alpha val="100000"/>
              </a:srgbClr>
            </a:outerShdw>
          </a:effectLst>
        </p:spPr>
        <p:txBody>
          <a:bodyPr wrap="square" lIns="50800" tIns="50800" rIns="50800" bIns="50800" rtlCol="0" anchor="ctr"/>
          <a:lstStyle/>
          <a:p>
            <a:pPr algn="ctr" indent="0" marL="0">
              <a:buNone/>
            </a:pPr>
            <a:r>
              <a:rPr lang="en-US" sz="1200" b="1" dirty="0">
                <a:solidFill>
                  <a:schemeClr val="bg2"/>
                </a:solidFill>
                <a:latin typeface="Calibri" pitchFamily="34" charset="0"/>
                <a:ea typeface="Calibri" pitchFamily="34" charset="-122"/>
                <a:cs typeface="Calibri" pitchFamily="34" charset="-120"/>
              </a:rPr>
              <a:t>PDF Service</a:t>
            </a:r>
            <a:endParaRPr lang="en-US" sz="1200" dirty="0"/>
          </a:p>
        </p:txBody>
      </p:sp>
      <p:sp>
        <p:nvSpPr>
          <p:cNvPr id="22" name="Shape 20"/>
          <p:cNvSpPr/>
          <p:nvPr/>
        </p:nvSpPr>
        <p:spPr>
          <a:xfrm>
            <a:off x="3099816" y="2240280"/>
            <a:ext cx="146304" cy="0"/>
          </a:xfrm>
          <a:prstGeom prst="line">
            <a:avLst/>
          </a:prstGeom>
          <a:noFill/>
          <a:ln w="31750">
            <a:solidFill>
              <a:schemeClr val="accent3"/>
            </a:solidFill>
            <a:prstDash val="solid"/>
            <a:headEnd type="triangle"/>
          </a:ln>
        </p:spPr>
      </p:sp>
      <p:sp>
        <p:nvSpPr>
          <p:cNvPr id="23" name="Text 21"/>
          <p:cNvSpPr txBox="1"/>
          <p:nvPr/>
        </p:nvSpPr>
        <p:spPr>
          <a:xfrm>
            <a:off x="1856232" y="1965960"/>
            <a:ext cx="1234440" cy="548640"/>
          </a:xfrm>
          <a:prstGeom prst="roundRect">
            <a:avLst>
              <a:gd name="adj" fmla="val 13333"/>
            </a:avLst>
          </a:prstGeom>
          <a:solidFill>
            <a:schemeClr val="bg2"/>
          </a:solidFill>
          <a:ln w="25400">
            <a:solidFill>
              <a:schemeClr val="tx1"/>
            </a:solidFill>
          </a:ln>
          <a:effectLst>
            <a:outerShdw sx="100000" sy="100000" kx="0" ky="0" algn="bl" rotWithShape="0" blurRad="101600" dist="38100" dir="2700000">
              <a:srgbClr val="FF3B30">
                <a:alpha val="100000"/>
              </a:srgbClr>
            </a:outerShdw>
          </a:effectLst>
        </p:spPr>
        <p:txBody>
          <a:bodyPr wrap="square" lIns="50800" tIns="50800" rIns="50800" bIns="5080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SQLite / Filesystem</a:t>
            </a:r>
            <a:endParaRPr lang="en-US" sz="1200" dirty="0"/>
          </a:p>
        </p:txBody>
      </p:sp>
      <p:sp>
        <p:nvSpPr>
          <p:cNvPr id="24" name="Shape 22"/>
          <p:cNvSpPr/>
          <p:nvPr/>
        </p:nvSpPr>
        <p:spPr>
          <a:xfrm>
            <a:off x="1700784" y="2240280"/>
            <a:ext cx="146304" cy="0"/>
          </a:xfrm>
          <a:prstGeom prst="line">
            <a:avLst/>
          </a:prstGeom>
          <a:noFill/>
          <a:ln w="31750">
            <a:solidFill>
              <a:schemeClr val="accent3"/>
            </a:solidFill>
            <a:prstDash val="solid"/>
            <a:headEnd type="triangle"/>
          </a:ln>
        </p:spPr>
      </p:sp>
      <p:sp>
        <p:nvSpPr>
          <p:cNvPr id="25" name="Text 23"/>
          <p:cNvSpPr txBox="1"/>
          <p:nvPr/>
        </p:nvSpPr>
        <p:spPr>
          <a:xfrm>
            <a:off x="457200" y="1965960"/>
            <a:ext cx="1234440" cy="548640"/>
          </a:xfrm>
          <a:prstGeom prst="roundRect">
            <a:avLst>
              <a:gd name="adj" fmla="val 13333"/>
            </a:avLst>
          </a:prstGeom>
          <a:solidFill>
            <a:schemeClr val="accent2"/>
          </a:solidFill>
          <a:ln w="25400">
            <a:solidFill>
              <a:schemeClr val="tx1"/>
            </a:solidFill>
          </a:ln>
          <a:effectLst>
            <a:outerShdw sx="100000" sy="100000" kx="0" ky="0" algn="bl" rotWithShape="0" blurRad="101600" dist="38100" dir="2700000">
              <a:srgbClr val="FF3B30">
                <a:alpha val="100000"/>
              </a:srgbClr>
            </a:outerShdw>
          </a:effectLst>
        </p:spPr>
        <p:txBody>
          <a:bodyPr wrap="square" lIns="50800" tIns="50800" rIns="50800" bIns="50800" rtlCol="0" anchor="ctr"/>
          <a:lstStyle/>
          <a:p>
            <a:pPr algn="ctr" indent="0" marL="0">
              <a:buNone/>
            </a:pPr>
            <a:r>
              <a:rPr lang="en-US" sz="1200" b="1" dirty="0">
                <a:solidFill>
                  <a:schemeClr val="bg2"/>
                </a:solidFill>
                <a:latin typeface="Calibri" pitchFamily="34" charset="0"/>
                <a:ea typeface="Calibri" pitchFamily="34" charset="-122"/>
                <a:cs typeface="Calibri" pitchFamily="34" charset="-120"/>
              </a:rPr>
              <a:t>Browser Preview + Download</a:t>
            </a:r>
            <a:endParaRPr lang="en-US" sz="1200" dirty="0"/>
          </a:p>
        </p:txBody>
      </p:sp>
      <p:sp>
        <p:nvSpPr>
          <p:cNvPr id="26" name="Text 24"/>
          <p:cNvSpPr txBox="1"/>
          <p:nvPr/>
        </p:nvSpPr>
        <p:spPr>
          <a:xfrm>
            <a:off x="6007608" y="2542032"/>
            <a:ext cx="1325880" cy="274320"/>
          </a:xfrm>
          <a:prstGeom prst="rect">
            <a:avLst/>
          </a:prstGeom>
          <a:noFill/>
          <a:ln/>
        </p:spPr>
        <p:txBody>
          <a:bodyPr wrap="square" lIns="0" tIns="0" rIns="0" bIns="0" rtlCol="0" anchor="ctr"/>
          <a:lstStyle/>
          <a:p>
            <a:pPr algn="ctr" indent="0" marL="0">
              <a:buNone/>
            </a:pPr>
            <a:r>
              <a:rPr lang="en-US" sz="1000" i="1" dirty="0">
                <a:solidFill>
                  <a:schemeClr val="accent3"/>
                </a:solidFill>
                <a:latin typeface="Calibri" pitchFamily="34" charset="0"/>
                <a:ea typeface="Calibri" pitchFamily="34" charset="-122"/>
                <a:cs typeface="Calibri" pitchFamily="34" charset="-120"/>
              </a:rPr>
              <a:t>saves panel images</a:t>
            </a:r>
            <a:endParaRPr lang="en-US" sz="1000" dirty="0"/>
          </a:p>
        </p:txBody>
      </p:sp>
      <p:sp>
        <p:nvSpPr>
          <p:cNvPr id="27" name="Text 25"/>
          <p:cNvSpPr txBox="1"/>
          <p:nvPr/>
        </p:nvSpPr>
        <p:spPr>
          <a:xfrm>
            <a:off x="3209544" y="2542032"/>
            <a:ext cx="1325880" cy="274320"/>
          </a:xfrm>
          <a:prstGeom prst="rect">
            <a:avLst/>
          </a:prstGeom>
          <a:noFill/>
          <a:ln/>
        </p:spPr>
        <p:txBody>
          <a:bodyPr wrap="square" lIns="0" tIns="0" rIns="0" bIns="0" rtlCol="0" anchor="ctr"/>
          <a:lstStyle/>
          <a:p>
            <a:pPr algn="ctr" indent="0" marL="0">
              <a:buNone/>
            </a:pPr>
            <a:r>
              <a:rPr lang="en-US" sz="1000" i="1" dirty="0">
                <a:solidFill>
                  <a:schemeClr val="accent3"/>
                </a:solidFill>
                <a:latin typeface="Calibri" pitchFamily="34" charset="0"/>
                <a:ea typeface="Calibri" pitchFamily="34" charset="-122"/>
                <a:cs typeface="Calibri" pitchFamily="34" charset="-120"/>
              </a:rPr>
              <a:t>saves PDF</a:t>
            </a:r>
            <a:endParaRPr lang="en-US" sz="1000" dirty="0"/>
          </a:p>
        </p:txBody>
      </p:sp>
      <p:sp>
        <p:nvSpPr>
          <p:cNvPr id="28" name="Text 26"/>
          <p:cNvSpPr txBox="1"/>
          <p:nvPr/>
        </p:nvSpPr>
        <p:spPr>
          <a:xfrm>
            <a:off x="1810512" y="2542032"/>
            <a:ext cx="1325880" cy="274320"/>
          </a:xfrm>
          <a:prstGeom prst="rect">
            <a:avLst/>
          </a:prstGeom>
          <a:noFill/>
          <a:ln/>
        </p:spPr>
        <p:txBody>
          <a:bodyPr wrap="square" lIns="0" tIns="0" rIns="0" bIns="0" rtlCol="0" anchor="ctr"/>
          <a:lstStyle/>
          <a:p>
            <a:pPr algn="ctr" indent="0" marL="0">
              <a:buNone/>
            </a:pPr>
            <a:r>
              <a:rPr lang="en-US" sz="1000" i="1" dirty="0">
                <a:solidFill>
                  <a:schemeClr val="accent3"/>
                </a:solidFill>
                <a:latin typeface="Calibri" pitchFamily="34" charset="0"/>
                <a:ea typeface="Calibri" pitchFamily="34" charset="-122"/>
                <a:cs typeface="Calibri" pitchFamily="34" charset="-120"/>
              </a:rPr>
              <a:t>records + files</a:t>
            </a:r>
            <a:endParaRPr lang="en-US" sz="1000" dirty="0"/>
          </a:p>
        </p:txBody>
      </p:sp>
      <p:sp>
        <p:nvSpPr>
          <p:cNvPr id="29" name="Text 27"/>
          <p:cNvSpPr txBox="1"/>
          <p:nvPr/>
        </p:nvSpPr>
        <p:spPr>
          <a:xfrm>
            <a:off x="457200" y="2816352"/>
            <a:ext cx="3657600" cy="201168"/>
          </a:xfrm>
          <a:prstGeom prst="rect">
            <a:avLst/>
          </a:prstGeom>
          <a:noFill/>
          <a:ln/>
        </p:spPr>
        <p:txBody>
          <a:bodyPr wrap="square" lIns="0" tIns="0" rIns="0" bIns="0" rtlCol="0" anchor="ctr"/>
          <a:lstStyle/>
          <a:p>
            <a:pPr indent="0" marL="0">
              <a:buNone/>
            </a:pPr>
            <a:r>
              <a:rPr lang="en-US" sz="1000" i="1" dirty="0">
                <a:solidFill>
                  <a:schemeClr val="bg1"/>
                </a:solidFill>
                <a:latin typeface="Calibri" pitchFamily="34" charset="0"/>
                <a:ea typeface="Calibri" pitchFamily="34" charset="-122"/>
                <a:cs typeface="Calibri" pitchFamily="34" charset="-120"/>
              </a:rPr>
              <a:t>Conceptual flow — adapt to the exact code</a:t>
            </a:r>
            <a:endParaRPr lang="en-US" sz="1000" dirty="0"/>
          </a:p>
        </p:txBody>
      </p:sp>
      <p:sp>
        <p:nvSpPr>
          <p:cNvPr id="30" name="Text 28"/>
          <p:cNvSpPr txBox="1"/>
          <p:nvPr/>
        </p:nvSpPr>
        <p:spPr>
          <a:xfrm>
            <a:off x="457200" y="3090672"/>
            <a:ext cx="1554480" cy="777240"/>
          </a:xfrm>
          <a:prstGeom prst="roundRect">
            <a:avLst>
              <a:gd name="adj" fmla="val 9412"/>
            </a:avLst>
          </a:prstGeom>
          <a:solidFill>
            <a:schemeClr val="bg1"/>
          </a:solidFill>
          <a:ln w="25400">
            <a:solidFill>
              <a:schemeClr val="tx1"/>
            </a:solidFill>
          </a:ln>
          <a:effectLst>
            <a:outerShdw sx="100000" sy="100000" kx="0" ky="0" algn="bl" rotWithShape="0" blurRad="101600" dist="38100" dir="2700000">
              <a:srgbClr val="FF3B30">
                <a:alpha val="100000"/>
              </a:srgbClr>
            </a:outerShdw>
          </a:effectLst>
        </p:spPr>
        <p:txBody>
          <a:bodyPr wrap="square" lIns="50800" tIns="50800" rIns="50800" bIns="5080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Story, images and PDF in one tool</a:t>
            </a:r>
            <a:endParaRPr lang="en-US" sz="1200" dirty="0"/>
          </a:p>
        </p:txBody>
      </p:sp>
      <p:sp>
        <p:nvSpPr>
          <p:cNvPr id="31" name="Text 29"/>
          <p:cNvSpPr txBox="1"/>
          <p:nvPr/>
        </p:nvSpPr>
        <p:spPr>
          <a:xfrm>
            <a:off x="2125980" y="3090672"/>
            <a:ext cx="1554480" cy="777240"/>
          </a:xfrm>
          <a:prstGeom prst="roundRect">
            <a:avLst>
              <a:gd name="adj" fmla="val 9412"/>
            </a:avLst>
          </a:prstGeom>
          <a:solidFill>
            <a:schemeClr val="bg1"/>
          </a:solidFill>
          <a:ln w="25400">
            <a:solidFill>
              <a:schemeClr val="tx1"/>
            </a:solidFill>
          </a:ln>
          <a:effectLst>
            <a:outerShdw sx="100000" sy="100000" kx="0" ky="0" algn="bl" rotWithShape="0" blurRad="101600" dist="38100" dir="2700000">
              <a:srgbClr val="FF3B30">
                <a:alpha val="100000"/>
              </a:srgbClr>
            </a:outerShdw>
          </a:effectLst>
        </p:spPr>
        <p:txBody>
          <a:bodyPr wrap="square" lIns="50800" tIns="50800" rIns="50800" bIns="5080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Frontend and backend clearly separated</a:t>
            </a:r>
            <a:endParaRPr lang="en-US" sz="1200" dirty="0"/>
          </a:p>
        </p:txBody>
      </p:sp>
      <p:sp>
        <p:nvSpPr>
          <p:cNvPr id="32" name="Text 30"/>
          <p:cNvSpPr txBox="1"/>
          <p:nvPr/>
        </p:nvSpPr>
        <p:spPr>
          <a:xfrm>
            <a:off x="3794760" y="3090672"/>
            <a:ext cx="1554480" cy="777240"/>
          </a:xfrm>
          <a:prstGeom prst="roundRect">
            <a:avLst>
              <a:gd name="adj" fmla="val 9412"/>
            </a:avLst>
          </a:prstGeom>
          <a:solidFill>
            <a:schemeClr val="bg1"/>
          </a:solidFill>
          <a:ln w="25400">
            <a:solidFill>
              <a:schemeClr val="tx1"/>
            </a:solidFill>
          </a:ln>
          <a:effectLst>
            <a:outerShdw sx="100000" sy="100000" kx="0" ky="0" algn="bl" rotWithShape="0" blurRad="101600" dist="38100" dir="2700000">
              <a:srgbClr val="FF3B30">
                <a:alpha val="100000"/>
              </a:srgbClr>
            </a:outerShdw>
          </a:effectLst>
        </p:spPr>
        <p:txBody>
          <a:bodyPr wrap="square" lIns="50800" tIns="50800" rIns="50800" bIns="5080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Swappable story and image providers</a:t>
            </a:r>
            <a:endParaRPr lang="en-US" sz="1200" dirty="0"/>
          </a:p>
        </p:txBody>
      </p:sp>
      <p:sp>
        <p:nvSpPr>
          <p:cNvPr id="33" name="Text 31"/>
          <p:cNvSpPr txBox="1"/>
          <p:nvPr/>
        </p:nvSpPr>
        <p:spPr>
          <a:xfrm>
            <a:off x="5463540" y="3090672"/>
            <a:ext cx="1554480" cy="777240"/>
          </a:xfrm>
          <a:prstGeom prst="roundRect">
            <a:avLst>
              <a:gd name="adj" fmla="val 9412"/>
            </a:avLst>
          </a:prstGeom>
          <a:solidFill>
            <a:schemeClr val="bg1"/>
          </a:solidFill>
          <a:ln w="25400">
            <a:solidFill>
              <a:schemeClr val="tx1"/>
            </a:solidFill>
          </a:ln>
          <a:effectLst>
            <a:outerShdw sx="100000" sy="100000" kx="0" ky="0" algn="bl" rotWithShape="0" blurRad="101600" dist="38100" dir="2700000">
              <a:srgbClr val="FF3B30">
                <a:alpha val="100000"/>
              </a:srgbClr>
            </a:outerShdw>
          </a:effectLst>
        </p:spPr>
        <p:txBody>
          <a:bodyPr wrap="square" lIns="50800" tIns="50800" rIns="50800" bIns="5080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Persistent storage, multi-stage generation</a:t>
            </a:r>
            <a:endParaRPr lang="en-US" sz="1200" dirty="0"/>
          </a:p>
        </p:txBody>
      </p:sp>
      <p:sp>
        <p:nvSpPr>
          <p:cNvPr id="34" name="Text 32"/>
          <p:cNvSpPr txBox="1"/>
          <p:nvPr/>
        </p:nvSpPr>
        <p:spPr>
          <a:xfrm>
            <a:off x="7132320" y="3090672"/>
            <a:ext cx="1554480" cy="777240"/>
          </a:xfrm>
          <a:prstGeom prst="roundRect">
            <a:avLst>
              <a:gd name="adj" fmla="val 9412"/>
            </a:avLst>
          </a:prstGeom>
          <a:solidFill>
            <a:schemeClr val="bg1"/>
          </a:solidFill>
          <a:ln w="25400">
            <a:solidFill>
              <a:schemeClr val="tx1"/>
            </a:solidFill>
          </a:ln>
          <a:effectLst>
            <a:outerShdw sx="100000" sy="100000" kx="0" ky="0" algn="bl" rotWithShape="0" blurRad="101600" dist="38100" dir="2700000">
              <a:srgbClr val="FF3B30">
                <a:alpha val="100000"/>
              </a:srgbClr>
            </a:outerShdw>
          </a:effectLst>
        </p:spPr>
        <p:txBody>
          <a:bodyPr wrap="square" lIns="50800" tIns="50800" rIns="50800" bIns="5080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Offline demo path</a:t>
            </a:r>
            <a:endParaRPr lang="en-US" sz="1200" dirty="0"/>
          </a:p>
        </p:txBody>
      </p:sp>
      <p:sp>
        <p:nvSpPr>
          <p:cNvPr id="35" name="Text 33"/>
          <p:cNvSpPr txBox="1"/>
          <p:nvPr/>
        </p:nvSpPr>
        <p:spPr>
          <a:xfrm>
            <a:off x="457200" y="3977640"/>
            <a:ext cx="8229600" cy="457200"/>
          </a:xfrm>
          <a:prstGeom prst="rect">
            <a:avLst/>
          </a:prstGeom>
          <a:noFill/>
          <a:ln/>
        </p:spPr>
        <p:txBody>
          <a:bodyPr wrap="square" lIns="0" tIns="0" rIns="0" bIns="0" rtlCol="0" anchor="ctr"/>
          <a:lstStyle/>
          <a:p>
            <a:pPr algn="ctr" indent="0" marL="0">
              <a:buNone/>
            </a:pPr>
            <a:r>
              <a:rPr lang="en-US" sz="2400" dirty="0">
                <a:solidFill>
                  <a:schemeClr val="accent3"/>
                </a:solidFill>
                <a:latin typeface="Impact" pitchFamily="34" charset="0"/>
                <a:ea typeface="Impact" pitchFamily="34" charset="-122"/>
                <a:cs typeface="Impact" pitchFamily="34" charset="-120"/>
              </a:rPr>
              <a:t>“One idea. A complete comic. Ready to share.”</a:t>
            </a:r>
            <a:endParaRPr lang="en-US" sz="2400" dirty="0"/>
          </a:p>
        </p:txBody>
      </p:sp>
      <p:sp>
        <p:nvSpPr>
          <p:cNvPr id="36" name="Text 34"/>
          <p:cNvSpPr txBox="1"/>
          <p:nvPr/>
        </p:nvSpPr>
        <p:spPr>
          <a:xfrm>
            <a:off x="457200" y="4480560"/>
            <a:ext cx="8229600" cy="365760"/>
          </a:xfrm>
          <a:prstGeom prst="rect">
            <a:avLst/>
          </a:prstGeom>
          <a:noFill/>
          <a:ln/>
        </p:spPr>
        <p:txBody>
          <a:bodyPr wrap="square" lIns="0" tIns="0" rIns="0" bIns="0" rtlCol="0" anchor="ctr"/>
          <a:lstStyle/>
          <a:p>
            <a:pPr algn="ctr" indent="0" marL="0">
              <a:buNone/>
            </a:pPr>
            <a:r>
              <a:rPr lang="en-US" sz="1800" dirty="0">
                <a:solidFill>
                  <a:schemeClr val="bg1"/>
                </a:solidFill>
                <a:latin typeface="Impact" pitchFamily="34" charset="0"/>
                <a:ea typeface="Impact" pitchFamily="34" charset="-122"/>
                <a:cs typeface="Impact" pitchFamily="34" charset="-120"/>
              </a:rPr>
              <a:t>Thank You   •   Questions &amp; Answers</a:t>
            </a:r>
            <a:endParaRPr lang="en-US" sz="1800" dirty="0"/>
          </a:p>
        </p:txBody>
      </p:sp>
    </p:spTree>
  </p:cSld>
  <p:clrMapOvr>
    <a:masterClrMapping/>
  </p:clrMapOvr>
</p:sld>
</file>

<file path=ppt/theme/theme1.xml><?xml version="1.0" encoding="utf-8"?>
<a:theme xmlns:a="http://schemas.openxmlformats.org/drawingml/2006/main" name="ComicCraft">
  <a:themeElements>
    <a:clrScheme name="ComicCraft">
      <a:dk1>
        <a:srgbClr val="171717"/>
      </a:dk1>
      <a:lt1>
        <a:srgbClr val="FBF9F5"/>
      </a:lt1>
      <a:dk2>
        <a:srgbClr val="4B4B4B"/>
      </a:dk2>
      <a:lt2>
        <a:srgbClr val="FFFFFF"/>
      </a:lt2>
      <a:accent1>
        <a:srgbClr val="FF3B30"/>
      </a:accent1>
      <a:accent2>
        <a:srgbClr val="007AFF"/>
      </a:accent2>
      <a:accent3>
        <a:srgbClr val="FFD60A"/>
      </a:accent3>
      <a:accent4>
        <a:srgbClr val="1FA463"/>
      </a:accent4>
      <a:accent5>
        <a:srgbClr val="7A5AF8"/>
      </a:accent5>
      <a:accent6>
        <a:srgbClr val="FF9500"/>
      </a:accent6>
      <a:hlink>
        <a:srgbClr val="007AFF"/>
      </a:hlink>
      <a:folHlink>
        <a:srgbClr val="7A5AF8"/>
      </a:folHlink>
    </a:clrScheme>
    <a:fontScheme name="ComicCraft">
      <a:majorFont>
        <a:latin typeface="Impac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ComicCraft — Where Imagination Becomes a Comic</dc:title>
  <dc:subject>PptxGenJS Presentation</dc:subject>
  <dc:creator>[Student Name]</dc:creator>
  <cp:lastModifiedBy>[Student Name]</cp:lastModifiedBy>
  <cp:revision>1</cp:revision>
  <dcterms:created xsi:type="dcterms:W3CDTF">2026-10-12T14:30:02Z</dcterms:created>
  <dcterms:modified xsi:type="dcterms:W3CDTF">2026-10-12T14:30:02Z</dcterms:modified>
</cp:coreProperties>
</file>